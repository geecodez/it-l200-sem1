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81" r:id="rId4"/>
    <p:sldId id="258" r:id="rId5"/>
    <p:sldId id="271" r:id="rId6"/>
    <p:sldId id="269" r:id="rId7"/>
    <p:sldId id="270" r:id="rId8"/>
    <p:sldId id="290" r:id="rId9"/>
    <p:sldId id="312" r:id="rId10"/>
    <p:sldId id="291" r:id="rId11"/>
    <p:sldId id="311" r:id="rId12"/>
    <p:sldId id="282" r:id="rId13"/>
    <p:sldId id="293" r:id="rId14"/>
    <p:sldId id="294" r:id="rId15"/>
    <p:sldId id="313" r:id="rId16"/>
    <p:sldId id="314" r:id="rId17"/>
    <p:sldId id="315" r:id="rId18"/>
    <p:sldId id="316" r:id="rId19"/>
    <p:sldId id="307" r:id="rId20"/>
    <p:sldId id="308" r:id="rId21"/>
    <p:sldId id="309" r:id="rId22"/>
    <p:sldId id="317" r:id="rId23"/>
    <p:sldId id="318" r:id="rId24"/>
    <p:sldId id="319" r:id="rId25"/>
    <p:sldId id="326" r:id="rId26"/>
    <p:sldId id="327" r:id="rId27"/>
    <p:sldId id="320" r:id="rId28"/>
    <p:sldId id="322" r:id="rId29"/>
    <p:sldId id="321" r:id="rId30"/>
    <p:sldId id="323" r:id="rId31"/>
    <p:sldId id="324" r:id="rId32"/>
    <p:sldId id="325" r:id="rId33"/>
    <p:sldId id="328" r:id="rId34"/>
    <p:sldId id="304" r:id="rId35"/>
    <p:sldId id="276" r:id="rId36"/>
    <p:sldId id="285" r:id="rId37"/>
    <p:sldId id="286" r:id="rId38"/>
    <p:sldId id="305" r:id="rId39"/>
    <p:sldId id="289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0506"/>
    <a:srgbClr val="0A688E"/>
    <a:srgbClr val="00820F"/>
    <a:srgbClr val="E6E6E6"/>
    <a:srgbClr val="0E8CBE"/>
    <a:srgbClr val="3FBEF1"/>
    <a:srgbClr val="109C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291" autoAdjust="0"/>
  </p:normalViewPr>
  <p:slideViewPr>
    <p:cSldViewPr snapToGrid="0">
      <p:cViewPr varScale="1">
        <p:scale>
          <a:sx n="65" d="100"/>
          <a:sy n="65" d="100"/>
        </p:scale>
        <p:origin x="774" y="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6-01-26T13:25:48.7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16644 9327 0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3B5432-00C2-49B3-9062-7F2F639CE82C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697FFE-D184-49D1-AD0A-FF77D79B6C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3200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>
            <a:extLst>
              <a:ext uri="{FF2B5EF4-FFF2-40B4-BE49-F238E27FC236}">
                <a16:creationId xmlns:a16="http://schemas.microsoft.com/office/drawing/2014/main" id="{91379515-F53B-1ED7-8A57-6C69882417D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>
            <a:extLst>
              <a:ext uri="{FF2B5EF4-FFF2-40B4-BE49-F238E27FC236}">
                <a16:creationId xmlns:a16="http://schemas.microsoft.com/office/drawing/2014/main" id="{E71EDF24-9D06-F590-F37A-98B7604313F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6897901A-1CC5-5530-212C-DE42F96A3A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B67F0CA-AD5A-4D2D-9258-957ECB24FA6F}" type="slidenum">
              <a:rPr lang="en-US" altLang="en-US"/>
              <a:pPr/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>
            <a:extLst>
              <a:ext uri="{FF2B5EF4-FFF2-40B4-BE49-F238E27FC236}">
                <a16:creationId xmlns:a16="http://schemas.microsoft.com/office/drawing/2014/main" id="{DD20869F-B174-D868-5F86-7E64D40B48C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Notes Placeholder 2">
            <a:extLst>
              <a:ext uri="{FF2B5EF4-FFF2-40B4-BE49-F238E27FC236}">
                <a16:creationId xmlns:a16="http://schemas.microsoft.com/office/drawing/2014/main" id="{1502C59F-BEF8-0578-F07F-A87808A1393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7892" name="Slide Number Placeholder 3">
            <a:extLst>
              <a:ext uri="{FF2B5EF4-FFF2-40B4-BE49-F238E27FC236}">
                <a16:creationId xmlns:a16="http://schemas.microsoft.com/office/drawing/2014/main" id="{96A3E1EE-5EF5-6A28-0619-BDCB3E6EE1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77B925C-9DC1-4AED-BB21-B04A3650E1FC}" type="slidenum">
              <a:rPr lang="en-US" altLang="en-US"/>
              <a:pPr/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>
            <a:extLst>
              <a:ext uri="{FF2B5EF4-FFF2-40B4-BE49-F238E27FC236}">
                <a16:creationId xmlns:a16="http://schemas.microsoft.com/office/drawing/2014/main" id="{348741D4-2EA1-9421-1C75-8102B86B47E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>
            <a:extLst>
              <a:ext uri="{FF2B5EF4-FFF2-40B4-BE49-F238E27FC236}">
                <a16:creationId xmlns:a16="http://schemas.microsoft.com/office/drawing/2014/main" id="{4B0BC5F2-0690-EF33-0FD9-A39E05E73E2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8916" name="Slide Number Placeholder 3">
            <a:extLst>
              <a:ext uri="{FF2B5EF4-FFF2-40B4-BE49-F238E27FC236}">
                <a16:creationId xmlns:a16="http://schemas.microsoft.com/office/drawing/2014/main" id="{EFBA728F-B1DC-72E7-C08D-0260AE5A3F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914A22C-1F13-4068-A63A-465A36B3DA79}" type="slidenum">
              <a:rPr lang="en-US" altLang="en-US"/>
              <a:pPr/>
              <a:t>13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>
            <a:extLst>
              <a:ext uri="{FF2B5EF4-FFF2-40B4-BE49-F238E27FC236}">
                <a16:creationId xmlns:a16="http://schemas.microsoft.com/office/drawing/2014/main" id="{8ED1B37D-2F7D-31BA-F0B2-166D11DF8A5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Notes Placeholder 2">
            <a:extLst>
              <a:ext uri="{FF2B5EF4-FFF2-40B4-BE49-F238E27FC236}">
                <a16:creationId xmlns:a16="http://schemas.microsoft.com/office/drawing/2014/main" id="{13C72690-6A11-D867-DD0D-55D72F3FBC8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9940" name="Slide Number Placeholder 3">
            <a:extLst>
              <a:ext uri="{FF2B5EF4-FFF2-40B4-BE49-F238E27FC236}">
                <a16:creationId xmlns:a16="http://schemas.microsoft.com/office/drawing/2014/main" id="{E555009B-0A99-B3B6-A9C0-417E62C60B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F81B8A3-3917-41BE-A17A-39EA8F9D35E5}" type="slidenum">
              <a:rPr lang="en-US" altLang="en-US"/>
              <a:pPr/>
              <a:t>14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9BC5C760-0B1B-3F07-FD28-9BB68D895D3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22489164-D384-FC48-491A-212DBCE9C0E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0964" name="Slide Number Placeholder 3">
            <a:extLst>
              <a:ext uri="{FF2B5EF4-FFF2-40B4-BE49-F238E27FC236}">
                <a16:creationId xmlns:a16="http://schemas.microsoft.com/office/drawing/2014/main" id="{FEDD42F8-74F6-5E41-2E42-87A1379E45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86122C0-8295-4327-AB9A-99FEF1139D3B}" type="slidenum">
              <a:rPr lang="en-US" altLang="en-US"/>
              <a:pPr/>
              <a:t>16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>
            <a:extLst>
              <a:ext uri="{FF2B5EF4-FFF2-40B4-BE49-F238E27FC236}">
                <a16:creationId xmlns:a16="http://schemas.microsoft.com/office/drawing/2014/main" id="{4C67805F-837D-8916-E176-B6339705D6E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>
            <a:extLst>
              <a:ext uri="{FF2B5EF4-FFF2-40B4-BE49-F238E27FC236}">
                <a16:creationId xmlns:a16="http://schemas.microsoft.com/office/drawing/2014/main" id="{153A7FAB-CF01-404C-E8A5-DBB9A450267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1988" name="Slide Number Placeholder 3">
            <a:extLst>
              <a:ext uri="{FF2B5EF4-FFF2-40B4-BE49-F238E27FC236}">
                <a16:creationId xmlns:a16="http://schemas.microsoft.com/office/drawing/2014/main" id="{C8771376-7C0D-0848-3FDA-25E3967B7D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E9C89EB-CC14-40BE-B2E8-5123561AD909}" type="slidenum">
              <a:rPr lang="en-US" altLang="en-US"/>
              <a:pPr/>
              <a:t>17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>
            <a:extLst>
              <a:ext uri="{FF2B5EF4-FFF2-40B4-BE49-F238E27FC236}">
                <a16:creationId xmlns:a16="http://schemas.microsoft.com/office/drawing/2014/main" id="{98208B0A-9FE5-62E5-A234-013B977565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>
            <a:extLst>
              <a:ext uri="{FF2B5EF4-FFF2-40B4-BE49-F238E27FC236}">
                <a16:creationId xmlns:a16="http://schemas.microsoft.com/office/drawing/2014/main" id="{6B89CA34-853C-4231-2276-4D1A97860B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3012" name="Slide Number Placeholder 3">
            <a:extLst>
              <a:ext uri="{FF2B5EF4-FFF2-40B4-BE49-F238E27FC236}">
                <a16:creationId xmlns:a16="http://schemas.microsoft.com/office/drawing/2014/main" id="{A8354831-EBD0-4EA5-0FB7-0315D41DE8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63B0213-6105-46AA-B594-5838AF329289}" type="slidenum">
              <a:rPr lang="en-US" altLang="en-US"/>
              <a:pPr/>
              <a:t>22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>
            <a:extLst>
              <a:ext uri="{FF2B5EF4-FFF2-40B4-BE49-F238E27FC236}">
                <a16:creationId xmlns:a16="http://schemas.microsoft.com/office/drawing/2014/main" id="{EF51B08B-FDF7-2FF4-D2DC-CD5F7D1E0A4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>
            <a:extLst>
              <a:ext uri="{FF2B5EF4-FFF2-40B4-BE49-F238E27FC236}">
                <a16:creationId xmlns:a16="http://schemas.microsoft.com/office/drawing/2014/main" id="{7C790BA2-6F54-F0C7-260D-C9F1FE2EE82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4036" name="Slide Number Placeholder 3">
            <a:extLst>
              <a:ext uri="{FF2B5EF4-FFF2-40B4-BE49-F238E27FC236}">
                <a16:creationId xmlns:a16="http://schemas.microsoft.com/office/drawing/2014/main" id="{10B1F8CD-8719-4F2F-D207-93E4A49CED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0D4FBDF-5FFC-4A5C-8E16-0BA35BB5BD86}" type="slidenum">
              <a:rPr lang="en-US" altLang="en-US"/>
              <a:pPr/>
              <a:t>23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>
            <a:extLst>
              <a:ext uri="{FF2B5EF4-FFF2-40B4-BE49-F238E27FC236}">
                <a16:creationId xmlns:a16="http://schemas.microsoft.com/office/drawing/2014/main" id="{17F43649-1377-C2E8-8825-4F4B6C0EA89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>
            <a:extLst>
              <a:ext uri="{FF2B5EF4-FFF2-40B4-BE49-F238E27FC236}">
                <a16:creationId xmlns:a16="http://schemas.microsoft.com/office/drawing/2014/main" id="{A137EF30-7759-F01E-C5B1-949CB908FCF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45060" name="Slide Number Placeholder 3">
            <a:extLst>
              <a:ext uri="{FF2B5EF4-FFF2-40B4-BE49-F238E27FC236}">
                <a16:creationId xmlns:a16="http://schemas.microsoft.com/office/drawing/2014/main" id="{FF441EBC-2AB4-723B-22CF-D720FF31CF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8AE32CA-B532-415A-AFDB-18E7EFDB95BD}" type="slidenum">
              <a:rPr lang="en-US" altLang="en-US"/>
              <a:pPr/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29933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>
            <a:extLst>
              <a:ext uri="{FF2B5EF4-FFF2-40B4-BE49-F238E27FC236}">
                <a16:creationId xmlns:a16="http://schemas.microsoft.com/office/drawing/2014/main" id="{17F43649-1377-C2E8-8825-4F4B6C0EA89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>
            <a:extLst>
              <a:ext uri="{FF2B5EF4-FFF2-40B4-BE49-F238E27FC236}">
                <a16:creationId xmlns:a16="http://schemas.microsoft.com/office/drawing/2014/main" id="{A137EF30-7759-F01E-C5B1-949CB908FCF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5060" name="Slide Number Placeholder 3">
            <a:extLst>
              <a:ext uri="{FF2B5EF4-FFF2-40B4-BE49-F238E27FC236}">
                <a16:creationId xmlns:a16="http://schemas.microsoft.com/office/drawing/2014/main" id="{FF441EBC-2AB4-723B-22CF-D720FF31CF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8AE32CA-B532-415A-AFDB-18E7EFDB95BD}" type="slidenum">
              <a:rPr lang="en-US" altLang="en-US"/>
              <a:pPr/>
              <a:t>34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697FFE-D184-49D1-AD0A-FF77D79B6CFE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5424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 userDrawn="1"/>
        </p:nvSpPr>
        <p:spPr>
          <a:xfrm>
            <a:off x="-39753" y="-51683"/>
            <a:ext cx="12235732" cy="690968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 userDrawn="1"/>
        </p:nvSpPr>
        <p:spPr>
          <a:xfrm>
            <a:off x="7180729" y="269109"/>
            <a:ext cx="6320118" cy="6333565"/>
          </a:xfrm>
          <a:prstGeom prst="rect">
            <a:avLst/>
          </a:prstGeom>
          <a:blipFill dpi="0" rotWithShape="1">
            <a:blip r:embed="rId2">
              <a:alphaModFix amt="67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F8120-5D43-445C-81DE-BB63D27CD45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6395-65C6-40C6-B0F2-3F72B3156A66}" type="slidenum">
              <a:rPr lang="en-US" smtClean="0"/>
              <a:t>‹#›</a:t>
            </a:fld>
            <a:endParaRPr lang="en-US"/>
          </a:p>
        </p:txBody>
      </p:sp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90" y="483244"/>
            <a:ext cx="2684166" cy="68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321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6" userDrawn="1">
          <p15:clr>
            <a:srgbClr val="FBAE40"/>
          </p15:clr>
        </p15:guide>
        <p15:guide id="2" pos="144" userDrawn="1">
          <p15:clr>
            <a:srgbClr val="FBAE40"/>
          </p15:clr>
        </p15:guide>
        <p15:guide id="3" pos="7536" userDrawn="1">
          <p15:clr>
            <a:srgbClr val="FBAE40"/>
          </p15:clr>
        </p15:guide>
        <p15:guide id="4" orient="horz" pos="144" userDrawn="1">
          <p15:clr>
            <a:srgbClr val="FBAE40"/>
          </p15:clr>
        </p15:guide>
        <p15:guide id="5" orient="horz" pos="576" userDrawn="1">
          <p15:clr>
            <a:srgbClr val="FBAE40"/>
          </p15:clr>
        </p15:guide>
        <p15:guide id="6" pos="33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230" y="1392751"/>
            <a:ext cx="5641606" cy="473406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F8120-5D43-445C-81DE-BB63D27CD451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6395-65C6-40C6-B0F2-3F72B3156A66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3756" y="4335371"/>
            <a:ext cx="3159890" cy="3159890"/>
          </a:xfrm>
          <a:prstGeom prst="rect">
            <a:avLst/>
          </a:prstGeom>
          <a:blipFill>
            <a:blip r:embed="rId3">
              <a:alphaModFix amt="0"/>
            </a:blip>
            <a:stretch>
              <a:fillRect/>
            </a:stretch>
          </a:blipFill>
        </p:spPr>
      </p:pic>
      <p:sp>
        <p:nvSpPr>
          <p:cNvPr id="12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540660" y="1775478"/>
            <a:ext cx="5181600" cy="4351338"/>
          </a:xfrm>
        </p:spPr>
        <p:txBody>
          <a:bodyPr/>
          <a:lstStyle>
            <a:lvl1pPr>
              <a:defRPr sz="2800" b="1" baseline="0"/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2pPr>
          </a:lstStyle>
          <a:p>
            <a:pPr lvl="0"/>
            <a:r>
              <a:rPr lang="en-US" dirty="0"/>
              <a:t>Table of Contents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Topic 1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Topic 2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Topic 3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Topic 4</a:t>
            </a:r>
          </a:p>
          <a:p>
            <a:pPr lvl="1"/>
            <a:endParaRPr lang="en-US" dirty="0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-39753" y="-51682"/>
            <a:ext cx="12235732" cy="1203364"/>
            <a:chOff x="-39753" y="-51682"/>
            <a:chExt cx="12235732" cy="1203364"/>
          </a:xfrm>
        </p:grpSpPr>
        <p:sp>
          <p:nvSpPr>
            <p:cNvPr id="9" name="Rectangle 8"/>
            <p:cNvSpPr/>
            <p:nvPr userDrawn="1"/>
          </p:nvSpPr>
          <p:spPr>
            <a:xfrm>
              <a:off x="-39753" y="-51682"/>
              <a:ext cx="12235732" cy="120336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7229" y="221358"/>
              <a:ext cx="2684166" cy="680012"/>
            </a:xfrm>
            <a:prstGeom prst="rect">
              <a:avLst/>
            </a:prstGeom>
          </p:spPr>
        </p:pic>
        <p:sp>
          <p:nvSpPr>
            <p:cNvPr id="13" name="TextBox 12"/>
            <p:cNvSpPr txBox="1"/>
            <p:nvPr userDrawn="1"/>
          </p:nvSpPr>
          <p:spPr>
            <a:xfrm>
              <a:off x="7802880" y="411500"/>
              <a:ext cx="354609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bg1"/>
                  </a:solidFill>
                  <a:latin typeface="+mj-lt"/>
                </a:rPr>
                <a:t>KNOWLEDGE             INTEGRITY            IMPACT</a:t>
              </a:r>
            </a:p>
          </p:txBody>
        </p:sp>
        <p:cxnSp>
          <p:nvCxnSpPr>
            <p:cNvPr id="7" name="Straight Connector 6"/>
            <p:cNvCxnSpPr/>
            <p:nvPr userDrawn="1"/>
          </p:nvCxnSpPr>
          <p:spPr>
            <a:xfrm>
              <a:off x="901337" y="722811"/>
              <a:ext cx="10371909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7"/>
            <p:cNvSpPr/>
            <p:nvPr userDrawn="1"/>
          </p:nvSpPr>
          <p:spPr>
            <a:xfrm>
              <a:off x="8609870" y="470310"/>
              <a:ext cx="111034" cy="1132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9748239" y="470310"/>
              <a:ext cx="111034" cy="1132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10668414" y="470310"/>
              <a:ext cx="111034" cy="1132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10155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687595"/>
            <a:ext cx="10515600" cy="440205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-39753" y="6303003"/>
            <a:ext cx="12235732" cy="72401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679568" y="6365200"/>
            <a:ext cx="10820163" cy="487908"/>
            <a:chOff x="528814" y="6238068"/>
            <a:chExt cx="10820163" cy="487908"/>
          </a:xfrm>
        </p:grpSpPr>
        <p:pic>
          <p:nvPicPr>
            <p:cNvPr id="9" name="Picture 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8814" y="6238068"/>
              <a:ext cx="1925885" cy="487908"/>
            </a:xfrm>
            <a:prstGeom prst="rect">
              <a:avLst/>
            </a:prstGeom>
          </p:spPr>
        </p:pic>
        <p:cxnSp>
          <p:nvCxnSpPr>
            <p:cNvPr id="11" name="Straight Connector 10"/>
            <p:cNvCxnSpPr/>
            <p:nvPr userDrawn="1"/>
          </p:nvCxnSpPr>
          <p:spPr>
            <a:xfrm>
              <a:off x="901337" y="6598143"/>
              <a:ext cx="10371909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>
            <a:xfrm>
              <a:off x="7802880" y="6286832"/>
              <a:ext cx="3546097" cy="230832"/>
              <a:chOff x="7802880" y="6286832"/>
              <a:chExt cx="3546097" cy="230832"/>
            </a:xfrm>
          </p:grpSpPr>
          <p:sp>
            <p:nvSpPr>
              <p:cNvPr id="10" name="TextBox 9"/>
              <p:cNvSpPr txBox="1"/>
              <p:nvPr userDrawn="1"/>
            </p:nvSpPr>
            <p:spPr>
              <a:xfrm>
                <a:off x="7802880" y="6286832"/>
                <a:ext cx="3546097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900" dirty="0">
                    <a:solidFill>
                      <a:schemeClr val="bg1"/>
                    </a:solidFill>
                    <a:latin typeface="+mj-lt"/>
                  </a:rPr>
                  <a:t>KNOWLEDGE             INTEGRITY            IMPACT</a:t>
                </a:r>
              </a:p>
            </p:txBody>
          </p:sp>
          <p:sp>
            <p:nvSpPr>
              <p:cNvPr id="12" name="Rectangle 11"/>
              <p:cNvSpPr/>
              <p:nvPr userDrawn="1"/>
            </p:nvSpPr>
            <p:spPr>
              <a:xfrm>
                <a:off x="8609870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/>
              <p:cNvSpPr/>
              <p:nvPr userDrawn="1"/>
            </p:nvSpPr>
            <p:spPr>
              <a:xfrm>
                <a:off x="9748239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/>
              <p:cNvSpPr/>
              <p:nvPr userDrawn="1"/>
            </p:nvSpPr>
            <p:spPr>
              <a:xfrm>
                <a:off x="10668414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7" name="Group 26"/>
          <p:cNvGrpSpPr/>
          <p:nvPr userDrawn="1"/>
        </p:nvGrpSpPr>
        <p:grpSpPr>
          <a:xfrm>
            <a:off x="0" y="149580"/>
            <a:ext cx="12414000" cy="77361"/>
            <a:chOff x="0" y="149580"/>
            <a:chExt cx="12414000" cy="77361"/>
          </a:xfrm>
        </p:grpSpPr>
        <p:sp>
          <p:nvSpPr>
            <p:cNvPr id="20" name="Rectangle 19"/>
            <p:cNvSpPr/>
            <p:nvPr userDrawn="1"/>
          </p:nvSpPr>
          <p:spPr>
            <a:xfrm>
              <a:off x="0" y="149580"/>
              <a:ext cx="4076822" cy="7736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 userDrawn="1"/>
          </p:nvSpPr>
          <p:spPr>
            <a:xfrm>
              <a:off x="4166144" y="149580"/>
              <a:ext cx="4076822" cy="7736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8337178" y="149580"/>
              <a:ext cx="4076822" cy="7736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/>
          <p:cNvSpPr/>
          <p:nvPr userDrawn="1"/>
        </p:nvSpPr>
        <p:spPr>
          <a:xfrm>
            <a:off x="-39753" y="270922"/>
            <a:ext cx="12235732" cy="10565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7317" y="400967"/>
            <a:ext cx="10515600" cy="754833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92360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566272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F8120-5D43-445C-81DE-BB63D27CD45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6395-65C6-40C6-B0F2-3F72B3156A66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0" y="149580"/>
            <a:ext cx="1897258" cy="77361"/>
          </a:xfrm>
          <a:prstGeom prst="rect">
            <a:avLst/>
          </a:prstGeom>
          <a:solidFill>
            <a:srgbClr val="3FBE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1897258" y="149580"/>
            <a:ext cx="6345708" cy="77361"/>
          </a:xfrm>
          <a:prstGeom prst="rect">
            <a:avLst/>
          </a:prstGeom>
          <a:solidFill>
            <a:srgbClr val="0A68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8242966" y="149580"/>
            <a:ext cx="1874112" cy="7736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837317" y="-1696937"/>
            <a:ext cx="10515600" cy="2852737"/>
          </a:xfrm>
        </p:spPr>
        <p:txBody>
          <a:bodyPr anchor="b">
            <a:normAutofit/>
          </a:bodyPr>
          <a:lstStyle>
            <a:lvl1pPr>
              <a:defRPr sz="4000" b="1">
                <a:solidFill>
                  <a:srgbClr val="0A688E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39753" y="6303003"/>
            <a:ext cx="12235732" cy="72401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/>
          <p:cNvGrpSpPr/>
          <p:nvPr userDrawn="1"/>
        </p:nvGrpSpPr>
        <p:grpSpPr>
          <a:xfrm>
            <a:off x="679568" y="6365200"/>
            <a:ext cx="10820163" cy="487908"/>
            <a:chOff x="528814" y="6238068"/>
            <a:chExt cx="10820163" cy="487908"/>
          </a:xfrm>
        </p:grpSpPr>
        <p:pic>
          <p:nvPicPr>
            <p:cNvPr id="18" name="Picture 17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8814" y="6238068"/>
              <a:ext cx="1925885" cy="487908"/>
            </a:xfrm>
            <a:prstGeom prst="rect">
              <a:avLst/>
            </a:prstGeom>
          </p:spPr>
        </p:pic>
        <p:cxnSp>
          <p:nvCxnSpPr>
            <p:cNvPr id="19" name="Straight Connector 18"/>
            <p:cNvCxnSpPr/>
            <p:nvPr userDrawn="1"/>
          </p:nvCxnSpPr>
          <p:spPr>
            <a:xfrm>
              <a:off x="901337" y="6598143"/>
              <a:ext cx="10371909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Group 19"/>
            <p:cNvGrpSpPr/>
            <p:nvPr userDrawn="1"/>
          </p:nvGrpSpPr>
          <p:grpSpPr>
            <a:xfrm>
              <a:off x="7802880" y="6286832"/>
              <a:ext cx="3546097" cy="230832"/>
              <a:chOff x="7802880" y="6286832"/>
              <a:chExt cx="3546097" cy="230832"/>
            </a:xfrm>
          </p:grpSpPr>
          <p:sp>
            <p:nvSpPr>
              <p:cNvPr id="21" name="TextBox 20"/>
              <p:cNvSpPr txBox="1"/>
              <p:nvPr userDrawn="1"/>
            </p:nvSpPr>
            <p:spPr>
              <a:xfrm>
                <a:off x="7802880" y="6286832"/>
                <a:ext cx="3546097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900" dirty="0">
                    <a:solidFill>
                      <a:schemeClr val="bg1"/>
                    </a:solidFill>
                    <a:latin typeface="+mj-lt"/>
                  </a:rPr>
                  <a:t>KNOWLEDGE             INTEGRITY            IMPACT</a:t>
                </a:r>
              </a:p>
            </p:txBody>
          </p:sp>
          <p:sp>
            <p:nvSpPr>
              <p:cNvPr id="22" name="Rectangle 21"/>
              <p:cNvSpPr/>
              <p:nvPr userDrawn="1"/>
            </p:nvSpPr>
            <p:spPr>
              <a:xfrm>
                <a:off x="8609870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/>
              <p:cNvSpPr/>
              <p:nvPr userDrawn="1"/>
            </p:nvSpPr>
            <p:spPr>
              <a:xfrm>
                <a:off x="9748239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/>
              <p:cNvSpPr/>
              <p:nvPr userDrawn="1"/>
            </p:nvSpPr>
            <p:spPr>
              <a:xfrm>
                <a:off x="10668414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5" name="Content Placeholder 2"/>
          <p:cNvSpPr>
            <a:spLocks noGrp="1"/>
          </p:cNvSpPr>
          <p:nvPr userDrawn="1">
            <p:ph sz="half" idx="13"/>
          </p:nvPr>
        </p:nvSpPr>
        <p:spPr>
          <a:xfrm>
            <a:off x="6441956" y="1566272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Rectangle 25"/>
          <p:cNvSpPr/>
          <p:nvPr userDrawn="1"/>
        </p:nvSpPr>
        <p:spPr>
          <a:xfrm>
            <a:off x="10117078" y="149580"/>
            <a:ext cx="2073156" cy="7736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865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F8120-5D43-445C-81DE-BB63D27CD45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6395-65C6-40C6-B0F2-3F72B3156A66}" type="slidenum">
              <a:rPr lang="en-US" smtClean="0"/>
              <a:t>‹#›</a:t>
            </a:fld>
            <a:endParaRPr lang="en-US"/>
          </a:p>
        </p:txBody>
      </p:sp>
      <p:grpSp>
        <p:nvGrpSpPr>
          <p:cNvPr id="23" name="Group 22"/>
          <p:cNvGrpSpPr/>
          <p:nvPr userDrawn="1"/>
        </p:nvGrpSpPr>
        <p:grpSpPr>
          <a:xfrm>
            <a:off x="1505874" y="802630"/>
            <a:ext cx="9144477" cy="77100"/>
            <a:chOff x="1457173" y="851529"/>
            <a:chExt cx="9144477" cy="77100"/>
          </a:xfrm>
        </p:grpSpPr>
        <p:sp>
          <p:nvSpPr>
            <p:cNvPr id="10" name="Google Shape;26;p4"/>
            <p:cNvSpPr/>
            <p:nvPr userDrawn="1"/>
          </p:nvSpPr>
          <p:spPr>
            <a:xfrm>
              <a:off x="7180456" y="851529"/>
              <a:ext cx="1710300" cy="77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7;p4"/>
            <p:cNvSpPr/>
            <p:nvPr userDrawn="1"/>
          </p:nvSpPr>
          <p:spPr>
            <a:xfrm>
              <a:off x="8891350" y="851529"/>
              <a:ext cx="1710300" cy="77100"/>
            </a:xfrm>
            <a:prstGeom prst="rect">
              <a:avLst/>
            </a:prstGeom>
            <a:solidFill>
              <a:srgbClr val="6505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8;p4"/>
            <p:cNvSpPr/>
            <p:nvPr userDrawn="1"/>
          </p:nvSpPr>
          <p:spPr>
            <a:xfrm>
              <a:off x="1457173" y="851529"/>
              <a:ext cx="1710300" cy="7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9;p4"/>
            <p:cNvSpPr/>
            <p:nvPr userDrawn="1"/>
          </p:nvSpPr>
          <p:spPr>
            <a:xfrm>
              <a:off x="3167598" y="851529"/>
              <a:ext cx="1710300" cy="7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Rectangle 13"/>
          <p:cNvSpPr/>
          <p:nvPr userDrawn="1"/>
        </p:nvSpPr>
        <p:spPr>
          <a:xfrm>
            <a:off x="-1" y="6303003"/>
            <a:ext cx="12195979" cy="5549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679568" y="6365200"/>
            <a:ext cx="10820163" cy="487908"/>
            <a:chOff x="528814" y="6238068"/>
            <a:chExt cx="10820163" cy="487908"/>
          </a:xfrm>
        </p:grpSpPr>
        <p:pic>
          <p:nvPicPr>
            <p:cNvPr id="16" name="Picture 15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8814" y="6238068"/>
              <a:ext cx="1925885" cy="487908"/>
            </a:xfrm>
            <a:prstGeom prst="rect">
              <a:avLst/>
            </a:prstGeom>
          </p:spPr>
        </p:pic>
        <p:cxnSp>
          <p:nvCxnSpPr>
            <p:cNvPr id="17" name="Straight Connector 16"/>
            <p:cNvCxnSpPr/>
            <p:nvPr userDrawn="1"/>
          </p:nvCxnSpPr>
          <p:spPr>
            <a:xfrm>
              <a:off x="901337" y="6598143"/>
              <a:ext cx="10371909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oup 17"/>
            <p:cNvGrpSpPr/>
            <p:nvPr userDrawn="1"/>
          </p:nvGrpSpPr>
          <p:grpSpPr>
            <a:xfrm>
              <a:off x="7802880" y="6286832"/>
              <a:ext cx="3546097" cy="230832"/>
              <a:chOff x="7802880" y="6286832"/>
              <a:chExt cx="3546097" cy="230832"/>
            </a:xfrm>
          </p:grpSpPr>
          <p:sp>
            <p:nvSpPr>
              <p:cNvPr id="19" name="TextBox 18"/>
              <p:cNvSpPr txBox="1"/>
              <p:nvPr userDrawn="1"/>
            </p:nvSpPr>
            <p:spPr>
              <a:xfrm>
                <a:off x="7802880" y="6286832"/>
                <a:ext cx="3546097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900" dirty="0">
                    <a:solidFill>
                      <a:schemeClr val="bg1"/>
                    </a:solidFill>
                    <a:latin typeface="+mj-lt"/>
                  </a:rPr>
                  <a:t>KNOWLEDGE             INTEGRITY            IMPACT</a:t>
                </a:r>
              </a:p>
            </p:txBody>
          </p:sp>
          <p:sp>
            <p:nvSpPr>
              <p:cNvPr id="20" name="Rectangle 19"/>
              <p:cNvSpPr/>
              <p:nvPr userDrawn="1"/>
            </p:nvSpPr>
            <p:spPr>
              <a:xfrm>
                <a:off x="8609870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/>
              <p:cNvSpPr/>
              <p:nvPr userDrawn="1"/>
            </p:nvSpPr>
            <p:spPr>
              <a:xfrm>
                <a:off x="9748239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/>
              <p:cNvSpPr/>
              <p:nvPr userDrawn="1"/>
            </p:nvSpPr>
            <p:spPr>
              <a:xfrm>
                <a:off x="10668414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6177" y="-2847804"/>
            <a:ext cx="4423402" cy="4423402"/>
          </a:xfrm>
          <a:prstGeom prst="rect">
            <a:avLst/>
          </a:prstGeom>
          <a:blipFill>
            <a:blip r:embed="rId4">
              <a:alphaModFix amt="0"/>
            </a:blip>
            <a:stretch>
              <a:fillRect/>
            </a:stretch>
          </a:blipFill>
        </p:spPr>
      </p:pic>
      <p:sp>
        <p:nvSpPr>
          <p:cNvPr id="25" name="Rectangle 24"/>
          <p:cNvSpPr/>
          <p:nvPr userDrawn="1"/>
        </p:nvSpPr>
        <p:spPr>
          <a:xfrm>
            <a:off x="0" y="-2537827"/>
            <a:ext cx="12195978" cy="2537827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991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6701970"/>
            <a:ext cx="1897258" cy="153590"/>
          </a:xfrm>
          <a:prstGeom prst="rect">
            <a:avLst/>
          </a:prstGeom>
          <a:solidFill>
            <a:srgbClr val="3FBE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897258" y="6701970"/>
            <a:ext cx="6345708" cy="153590"/>
          </a:xfrm>
          <a:prstGeom prst="rect">
            <a:avLst/>
          </a:prstGeom>
          <a:solidFill>
            <a:srgbClr val="0A68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8242966" y="6701970"/>
            <a:ext cx="1874112" cy="15359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10117078" y="6701970"/>
            <a:ext cx="2073156" cy="15359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10518045" y="0"/>
            <a:ext cx="1672189" cy="6858000"/>
          </a:xfrm>
        </p:spPr>
        <p:txBody>
          <a:bodyPr/>
          <a:lstStyle>
            <a:lvl1pPr marL="0" indent="0">
              <a:buNone/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10748" y="673352"/>
            <a:ext cx="9794348" cy="779930"/>
          </a:xfrm>
        </p:spPr>
        <p:txBody>
          <a:bodyPr anchor="b">
            <a:normAutofit/>
          </a:bodyPr>
          <a:lstStyle>
            <a:lvl1pPr>
              <a:defRPr sz="3600" b="1">
                <a:solidFill>
                  <a:srgbClr val="0A688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410748" y="1662545"/>
            <a:ext cx="9794348" cy="46111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050" y="5979818"/>
            <a:ext cx="722152" cy="722152"/>
          </a:xfrm>
          <a:prstGeom prst="rect">
            <a:avLst/>
          </a:prstGeom>
          <a:blipFill>
            <a:blip r:embed="rId3">
              <a:alphaModFix amt="0"/>
            </a:blip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653611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6701970"/>
            <a:ext cx="1897258" cy="153590"/>
          </a:xfrm>
          <a:prstGeom prst="rect">
            <a:avLst/>
          </a:prstGeom>
          <a:solidFill>
            <a:srgbClr val="3FBE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1897257" y="6701970"/>
            <a:ext cx="7535243" cy="153590"/>
          </a:xfrm>
          <a:prstGeom prst="rect">
            <a:avLst/>
          </a:prstGeom>
          <a:solidFill>
            <a:srgbClr val="0A68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9432500" y="6701970"/>
            <a:ext cx="1413164" cy="15359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845664" y="6701970"/>
            <a:ext cx="2073156" cy="15359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sz="half" idx="13"/>
          </p:nvPr>
        </p:nvSpPr>
        <p:spPr>
          <a:xfrm>
            <a:off x="0" y="0"/>
            <a:ext cx="12192000" cy="670197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971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701970"/>
            <a:ext cx="1897258" cy="153590"/>
          </a:xfrm>
          <a:prstGeom prst="rect">
            <a:avLst/>
          </a:prstGeom>
          <a:solidFill>
            <a:srgbClr val="3FBE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1897257" y="6701970"/>
            <a:ext cx="7535243" cy="153590"/>
          </a:xfrm>
          <a:prstGeom prst="rect">
            <a:avLst/>
          </a:prstGeom>
          <a:solidFill>
            <a:srgbClr val="0A68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9432500" y="6701970"/>
            <a:ext cx="1413164" cy="15359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10845664" y="6701970"/>
            <a:ext cx="2073156" cy="15359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icture Placeholder 2"/>
          <p:cNvSpPr>
            <a:spLocks noGrp="1"/>
          </p:cNvSpPr>
          <p:nvPr>
            <p:ph type="pic" idx="1"/>
          </p:nvPr>
        </p:nvSpPr>
        <p:spPr>
          <a:xfrm>
            <a:off x="6038952" y="0"/>
            <a:ext cx="6153048" cy="670196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445190"/>
            <a:ext cx="447234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05777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-1" y="-1"/>
            <a:ext cx="12195979" cy="5111931"/>
          </a:xfrm>
          <a:prstGeom prst="rect">
            <a:avLst/>
          </a:prstGeom>
          <a:solidFill>
            <a:srgbClr val="0E8C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4958297"/>
            <a:ext cx="12195979" cy="153634"/>
            <a:chOff x="0" y="6701970"/>
            <a:chExt cx="12918820" cy="153590"/>
          </a:xfrm>
        </p:grpSpPr>
        <p:sp>
          <p:nvSpPr>
            <p:cNvPr id="9" name="Rectangle 8"/>
            <p:cNvSpPr/>
            <p:nvPr userDrawn="1"/>
          </p:nvSpPr>
          <p:spPr>
            <a:xfrm>
              <a:off x="0" y="6701970"/>
              <a:ext cx="1897258" cy="153590"/>
            </a:xfrm>
            <a:prstGeom prst="rect">
              <a:avLst/>
            </a:prstGeom>
            <a:solidFill>
              <a:srgbClr val="3FBE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 userDrawn="1"/>
          </p:nvSpPr>
          <p:spPr>
            <a:xfrm>
              <a:off x="1897257" y="6701970"/>
              <a:ext cx="7535243" cy="153590"/>
            </a:xfrm>
            <a:prstGeom prst="rect">
              <a:avLst/>
            </a:prstGeom>
            <a:solidFill>
              <a:srgbClr val="0A68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9432500" y="6701970"/>
              <a:ext cx="1413164" cy="15359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10845664" y="6701970"/>
              <a:ext cx="2073156" cy="15359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3564" y="5569074"/>
            <a:ext cx="856176" cy="856176"/>
          </a:xfrm>
          <a:prstGeom prst="rect">
            <a:avLst/>
          </a:prstGeom>
          <a:blipFill>
            <a:blip r:embed="rId3">
              <a:alphaModFix amt="0"/>
            </a:blip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2557841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8CF8120-5D43-445C-81DE-BB63D27CD45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6A76395-65C6-40C6-B0F2-3F72B3156A66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1505874" y="1478705"/>
            <a:ext cx="9144477" cy="77100"/>
            <a:chOff x="1457173" y="851529"/>
            <a:chExt cx="9144477" cy="77100"/>
          </a:xfrm>
        </p:grpSpPr>
        <p:sp>
          <p:nvSpPr>
            <p:cNvPr id="11" name="Google Shape;26;p4"/>
            <p:cNvSpPr/>
            <p:nvPr userDrawn="1"/>
          </p:nvSpPr>
          <p:spPr>
            <a:xfrm>
              <a:off x="7180456" y="851529"/>
              <a:ext cx="1710300" cy="77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7;p4"/>
            <p:cNvSpPr/>
            <p:nvPr userDrawn="1"/>
          </p:nvSpPr>
          <p:spPr>
            <a:xfrm>
              <a:off x="8891350" y="851529"/>
              <a:ext cx="1710300" cy="77100"/>
            </a:xfrm>
            <a:prstGeom prst="rect">
              <a:avLst/>
            </a:prstGeom>
            <a:solidFill>
              <a:srgbClr val="6505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8;p4"/>
            <p:cNvSpPr/>
            <p:nvPr userDrawn="1"/>
          </p:nvSpPr>
          <p:spPr>
            <a:xfrm>
              <a:off x="1457173" y="851529"/>
              <a:ext cx="1710300" cy="7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9;p4"/>
            <p:cNvSpPr/>
            <p:nvPr userDrawn="1"/>
          </p:nvSpPr>
          <p:spPr>
            <a:xfrm>
              <a:off x="3167598" y="851529"/>
              <a:ext cx="1710300" cy="7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" name="Rectangle 14"/>
          <p:cNvSpPr/>
          <p:nvPr userDrawn="1"/>
        </p:nvSpPr>
        <p:spPr>
          <a:xfrm>
            <a:off x="-39753" y="6303003"/>
            <a:ext cx="12235732" cy="72401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679568" y="6365200"/>
            <a:ext cx="10820163" cy="487908"/>
            <a:chOff x="528814" y="6238068"/>
            <a:chExt cx="10820163" cy="487908"/>
          </a:xfrm>
        </p:grpSpPr>
        <p:pic>
          <p:nvPicPr>
            <p:cNvPr id="17" name="Picture 16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8814" y="6238068"/>
              <a:ext cx="1925885" cy="487908"/>
            </a:xfrm>
            <a:prstGeom prst="rect">
              <a:avLst/>
            </a:prstGeom>
          </p:spPr>
        </p:pic>
        <p:cxnSp>
          <p:nvCxnSpPr>
            <p:cNvPr id="18" name="Straight Connector 17"/>
            <p:cNvCxnSpPr/>
            <p:nvPr userDrawn="1"/>
          </p:nvCxnSpPr>
          <p:spPr>
            <a:xfrm>
              <a:off x="901337" y="6598143"/>
              <a:ext cx="10371909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Group 18"/>
            <p:cNvGrpSpPr/>
            <p:nvPr userDrawn="1"/>
          </p:nvGrpSpPr>
          <p:grpSpPr>
            <a:xfrm>
              <a:off x="7802880" y="6286832"/>
              <a:ext cx="3546097" cy="230832"/>
              <a:chOff x="7802880" y="6286832"/>
              <a:chExt cx="3546097" cy="230832"/>
            </a:xfrm>
          </p:grpSpPr>
          <p:sp>
            <p:nvSpPr>
              <p:cNvPr id="20" name="TextBox 19"/>
              <p:cNvSpPr txBox="1"/>
              <p:nvPr userDrawn="1"/>
            </p:nvSpPr>
            <p:spPr>
              <a:xfrm>
                <a:off x="7802880" y="6286832"/>
                <a:ext cx="3546097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900" dirty="0">
                    <a:solidFill>
                      <a:schemeClr val="bg1"/>
                    </a:solidFill>
                    <a:latin typeface="+mj-lt"/>
                  </a:rPr>
                  <a:t>KNOWLEDGE             INTEGRITY            IMPACT</a:t>
                </a:r>
              </a:p>
            </p:txBody>
          </p:sp>
          <p:sp>
            <p:nvSpPr>
              <p:cNvPr id="21" name="Rectangle 20"/>
              <p:cNvSpPr/>
              <p:nvPr userDrawn="1"/>
            </p:nvSpPr>
            <p:spPr>
              <a:xfrm>
                <a:off x="8609870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/>
              <p:cNvSpPr/>
              <p:nvPr userDrawn="1"/>
            </p:nvSpPr>
            <p:spPr>
              <a:xfrm>
                <a:off x="9748239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/>
              <p:cNvSpPr/>
              <p:nvPr userDrawn="1"/>
            </p:nvSpPr>
            <p:spPr>
              <a:xfrm>
                <a:off x="10668414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5" name="TextBox 24"/>
          <p:cNvSpPr txBox="1"/>
          <p:nvPr userDrawn="1"/>
        </p:nvSpPr>
        <p:spPr>
          <a:xfrm>
            <a:off x="5378631" y="1165756"/>
            <a:ext cx="139849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 dirty="0">
                <a:solidFill>
                  <a:schemeClr val="accent1">
                    <a:lumMod val="50000"/>
                  </a:schemeClr>
                </a:solidFill>
              </a:rPr>
              <a:t>“</a:t>
            </a:r>
            <a:endParaRPr lang="en-US" sz="239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6" name="TextBox 25"/>
          <p:cNvSpPr txBox="1"/>
          <p:nvPr userDrawn="1"/>
        </p:nvSpPr>
        <p:spPr>
          <a:xfrm>
            <a:off x="5378631" y="4469044"/>
            <a:ext cx="139849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 dirty="0">
                <a:solidFill>
                  <a:schemeClr val="accent1">
                    <a:lumMod val="50000"/>
                  </a:schemeClr>
                </a:solidFill>
              </a:rPr>
              <a:t>“</a:t>
            </a:r>
            <a:endParaRPr lang="en-US" sz="239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1669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sz="half" idx="1"/>
          </p:nvPr>
        </p:nvSpPr>
        <p:spPr>
          <a:xfrm>
            <a:off x="715954" y="3378881"/>
            <a:ext cx="5181600" cy="317440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6319710" y="3378881"/>
            <a:ext cx="5181600" cy="317440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0" y="6704366"/>
            <a:ext cx="12195979" cy="153634"/>
            <a:chOff x="0" y="6701970"/>
            <a:chExt cx="12918820" cy="153590"/>
          </a:xfrm>
        </p:grpSpPr>
        <p:sp>
          <p:nvSpPr>
            <p:cNvPr id="15" name="Rectangle 14"/>
            <p:cNvSpPr/>
            <p:nvPr userDrawn="1"/>
          </p:nvSpPr>
          <p:spPr>
            <a:xfrm>
              <a:off x="0" y="6701970"/>
              <a:ext cx="1897258" cy="153590"/>
            </a:xfrm>
            <a:prstGeom prst="rect">
              <a:avLst/>
            </a:prstGeom>
            <a:solidFill>
              <a:srgbClr val="3FBE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1897257" y="6701970"/>
              <a:ext cx="7535243" cy="153590"/>
            </a:xfrm>
            <a:prstGeom prst="rect">
              <a:avLst/>
            </a:prstGeom>
            <a:solidFill>
              <a:srgbClr val="0A68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9432500" y="6701970"/>
              <a:ext cx="1413164" cy="15359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10845664" y="6701970"/>
              <a:ext cx="2073156" cy="15359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050" y="5979818"/>
            <a:ext cx="722152" cy="722152"/>
          </a:xfrm>
          <a:prstGeom prst="rect">
            <a:avLst/>
          </a:prstGeom>
          <a:blipFill>
            <a:blip r:embed="rId3">
              <a:alphaModFix amt="0"/>
            </a:blip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42622323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12192000" cy="670197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0" y="6704366"/>
            <a:ext cx="12195979" cy="153634"/>
            <a:chOff x="0" y="6701970"/>
            <a:chExt cx="12918820" cy="153590"/>
          </a:xfrm>
        </p:grpSpPr>
        <p:sp>
          <p:nvSpPr>
            <p:cNvPr id="15" name="Rectangle 14"/>
            <p:cNvSpPr/>
            <p:nvPr userDrawn="1"/>
          </p:nvSpPr>
          <p:spPr>
            <a:xfrm>
              <a:off x="0" y="6701970"/>
              <a:ext cx="1897258" cy="153590"/>
            </a:xfrm>
            <a:prstGeom prst="rect">
              <a:avLst/>
            </a:prstGeom>
            <a:solidFill>
              <a:srgbClr val="3FBE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1897257" y="6701970"/>
              <a:ext cx="7535243" cy="153590"/>
            </a:xfrm>
            <a:prstGeom prst="rect">
              <a:avLst/>
            </a:prstGeom>
            <a:solidFill>
              <a:srgbClr val="0A68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9432500" y="6701970"/>
              <a:ext cx="1413164" cy="15359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10845664" y="6701970"/>
              <a:ext cx="2073156" cy="15359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050" y="5979818"/>
            <a:ext cx="722152" cy="722152"/>
          </a:xfrm>
          <a:prstGeom prst="rect">
            <a:avLst/>
          </a:prstGeom>
          <a:blipFill>
            <a:blip r:embed="rId3">
              <a:alphaModFix amt="0"/>
            </a:blip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38161930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-56710"/>
            <a:ext cx="12192000" cy="6748131"/>
          </a:xfrm>
          <a:prstGeom prst="rect">
            <a:avLst/>
          </a:prstGeom>
          <a:solidFill>
            <a:srgbClr val="0A68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" name="Google Shape;356;p34"/>
          <p:cNvSpPr txBox="1">
            <a:spLocks/>
          </p:cNvSpPr>
          <p:nvPr userDrawn="1"/>
        </p:nvSpPr>
        <p:spPr>
          <a:xfrm>
            <a:off x="1135765" y="2427304"/>
            <a:ext cx="5561100" cy="11598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11500" dirty="0">
                <a:solidFill>
                  <a:schemeClr val="bg1"/>
                </a:solidFill>
              </a:rPr>
              <a:t>Thanks!</a:t>
            </a:r>
          </a:p>
        </p:txBody>
      </p:sp>
      <p:sp>
        <p:nvSpPr>
          <p:cNvPr id="9" name="Google Shape;357;p34"/>
          <p:cNvSpPr txBox="1">
            <a:spLocks/>
          </p:cNvSpPr>
          <p:nvPr userDrawn="1"/>
        </p:nvSpPr>
        <p:spPr>
          <a:xfrm>
            <a:off x="1135765" y="3455423"/>
            <a:ext cx="5561100" cy="7848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sz="4800" b="1">
                <a:solidFill>
                  <a:schemeClr val="lt1"/>
                </a:solidFill>
              </a:rPr>
              <a:t>Any questions?</a:t>
            </a:r>
          </a:p>
        </p:txBody>
      </p:sp>
      <p:grpSp>
        <p:nvGrpSpPr>
          <p:cNvPr id="10" name="Group 9"/>
          <p:cNvGrpSpPr/>
          <p:nvPr userDrawn="1"/>
        </p:nvGrpSpPr>
        <p:grpSpPr>
          <a:xfrm>
            <a:off x="0" y="6704366"/>
            <a:ext cx="12195979" cy="153634"/>
            <a:chOff x="0" y="6701970"/>
            <a:chExt cx="12918820" cy="153590"/>
          </a:xfrm>
        </p:grpSpPr>
        <p:sp>
          <p:nvSpPr>
            <p:cNvPr id="11" name="Rectangle 10"/>
            <p:cNvSpPr/>
            <p:nvPr userDrawn="1"/>
          </p:nvSpPr>
          <p:spPr>
            <a:xfrm>
              <a:off x="0" y="6701970"/>
              <a:ext cx="1897258" cy="153590"/>
            </a:xfrm>
            <a:prstGeom prst="rect">
              <a:avLst/>
            </a:prstGeom>
            <a:solidFill>
              <a:srgbClr val="3FBE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1897257" y="6701970"/>
              <a:ext cx="7535243" cy="153590"/>
            </a:xfrm>
            <a:prstGeom prst="rect">
              <a:avLst/>
            </a:prstGeom>
            <a:solidFill>
              <a:srgbClr val="0A68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9432500" y="6701970"/>
              <a:ext cx="1413164" cy="15359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10845664" y="6701970"/>
              <a:ext cx="2073156" cy="15359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/>
          <p:cNvSpPr/>
          <p:nvPr userDrawn="1"/>
        </p:nvSpPr>
        <p:spPr>
          <a:xfrm>
            <a:off x="7180729" y="269109"/>
            <a:ext cx="6320118" cy="6333565"/>
          </a:xfrm>
          <a:prstGeom prst="rect">
            <a:avLst/>
          </a:prstGeom>
          <a:blipFill dpi="0" rotWithShape="1">
            <a:blip r:embed="rId2">
              <a:alphaModFix amt="67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8503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14F44-04BC-67E9-7666-8E4611C07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1EAF7-59EE-6FD0-6015-1EADD1D44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F9E1B-BCFB-A0D8-F9B8-FEDD8C5C0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6844AD-EB2F-4427-92CF-8BD1C0CA3A7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6581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CF8120-5D43-445C-81DE-BB63D27CD45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76395-65C6-40C6-B0F2-3F72B3156A6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-39753" y="-51683"/>
            <a:ext cx="12235732" cy="690968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90" y="483244"/>
            <a:ext cx="2684166" cy="680012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7180729" y="269109"/>
            <a:ext cx="6320118" cy="6333565"/>
          </a:xfrm>
          <a:prstGeom prst="rect">
            <a:avLst/>
          </a:prstGeom>
          <a:blipFill dpi="0" rotWithShape="1">
            <a:blip r:embed="rId17">
              <a:alphaModFix amt="67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39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0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jpeg"/><Relationship Id="rId4" Type="http://schemas.openxmlformats.org/officeDocument/2006/relationships/image" Target="../media/image8.gi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40890" y="2370742"/>
            <a:ext cx="750039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ICT CONCEPTS &amp; CHARATERISTICS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0890" y="4821543"/>
            <a:ext cx="823116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dirty="0">
                <a:solidFill>
                  <a:schemeClr val="bg1"/>
                </a:solidFill>
              </a:rPr>
              <a:t>BY: BENEDICTA NYARKO ANIN-ACQUAH</a:t>
            </a:r>
            <a:endParaRPr lang="en-US" sz="28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en-US" sz="28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800" b="0" dirty="0">
                <a:solidFill>
                  <a:schemeClr val="bg1"/>
                </a:solidFill>
              </a:rPr>
              <a:t>Email: benedicta.anin-acquah@uenr.edu.gh</a:t>
            </a:r>
            <a:endParaRPr lang="en-US" sz="28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48F177D-8AB4-42F9-84F2-B698EE44CA39}"/>
                  </a:ext>
                </a:extLst>
              </p14:cNvPr>
              <p14:cNvContentPartPr/>
              <p14:nvPr/>
            </p14:nvContentPartPr>
            <p14:xfrm>
              <a:off x="5991840" y="3357720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48F177D-8AB4-42F9-84F2-B698EE44CA3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82480" y="334836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26522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>
            <a:extLst>
              <a:ext uri="{FF2B5EF4-FFF2-40B4-BE49-F238E27FC236}">
                <a16:creationId xmlns:a16="http://schemas.microsoft.com/office/drawing/2014/main" id="{6ECAFB53-DE32-464E-2078-F0AE7056C1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 b="1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Computer is an electronic device.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 b="1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Can store large amounts of data.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 b="1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Can performing operations on data.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 b="1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Performing given function on the data &amp; displays the result as output.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 b="1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Process data whenever needed.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 b="1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Known from ‘to compute’</a:t>
            </a: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CEB5A096-F0CC-0901-C2A5-411DBDAF85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CC00CC"/>
                </a:solidFill>
                <a:ea typeface="+mn-ea"/>
                <a:cs typeface="+mn-cs"/>
              </a:rPr>
              <a:t>What is Computer ?</a:t>
            </a:r>
          </a:p>
        </p:txBody>
      </p:sp>
    </p:spTree>
  </p:cSld>
  <p:clrMapOvr>
    <a:masterClrMapping/>
  </p:clrMapOvr>
  <p:transition spd="med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60BBAFC3-9888-CF80-A785-23D39C6F92FA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 b="1" dirty="0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Computer works on data as per </a:t>
            </a:r>
            <a:r>
              <a:rPr lang="en-US" altLang="en-US" sz="2400" b="1" dirty="0" err="1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programme</a:t>
            </a:r>
            <a:r>
              <a:rPr lang="en-US" altLang="en-US" sz="2400" b="1" dirty="0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is called process. </a:t>
            </a:r>
          </a:p>
          <a:p>
            <a:pPr algn="just">
              <a:lnSpc>
                <a:spcPct val="150000"/>
              </a:lnSpc>
              <a:buFontTx/>
              <a:buNone/>
            </a:pPr>
            <a:endParaRPr lang="en-US" altLang="en-US" sz="100" b="1" dirty="0">
              <a:solidFill>
                <a:srgbClr val="0000FF"/>
              </a:solidFill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 b="1" dirty="0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Processing means operations like…..</a:t>
            </a:r>
          </a:p>
          <a:p>
            <a:pPr lvl="3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 b="1" dirty="0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Calculations, </a:t>
            </a:r>
          </a:p>
          <a:p>
            <a:pPr lvl="3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 b="1" dirty="0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Logical decision making, </a:t>
            </a:r>
          </a:p>
          <a:p>
            <a:pPr lvl="3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 b="1" dirty="0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Outputting data, </a:t>
            </a:r>
          </a:p>
          <a:p>
            <a:pPr lvl="3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 b="1" dirty="0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Communicating with others computer etc.</a:t>
            </a: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426B9E2F-821B-23AD-C7F0-F583CF74C8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CC00CC"/>
                </a:solidFill>
                <a:ea typeface="+mn-ea"/>
                <a:cs typeface="+mn-cs"/>
              </a:rPr>
              <a:t>What is Process? 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D5B0093-1F75-6F89-35DF-9BFAE4E3F92F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>
            <a:normAutofit/>
          </a:bodyPr>
          <a:lstStyle/>
          <a:p>
            <a:r>
              <a:rPr lang="en-GB" sz="4000" b="1" dirty="0"/>
              <a:t>Process </a:t>
            </a:r>
            <a:r>
              <a:rPr lang="en-GB" sz="4000" dirty="0"/>
              <a:t>is a set of logically related tasks performed to achieve a defined outcome.</a:t>
            </a: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>
            <a:extLst>
              <a:ext uri="{FF2B5EF4-FFF2-40B4-BE49-F238E27FC236}">
                <a16:creationId xmlns:a16="http://schemas.microsoft.com/office/drawing/2014/main" id="{2CCE81DD-D203-D6F6-9697-460989E85F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buSzPct val="110000"/>
              <a:buFont typeface="Wingdings" panose="05000000000000000000" pitchFamily="2" charset="2"/>
              <a:buChar char="§"/>
            </a:pPr>
            <a:r>
              <a:rPr lang="en-US" altLang="en-US" sz="2400" b="1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Speed</a:t>
            </a:r>
          </a:p>
          <a:p>
            <a:pPr>
              <a:lnSpc>
                <a:spcPct val="150000"/>
              </a:lnSpc>
              <a:buSzPct val="110000"/>
              <a:buFont typeface="Wingdings" panose="05000000000000000000" pitchFamily="2" charset="2"/>
              <a:buChar char="§"/>
            </a:pPr>
            <a:r>
              <a:rPr lang="en-US" altLang="en-US" sz="2400" b="1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Arithmetical and Logical Operations</a:t>
            </a:r>
          </a:p>
          <a:p>
            <a:pPr>
              <a:lnSpc>
                <a:spcPct val="150000"/>
              </a:lnSpc>
              <a:buSzPct val="110000"/>
              <a:buFont typeface="Wingdings" panose="05000000000000000000" pitchFamily="2" charset="2"/>
              <a:buChar char="§"/>
            </a:pPr>
            <a:r>
              <a:rPr lang="en-US" altLang="en-US" sz="2400" b="1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Accuracy</a:t>
            </a:r>
          </a:p>
          <a:p>
            <a:pPr>
              <a:lnSpc>
                <a:spcPct val="150000"/>
              </a:lnSpc>
              <a:buSzPct val="110000"/>
              <a:buFont typeface="Wingdings" panose="05000000000000000000" pitchFamily="2" charset="2"/>
              <a:buChar char="§"/>
            </a:pPr>
            <a:r>
              <a:rPr lang="en-US" altLang="en-US" sz="2400" b="1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Reliability</a:t>
            </a:r>
          </a:p>
          <a:p>
            <a:pPr>
              <a:lnSpc>
                <a:spcPct val="150000"/>
              </a:lnSpc>
              <a:buSzPct val="110000"/>
              <a:buFont typeface="Wingdings" panose="05000000000000000000" pitchFamily="2" charset="2"/>
              <a:buChar char="§"/>
            </a:pPr>
            <a:r>
              <a:rPr lang="en-US" altLang="en-US" sz="2400" b="1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Storage</a:t>
            </a:r>
          </a:p>
          <a:p>
            <a:pPr>
              <a:lnSpc>
                <a:spcPct val="90000"/>
              </a:lnSpc>
              <a:buSzPct val="110000"/>
              <a:buFont typeface="Wingdings" panose="05000000000000000000" pitchFamily="2" charset="2"/>
              <a:buChar char="§"/>
            </a:pPr>
            <a:endParaRPr lang="en-US" altLang="en-US" sz="1800" b="1">
              <a:solidFill>
                <a:srgbClr val="006600"/>
              </a:solidFill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buSzPct val="110000"/>
              <a:buFont typeface="Wingdings" panose="05000000000000000000" pitchFamily="2" charset="2"/>
              <a:buChar char="§"/>
            </a:pPr>
            <a:endParaRPr lang="en-US" altLang="en-US" sz="1800" b="1">
              <a:solidFill>
                <a:srgbClr val="006600"/>
              </a:solidFill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buSzPct val="110000"/>
              <a:buFont typeface="Wingdings" panose="05000000000000000000" pitchFamily="2" charset="2"/>
              <a:buChar char="§"/>
            </a:pPr>
            <a:endParaRPr lang="en-US" altLang="en-US" sz="1800" b="1">
              <a:solidFill>
                <a:srgbClr val="0000FF"/>
              </a:solidFill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7170" name="Rectangle 2">
            <a:extLst>
              <a:ext uri="{FF2B5EF4-FFF2-40B4-BE49-F238E27FC236}">
                <a16:creationId xmlns:a16="http://schemas.microsoft.com/office/drawing/2014/main" id="{15862F77-D76A-60B8-9302-2CE82A6887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sz="3000" b="1" dirty="0">
                <a:solidFill>
                  <a:srgbClr val="CC00CC"/>
                </a:solidFill>
                <a:ea typeface="+mn-ea"/>
                <a:cs typeface="+mn-cs"/>
              </a:rPr>
              <a:t>Characteristics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06A65F6E-34D0-FADB-1B1B-0D882C82A8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1143000"/>
            <a:ext cx="37338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20000"/>
              </a:spcBef>
              <a:buSzPct val="110000"/>
              <a:buFont typeface="Wingdings" panose="05000000000000000000" pitchFamily="2" charset="2"/>
              <a:buChar char="§"/>
            </a:pPr>
            <a:r>
              <a:rPr lang="en-US" altLang="en-US" sz="2400" b="1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Retrieving Data and Programme</a:t>
            </a:r>
          </a:p>
          <a:p>
            <a:pPr>
              <a:lnSpc>
                <a:spcPct val="150000"/>
              </a:lnSpc>
              <a:spcBef>
                <a:spcPct val="20000"/>
              </a:spcBef>
              <a:buSzPct val="110000"/>
              <a:buFont typeface="Wingdings" panose="05000000000000000000" pitchFamily="2" charset="2"/>
              <a:buChar char="§"/>
            </a:pPr>
            <a:r>
              <a:rPr lang="en-US" altLang="en-US" sz="2400" b="1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Automation</a:t>
            </a:r>
          </a:p>
          <a:p>
            <a:pPr>
              <a:lnSpc>
                <a:spcPct val="150000"/>
              </a:lnSpc>
              <a:spcBef>
                <a:spcPct val="20000"/>
              </a:spcBef>
              <a:buSzPct val="110000"/>
              <a:buFont typeface="Wingdings" panose="05000000000000000000" pitchFamily="2" charset="2"/>
              <a:buChar char="§"/>
            </a:pPr>
            <a:r>
              <a:rPr lang="en-US" altLang="en-US" sz="2400" b="1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Versatility (Flexible)</a:t>
            </a:r>
          </a:p>
          <a:p>
            <a:pPr>
              <a:lnSpc>
                <a:spcPct val="150000"/>
              </a:lnSpc>
              <a:spcBef>
                <a:spcPct val="20000"/>
              </a:spcBef>
              <a:buSzPct val="110000"/>
              <a:buFont typeface="Wingdings" panose="05000000000000000000" pitchFamily="2" charset="2"/>
              <a:buChar char="§"/>
            </a:pPr>
            <a:r>
              <a:rPr lang="en-US" altLang="en-US" sz="2400" b="1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Consistency </a:t>
            </a:r>
          </a:p>
          <a:p>
            <a:pPr>
              <a:lnSpc>
                <a:spcPct val="150000"/>
              </a:lnSpc>
              <a:spcBef>
                <a:spcPct val="20000"/>
              </a:spcBef>
              <a:buSzPct val="110000"/>
              <a:buFont typeface="Wingdings" panose="05000000000000000000" pitchFamily="2" charset="2"/>
              <a:buChar char="§"/>
            </a:pPr>
            <a:r>
              <a:rPr lang="en-US" altLang="en-US" sz="2400" b="1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Communications</a:t>
            </a:r>
          </a:p>
          <a:p>
            <a:pPr>
              <a:lnSpc>
                <a:spcPct val="90000"/>
              </a:lnSpc>
              <a:spcBef>
                <a:spcPct val="20000"/>
              </a:spcBef>
              <a:buSzPct val="110000"/>
              <a:buFont typeface="Wingdings" panose="05000000000000000000" pitchFamily="2" charset="2"/>
              <a:buChar char="§"/>
            </a:pPr>
            <a:endParaRPr lang="en-US" altLang="en-US" b="1">
              <a:solidFill>
                <a:srgbClr val="006600"/>
              </a:solidFill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SzPct val="110000"/>
              <a:buFont typeface="Wingdings" panose="05000000000000000000" pitchFamily="2" charset="2"/>
              <a:buChar char="§"/>
            </a:pPr>
            <a:endParaRPr lang="en-US" altLang="en-US" b="1">
              <a:solidFill>
                <a:srgbClr val="006600"/>
              </a:solidFill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SzPct val="110000"/>
              <a:buFont typeface="Wingdings" panose="05000000000000000000" pitchFamily="2" charset="2"/>
              <a:buChar char="§"/>
            </a:pPr>
            <a:endParaRPr lang="en-US" altLang="en-US" b="1">
              <a:solidFill>
                <a:srgbClr val="0000FF"/>
              </a:solidFill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>
            <a:extLst>
              <a:ext uri="{FF2B5EF4-FFF2-40B4-BE49-F238E27FC236}">
                <a16:creationId xmlns:a16="http://schemas.microsoft.com/office/drawing/2014/main" id="{1780AF89-C734-0372-9610-C8D7147B7E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000" b="1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Science research</a:t>
            </a:r>
          </a:p>
          <a:p>
            <a:pPr>
              <a:lnSpc>
                <a:spcPct val="150000"/>
              </a:lnSpc>
            </a:pPr>
            <a:r>
              <a:rPr lang="en-US" altLang="en-US" sz="2000" b="1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Education</a:t>
            </a:r>
          </a:p>
          <a:p>
            <a:pPr>
              <a:lnSpc>
                <a:spcPct val="150000"/>
              </a:lnSpc>
            </a:pPr>
            <a:r>
              <a:rPr lang="en-US" altLang="en-US" sz="2000" b="1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Business applications</a:t>
            </a:r>
          </a:p>
          <a:p>
            <a:pPr>
              <a:lnSpc>
                <a:spcPct val="150000"/>
              </a:lnSpc>
            </a:pPr>
            <a:r>
              <a:rPr lang="en-US" altLang="en-US" sz="2000" b="1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Banking</a:t>
            </a:r>
          </a:p>
          <a:p>
            <a:pPr>
              <a:lnSpc>
                <a:spcPct val="150000"/>
              </a:lnSpc>
            </a:pPr>
            <a:r>
              <a:rPr lang="en-US" altLang="en-US" sz="2000" b="1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Office Automation</a:t>
            </a:r>
          </a:p>
          <a:p>
            <a:pPr>
              <a:lnSpc>
                <a:spcPct val="150000"/>
              </a:lnSpc>
            </a:pPr>
            <a:r>
              <a:rPr lang="en-US" altLang="en-US" sz="2000" b="1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Desktop publishing</a:t>
            </a:r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73FA993A-36A0-2084-2BE7-905AC1834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sz="3000" b="1" dirty="0">
                <a:solidFill>
                  <a:srgbClr val="CC00CC"/>
                </a:solidFill>
                <a:ea typeface="+mn-ea"/>
                <a:cs typeface="+mn-cs"/>
              </a:rPr>
              <a:t>Applications of Computer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FB6E73-7247-4694-B349-57F1F8070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1143000"/>
            <a:ext cx="37338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sz="2000" b="1" dirty="0">
                <a:solidFill>
                  <a:srgbClr val="0000FF"/>
                </a:solidFill>
                <a:ea typeface="Times New Roman"/>
                <a:cs typeface="Arial" pitchFamily="34" charset="0"/>
              </a:rPr>
              <a:t>Management aids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sz="2000" b="1" dirty="0">
                <a:solidFill>
                  <a:srgbClr val="0000FF"/>
                </a:solidFill>
                <a:ea typeface="Times New Roman"/>
                <a:cs typeface="Arial" pitchFamily="34" charset="0"/>
              </a:rPr>
              <a:t>Engineering designing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sz="2000" b="1" dirty="0">
                <a:solidFill>
                  <a:srgbClr val="0000FF"/>
                </a:solidFill>
                <a:ea typeface="Times New Roman"/>
                <a:cs typeface="Arial" pitchFamily="34" charset="0"/>
              </a:rPr>
              <a:t>Road traffic control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sz="2000" b="1" dirty="0">
                <a:solidFill>
                  <a:srgbClr val="0000FF"/>
                </a:solidFill>
                <a:ea typeface="Times New Roman"/>
                <a:cs typeface="Arial" pitchFamily="34" charset="0"/>
              </a:rPr>
              <a:t>Railway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sz="2000" b="1" dirty="0">
                <a:solidFill>
                  <a:srgbClr val="0000FF"/>
                </a:solidFill>
                <a:ea typeface="Times New Roman"/>
                <a:cs typeface="Arial" pitchFamily="34" charset="0"/>
              </a:rPr>
              <a:t>Medicine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sz="2000" b="1" dirty="0">
                <a:solidFill>
                  <a:srgbClr val="0000FF"/>
                </a:solidFill>
                <a:ea typeface="Times New Roman"/>
                <a:cs typeface="Arial" pitchFamily="34" charset="0"/>
              </a:rPr>
              <a:t>Information services</a:t>
            </a:r>
          </a:p>
        </p:txBody>
      </p:sp>
    </p:spTree>
  </p:cSld>
  <p:clrMapOvr>
    <a:masterClrMapping/>
  </p:clrMapOvr>
  <p:transition spd="med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>
            <a:extLst>
              <a:ext uri="{FF2B5EF4-FFF2-40B4-BE49-F238E27FC236}">
                <a16:creationId xmlns:a16="http://schemas.microsoft.com/office/drawing/2014/main" id="{8BFD54EF-9350-9C80-FA03-7D9906311A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000" b="1">
                <a:solidFill>
                  <a:srgbClr val="FF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Inter</a:t>
            </a:r>
            <a:r>
              <a:rPr lang="en-US" altLang="en-US" sz="2000" b="1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connection of many computers via </a:t>
            </a:r>
            <a:r>
              <a:rPr lang="en-US" altLang="en-US" sz="2000" b="1">
                <a:solidFill>
                  <a:srgbClr val="FF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net</a:t>
            </a:r>
            <a:r>
              <a:rPr lang="en-US" altLang="en-US" sz="2000" b="1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work.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000" b="1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Global connected through network (through LAN or WAN)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000" b="1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To provide the various application services i.e. E-Mail, Usenet (News), WWW, Telnet, FTP, etc</a:t>
            </a:r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44A3BF34-92E4-8CE1-CF63-8FBEEE6DC2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sz="3000" b="1" dirty="0">
                <a:solidFill>
                  <a:srgbClr val="CC00CC"/>
                </a:solidFill>
                <a:ea typeface="+mn-ea"/>
                <a:cs typeface="+mn-cs"/>
              </a:rPr>
              <a:t>What is Internet</a:t>
            </a: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>
            <a:extLst>
              <a:ext uri="{FF2B5EF4-FFF2-40B4-BE49-F238E27FC236}">
                <a16:creationId xmlns:a16="http://schemas.microsoft.com/office/drawing/2014/main" id="{4BA644AF-9226-BD3C-8B2A-03A0F74676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77230" y="1392751"/>
            <a:ext cx="5641606" cy="5345674"/>
          </a:xfrm>
        </p:spPr>
        <p:txBody>
          <a:bodyPr rtlCol="0">
            <a:noAutofit/>
          </a:bodyPr>
          <a:lstStyle/>
          <a:p>
            <a:pPr>
              <a:lnSpc>
                <a:spcPct val="120000"/>
              </a:lnSpc>
              <a:buFont typeface="Wingdings" pitchFamily="2" charset="2"/>
              <a:buChar char="§"/>
              <a:defRPr/>
            </a:pPr>
            <a:r>
              <a:rPr lang="en-US" sz="2500" b="1" dirty="0">
                <a:solidFill>
                  <a:srgbClr val="0000FF"/>
                </a:solidFill>
                <a:ea typeface="Times New Roman"/>
                <a:cs typeface="Arial" pitchFamily="34" charset="0"/>
              </a:rPr>
              <a:t>Searching  </a:t>
            </a:r>
          </a:p>
          <a:p>
            <a:pPr>
              <a:lnSpc>
                <a:spcPct val="120000"/>
              </a:lnSpc>
              <a:buFont typeface="Wingdings" pitchFamily="2" charset="2"/>
              <a:buChar char="§"/>
              <a:defRPr/>
            </a:pPr>
            <a:r>
              <a:rPr lang="en-US" sz="2500" b="1" dirty="0">
                <a:solidFill>
                  <a:srgbClr val="0000FF"/>
                </a:solidFill>
                <a:ea typeface="Times New Roman"/>
                <a:cs typeface="Arial" pitchFamily="34" charset="0"/>
              </a:rPr>
              <a:t>E-mail service</a:t>
            </a:r>
          </a:p>
          <a:p>
            <a:pPr>
              <a:lnSpc>
                <a:spcPct val="120000"/>
              </a:lnSpc>
              <a:buFont typeface="Wingdings" pitchFamily="2" charset="2"/>
              <a:buChar char="§"/>
              <a:defRPr/>
            </a:pPr>
            <a:r>
              <a:rPr lang="en-US" sz="2500" b="1" dirty="0">
                <a:solidFill>
                  <a:srgbClr val="0000FF"/>
                </a:solidFill>
                <a:ea typeface="Times New Roman"/>
                <a:cs typeface="Arial" pitchFamily="34" charset="0"/>
              </a:rPr>
              <a:t>Commercial Services</a:t>
            </a:r>
          </a:p>
          <a:p>
            <a:pPr>
              <a:lnSpc>
                <a:spcPct val="120000"/>
              </a:lnSpc>
              <a:buFont typeface="Wingdings" pitchFamily="2" charset="2"/>
              <a:buChar char="§"/>
              <a:defRPr/>
            </a:pPr>
            <a:r>
              <a:rPr lang="en-US" sz="2500" b="1" dirty="0">
                <a:solidFill>
                  <a:srgbClr val="0000FF"/>
                </a:solidFill>
                <a:ea typeface="Times New Roman"/>
                <a:cs typeface="Arial" pitchFamily="34" charset="0"/>
              </a:rPr>
              <a:t>Electronic books &amp; Publication</a:t>
            </a:r>
          </a:p>
          <a:p>
            <a:pPr>
              <a:lnSpc>
                <a:spcPct val="120000"/>
              </a:lnSpc>
              <a:buFont typeface="Wingdings" pitchFamily="2" charset="2"/>
              <a:buChar char="§"/>
              <a:defRPr/>
            </a:pPr>
            <a:r>
              <a:rPr lang="en-US" sz="2500" b="1" dirty="0">
                <a:solidFill>
                  <a:srgbClr val="0000FF"/>
                </a:solidFill>
                <a:ea typeface="Times New Roman"/>
                <a:cs typeface="Arial" pitchFamily="34" charset="0"/>
              </a:rPr>
              <a:t>Video Conferencing</a:t>
            </a:r>
          </a:p>
          <a:p>
            <a:pPr>
              <a:lnSpc>
                <a:spcPct val="120000"/>
              </a:lnSpc>
              <a:buFont typeface="Wingdings" pitchFamily="2" charset="2"/>
              <a:buChar char="§"/>
              <a:defRPr/>
            </a:pPr>
            <a:r>
              <a:rPr lang="en-US" sz="2500" b="1" dirty="0">
                <a:solidFill>
                  <a:srgbClr val="0000FF"/>
                </a:solidFill>
                <a:ea typeface="Times New Roman"/>
                <a:cs typeface="Arial" pitchFamily="34" charset="0"/>
              </a:rPr>
              <a:t>Sharing data and results quickly</a:t>
            </a:r>
          </a:p>
          <a:p>
            <a:pPr>
              <a:lnSpc>
                <a:spcPct val="120000"/>
              </a:lnSpc>
              <a:buFont typeface="Wingdings" pitchFamily="2" charset="2"/>
              <a:buChar char="§"/>
              <a:defRPr/>
            </a:pPr>
            <a:r>
              <a:rPr lang="en-US" sz="2500" b="1" dirty="0">
                <a:solidFill>
                  <a:srgbClr val="0000FF"/>
                </a:solidFill>
                <a:ea typeface="Times New Roman"/>
                <a:cs typeface="Arial" pitchFamily="34" charset="0"/>
              </a:rPr>
              <a:t>Retrieving files &amp; Program of all types</a:t>
            </a:r>
          </a:p>
          <a:p>
            <a:pPr>
              <a:lnSpc>
                <a:spcPct val="120000"/>
              </a:lnSpc>
              <a:buFont typeface="Wingdings" pitchFamily="2" charset="2"/>
              <a:buChar char="§"/>
              <a:defRPr/>
            </a:pPr>
            <a:r>
              <a:rPr lang="en-US" sz="2500" b="1" dirty="0">
                <a:solidFill>
                  <a:srgbClr val="0000FF"/>
                </a:solidFill>
                <a:ea typeface="Times New Roman"/>
                <a:cs typeface="Arial" pitchFamily="34" charset="0"/>
              </a:rPr>
              <a:t>Find information databases and tutorials</a:t>
            </a:r>
          </a:p>
          <a:p>
            <a:pPr>
              <a:lnSpc>
                <a:spcPct val="120000"/>
              </a:lnSpc>
              <a:buFont typeface="Wingdings" pitchFamily="2" charset="2"/>
              <a:buChar char="§"/>
              <a:defRPr/>
            </a:pPr>
            <a:endParaRPr lang="en-US" sz="2500" b="1" dirty="0">
              <a:solidFill>
                <a:srgbClr val="0000FF"/>
              </a:solidFill>
              <a:ea typeface="Times New Roman"/>
              <a:cs typeface="Arial" pitchFamily="34" charset="0"/>
            </a:endParaRPr>
          </a:p>
          <a:p>
            <a:pPr>
              <a:lnSpc>
                <a:spcPct val="120000"/>
              </a:lnSpc>
              <a:buFont typeface="Wingdings" pitchFamily="2" charset="2"/>
              <a:buChar char="§"/>
              <a:defRPr/>
            </a:pPr>
            <a:endParaRPr lang="en-US" sz="2500" b="1" dirty="0">
              <a:solidFill>
                <a:srgbClr val="0000FF"/>
              </a:solidFill>
              <a:ea typeface="Times New Roman"/>
              <a:cs typeface="Arial" pitchFamily="34" charset="0"/>
            </a:endParaRPr>
          </a:p>
          <a:p>
            <a:pPr>
              <a:defRPr/>
            </a:pPr>
            <a:endParaRPr lang="en-US" sz="2500" b="1" dirty="0">
              <a:solidFill>
                <a:srgbClr val="0000FF"/>
              </a:solidFill>
              <a:ea typeface="Times New Roman"/>
              <a:cs typeface="Arial" pitchFamily="34" charset="0"/>
            </a:endParaRPr>
          </a:p>
          <a:p>
            <a:pPr>
              <a:defRPr/>
            </a:pPr>
            <a:endParaRPr lang="en-US" sz="2500" b="1" dirty="0">
              <a:solidFill>
                <a:srgbClr val="0000FF"/>
              </a:solidFill>
              <a:ea typeface="Times New Roman"/>
              <a:cs typeface="Arial" pitchFamily="34" charset="0"/>
            </a:endParaRPr>
          </a:p>
          <a:p>
            <a:pPr>
              <a:defRPr/>
            </a:pPr>
            <a:endParaRPr lang="en-US" sz="2500" b="1" dirty="0">
              <a:solidFill>
                <a:srgbClr val="0000FF"/>
              </a:solidFill>
              <a:ea typeface="Times New Roman"/>
              <a:cs typeface="Arial" pitchFamily="34" charset="0"/>
            </a:endParaRPr>
          </a:p>
          <a:p>
            <a:pPr>
              <a:defRPr/>
            </a:pPr>
            <a:endParaRPr lang="en-US" sz="2500" b="1" dirty="0">
              <a:solidFill>
                <a:srgbClr val="0000FF"/>
              </a:solidFill>
              <a:ea typeface="Times New Roman"/>
              <a:cs typeface="Arial" pitchFamily="34" charset="0"/>
            </a:endParaRPr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CFB8312A-9805-40F1-5B15-221D3EA6CFD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299170" y="638689"/>
            <a:ext cx="10515600" cy="754062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sz="3000" b="1" dirty="0">
                <a:solidFill>
                  <a:srgbClr val="CC00CC"/>
                </a:solidFill>
                <a:ea typeface="+mn-ea"/>
                <a:cs typeface="+mn-cs"/>
              </a:rPr>
              <a:t>Uses of  Internet	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A7479E9-0AFC-026A-CB1C-628E2B3B15ED}"/>
              </a:ext>
            </a:extLst>
          </p:cNvPr>
          <p:cNvSpPr txBox="1">
            <a:spLocks noChangeArrowheads="1"/>
          </p:cNvSpPr>
          <p:nvPr/>
        </p:nvSpPr>
        <p:spPr>
          <a:xfrm>
            <a:off x="6173166" y="1277865"/>
            <a:ext cx="6145652" cy="47340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itchFamily="2" charset="2"/>
              <a:buChar char="§"/>
              <a:defRPr/>
            </a:pPr>
            <a:r>
              <a:rPr lang="en-US" sz="2500" b="1" dirty="0">
                <a:solidFill>
                  <a:srgbClr val="0000FF"/>
                </a:solidFill>
                <a:ea typeface="Times New Roman"/>
                <a:cs typeface="Arial" pitchFamily="34" charset="0"/>
              </a:rPr>
              <a:t>News paper columns</a:t>
            </a:r>
          </a:p>
          <a:p>
            <a:pPr>
              <a:lnSpc>
                <a:spcPct val="120000"/>
              </a:lnSpc>
              <a:buFont typeface="Wingdings" pitchFamily="2" charset="2"/>
              <a:buChar char="§"/>
              <a:defRPr/>
            </a:pPr>
            <a:r>
              <a:rPr lang="en-US" sz="2500" b="1" dirty="0">
                <a:solidFill>
                  <a:srgbClr val="0000FF"/>
                </a:solidFill>
                <a:ea typeface="Times New Roman"/>
                <a:cs typeface="Arial" pitchFamily="34" charset="0"/>
              </a:rPr>
              <a:t>Banking</a:t>
            </a:r>
          </a:p>
          <a:p>
            <a:pPr>
              <a:lnSpc>
                <a:spcPct val="120000"/>
              </a:lnSpc>
              <a:buFont typeface="Wingdings" pitchFamily="2" charset="2"/>
              <a:buChar char="§"/>
              <a:defRPr/>
            </a:pPr>
            <a:r>
              <a:rPr lang="en-US" sz="2500" b="1" dirty="0">
                <a:solidFill>
                  <a:srgbClr val="0000FF"/>
                </a:solidFill>
                <a:ea typeface="Times New Roman"/>
                <a:cs typeface="Arial" pitchFamily="34" charset="0"/>
              </a:rPr>
              <a:t>Downloading / Uploading any information</a:t>
            </a:r>
          </a:p>
          <a:p>
            <a:pPr>
              <a:lnSpc>
                <a:spcPct val="120000"/>
              </a:lnSpc>
              <a:buFont typeface="Wingdings" pitchFamily="2" charset="2"/>
              <a:buChar char="§"/>
              <a:defRPr/>
            </a:pPr>
            <a:r>
              <a:rPr lang="en-US" sz="2500" b="1" dirty="0">
                <a:solidFill>
                  <a:srgbClr val="0000FF"/>
                </a:solidFill>
                <a:ea typeface="Times New Roman"/>
                <a:cs typeface="Arial" pitchFamily="34" charset="0"/>
              </a:rPr>
              <a:t>News, sports, stocks, music etc.</a:t>
            </a:r>
          </a:p>
          <a:p>
            <a:pPr>
              <a:lnSpc>
                <a:spcPct val="120000"/>
              </a:lnSpc>
              <a:buFont typeface="Wingdings" pitchFamily="2" charset="2"/>
              <a:buChar char="§"/>
              <a:defRPr/>
            </a:pPr>
            <a:r>
              <a:rPr lang="en-US" sz="2500" b="1" dirty="0">
                <a:solidFill>
                  <a:srgbClr val="0000FF"/>
                </a:solidFill>
                <a:ea typeface="Times New Roman"/>
                <a:cs typeface="Arial" pitchFamily="34" charset="0"/>
              </a:rPr>
              <a:t>Use of internet in various fields like education, Business, governance, etc.</a:t>
            </a:r>
          </a:p>
          <a:p>
            <a:pPr>
              <a:lnSpc>
                <a:spcPct val="120000"/>
              </a:lnSpc>
              <a:buFont typeface="Wingdings" pitchFamily="2" charset="2"/>
              <a:buChar char="§"/>
              <a:defRPr/>
            </a:pPr>
            <a:r>
              <a:rPr lang="en-US" sz="2500" b="1" dirty="0">
                <a:solidFill>
                  <a:srgbClr val="0000FF"/>
                </a:solidFill>
                <a:ea typeface="Times New Roman"/>
                <a:cs typeface="Arial" pitchFamily="34" charset="0"/>
              </a:rPr>
              <a:t>And many more ………………..</a:t>
            </a:r>
          </a:p>
          <a:p>
            <a:pPr>
              <a:lnSpc>
                <a:spcPct val="120000"/>
              </a:lnSpc>
              <a:buFont typeface="Wingdings" pitchFamily="2" charset="2"/>
              <a:buChar char="§"/>
              <a:defRPr/>
            </a:pPr>
            <a:endParaRPr lang="en-US" sz="2500" b="1" dirty="0">
              <a:solidFill>
                <a:srgbClr val="0000FF"/>
              </a:solidFill>
              <a:ea typeface="Times New Roman"/>
              <a:cs typeface="Arial" pitchFamily="34" charset="0"/>
            </a:endParaRPr>
          </a:p>
          <a:p>
            <a:pPr>
              <a:defRPr/>
            </a:pPr>
            <a:endParaRPr lang="en-US" sz="2500" b="1" dirty="0">
              <a:solidFill>
                <a:srgbClr val="0000FF"/>
              </a:solidFill>
              <a:ea typeface="Times New Roman"/>
              <a:cs typeface="Arial" pitchFamily="34" charset="0"/>
            </a:endParaRPr>
          </a:p>
          <a:p>
            <a:pPr>
              <a:defRPr/>
            </a:pPr>
            <a:endParaRPr lang="en-US" sz="2500" b="1" dirty="0">
              <a:solidFill>
                <a:srgbClr val="0000FF"/>
              </a:solidFill>
              <a:ea typeface="Times New Roman"/>
              <a:cs typeface="Arial" pitchFamily="34" charset="0"/>
            </a:endParaRPr>
          </a:p>
          <a:p>
            <a:pPr>
              <a:defRPr/>
            </a:pPr>
            <a:endParaRPr lang="en-US" sz="2500" b="1" dirty="0">
              <a:solidFill>
                <a:srgbClr val="0000FF"/>
              </a:solidFill>
              <a:ea typeface="Times New Roman"/>
              <a:cs typeface="Arial" pitchFamily="34" charset="0"/>
            </a:endParaRPr>
          </a:p>
          <a:p>
            <a:pPr>
              <a:defRPr/>
            </a:pPr>
            <a:endParaRPr lang="en-US" sz="2500" b="1" dirty="0">
              <a:solidFill>
                <a:srgbClr val="0000FF"/>
              </a:solidFill>
              <a:ea typeface="Times New Roman"/>
              <a:cs typeface="Arial" pitchFamily="34" charset="0"/>
            </a:endParaRPr>
          </a:p>
        </p:txBody>
      </p:sp>
    </p:spTree>
  </p:cSld>
  <p:clrMapOvr>
    <a:masterClrMapping/>
  </p:clrMapOvr>
  <p:transition spd="med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5399DB66-E73F-1A1D-BA8A-A39B835028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800" b="1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During last decade of twentieth century there was extraordinary development in information and communication technology (ICT) which led to a transmutation of processes and practices in almost all aspects of human activities.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800" b="1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Information and communication technologies (ICTs) are the technologies used in the conveying, manipulation and storage of data by electronic means.</a:t>
            </a:r>
          </a:p>
          <a:p>
            <a:pPr>
              <a:buFontTx/>
              <a:buNone/>
            </a:pPr>
            <a:endParaRPr lang="en-IN" altLang="en-US"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A72B3D-76F4-6B2D-B3AB-ABB5E1822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sz="3000" b="1" dirty="0">
                <a:solidFill>
                  <a:srgbClr val="CC00CC"/>
                </a:solidFill>
                <a:ea typeface="+mn-ea"/>
                <a:cs typeface="+mn-cs"/>
              </a:rPr>
              <a:t>What is ICT?</a:t>
            </a:r>
          </a:p>
        </p:txBody>
      </p:sp>
      <p:sp>
        <p:nvSpPr>
          <p:cNvPr id="10244" name="Slide Number Placeholder 4">
            <a:extLst>
              <a:ext uri="{FF2B5EF4-FFF2-40B4-BE49-F238E27FC236}">
                <a16:creationId xmlns:a16="http://schemas.microsoft.com/office/drawing/2014/main" id="{1C012EC9-8271-8D2B-CBEA-C34A79C7A3E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F4F466A-845B-44E0-AF38-30678D55C4FE}" type="slidenum">
              <a:rPr lang="en-US" altLang="en-US">
                <a:solidFill>
                  <a:srgbClr val="898989"/>
                </a:solidFill>
              </a:rPr>
              <a:pPr/>
              <a:t>8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>
    <p:dissolv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>
            <a:extLst>
              <a:ext uri="{FF2B5EF4-FFF2-40B4-BE49-F238E27FC236}">
                <a16:creationId xmlns:a16="http://schemas.microsoft.com/office/drawing/2014/main" id="{E0ECF437-2C16-8D32-3CFB-297F88C11E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buClr>
                <a:srgbClr val="EF11B0"/>
              </a:buClr>
              <a:buFont typeface="Wingdings" panose="05000000000000000000" pitchFamily="2" charset="2"/>
              <a:buChar char="Ø"/>
            </a:pPr>
            <a:r>
              <a:rPr lang="en-US" altLang="en-US" sz="1800" b="1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Information is data that has been sorted and arranged.  </a:t>
            </a:r>
          </a:p>
          <a:p>
            <a:pPr algn="just">
              <a:lnSpc>
                <a:spcPct val="150000"/>
              </a:lnSpc>
              <a:buClr>
                <a:srgbClr val="EF11B0"/>
              </a:buClr>
              <a:buFont typeface="Wingdings" panose="05000000000000000000" pitchFamily="2" charset="2"/>
              <a:buChar char="Ø"/>
            </a:pPr>
            <a:r>
              <a:rPr lang="en-US" altLang="en-US" sz="1800" b="1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It consists of organized facts and opinions people receive during daily life.  </a:t>
            </a:r>
          </a:p>
          <a:p>
            <a:pPr algn="just">
              <a:lnSpc>
                <a:spcPct val="150000"/>
              </a:lnSpc>
              <a:buClr>
                <a:srgbClr val="EF11B0"/>
              </a:buClr>
              <a:buFont typeface="Wingdings" panose="05000000000000000000" pitchFamily="2" charset="2"/>
              <a:buChar char="Ø"/>
            </a:pPr>
            <a:r>
              <a:rPr lang="en-US" altLang="en-US" sz="1800" b="1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Changing data into information is called data processing or information processing.  </a:t>
            </a:r>
          </a:p>
          <a:p>
            <a:pPr algn="just">
              <a:lnSpc>
                <a:spcPct val="150000"/>
              </a:lnSpc>
              <a:buClr>
                <a:srgbClr val="EF11B0"/>
              </a:buClr>
              <a:buFont typeface="Wingdings" panose="05000000000000000000" pitchFamily="2" charset="2"/>
              <a:buChar char="Ø"/>
            </a:pPr>
            <a:r>
              <a:rPr lang="en-US" altLang="en-US" sz="1800" b="1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It involves gathering, organizing, and reporting data so it is useful to people.  </a:t>
            </a:r>
          </a:p>
          <a:p>
            <a:pPr algn="just">
              <a:lnSpc>
                <a:spcPct val="150000"/>
              </a:lnSpc>
              <a:buClr>
                <a:srgbClr val="EF11B0"/>
              </a:buClr>
              <a:buFont typeface="Wingdings" panose="05000000000000000000" pitchFamily="2" charset="2"/>
              <a:buChar char="Ø"/>
            </a:pPr>
            <a:r>
              <a:rPr lang="en-US" altLang="en-US" sz="1800" b="1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It is often done using information technology.</a:t>
            </a:r>
          </a:p>
          <a:p>
            <a:pPr algn="just">
              <a:lnSpc>
                <a:spcPct val="150000"/>
              </a:lnSpc>
              <a:buClr>
                <a:srgbClr val="EF11B0"/>
              </a:buClr>
              <a:buFont typeface="Wingdings" panose="05000000000000000000" pitchFamily="2" charset="2"/>
              <a:buChar char="Ø"/>
            </a:pPr>
            <a:endParaRPr lang="en-US" altLang="en-US" sz="1800" b="1">
              <a:solidFill>
                <a:srgbClr val="0000FF"/>
              </a:solidFill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9B19575D-EE78-6DBC-3D36-2E56734DDA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sz="2800" b="1" dirty="0">
                <a:solidFill>
                  <a:srgbClr val="CC00CC"/>
                </a:solidFill>
                <a:ea typeface="+mn-ea"/>
                <a:cs typeface="+mn-cs"/>
              </a:rPr>
              <a:t>Information and Communication Technologies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>
            <a:extLst>
              <a:ext uri="{FF2B5EF4-FFF2-40B4-BE49-F238E27FC236}">
                <a16:creationId xmlns:a16="http://schemas.microsoft.com/office/drawing/2014/main" id="{4D1A6FC1-D326-B486-804D-74B4FAB941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algn="just">
              <a:lnSpc>
                <a:spcPct val="150000"/>
              </a:lnSpc>
              <a:buClr>
                <a:srgbClr val="FFFF00"/>
              </a:buClr>
              <a:buSzPct val="100000"/>
              <a:buFont typeface="Wingdings" pitchFamily="2" charset="2"/>
              <a:buChar char="Ø"/>
              <a:defRPr/>
            </a:pPr>
            <a:r>
              <a:rPr lang="en-US" sz="1800" b="1" dirty="0">
                <a:solidFill>
                  <a:srgbClr val="0000FF"/>
                </a:solidFill>
                <a:ea typeface="Times New Roman"/>
                <a:cs typeface="Arial" pitchFamily="34" charset="0"/>
              </a:rPr>
              <a:t>Radio, television, video, DVD, telephone (fixed line &amp; mobile), satellite systems, computer and network hardware and software; (equipment and services associated with these technologies, such as videoconferencing and electronic mail.) , blogs</a:t>
            </a: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dirty="0"/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4FB9BD43-44F7-8DB6-C73B-99F748883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sz="3200" b="1" dirty="0">
                <a:solidFill>
                  <a:srgbClr val="CC00CC"/>
                </a:solidFill>
                <a:ea typeface="+mn-ea"/>
                <a:cs typeface="+mn-cs"/>
              </a:rPr>
              <a:t>ICT Tools</a:t>
            </a:r>
          </a:p>
        </p:txBody>
      </p:sp>
      <p:sp>
        <p:nvSpPr>
          <p:cNvPr id="12292" name="Slide Number Placeholder 4">
            <a:extLst>
              <a:ext uri="{FF2B5EF4-FFF2-40B4-BE49-F238E27FC236}">
                <a16:creationId xmlns:a16="http://schemas.microsoft.com/office/drawing/2014/main" id="{5E0CFAD5-28F8-11DE-2CCA-A6D31666D86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058400" y="4873625"/>
            <a:ext cx="2133600" cy="47625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418253F-EC90-4E46-A174-FE10F69D5652}" type="slidenum">
              <a:rPr lang="en-US" altLang="en-US">
                <a:solidFill>
                  <a:srgbClr val="898989"/>
                </a:solidFill>
              </a:rPr>
              <a:pPr/>
              <a:t>10</a:t>
            </a:fld>
            <a:endParaRPr lang="en-US" altLang="en-US">
              <a:solidFill>
                <a:srgbClr val="898989"/>
              </a:solidFill>
            </a:endParaRPr>
          </a:p>
        </p:txBody>
      </p:sp>
      <p:grpSp>
        <p:nvGrpSpPr>
          <p:cNvPr id="12293" name="Group 6">
            <a:extLst>
              <a:ext uri="{FF2B5EF4-FFF2-40B4-BE49-F238E27FC236}">
                <a16:creationId xmlns:a16="http://schemas.microsoft.com/office/drawing/2014/main" id="{0FBCCFD5-0F95-076C-2A2F-2BCC3031DD4F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4267200"/>
            <a:ext cx="8229600" cy="990600"/>
            <a:chOff x="0" y="5562600"/>
            <a:chExt cx="9448800" cy="685800"/>
          </a:xfrm>
        </p:grpSpPr>
        <p:sp>
          <p:nvSpPr>
            <p:cNvPr id="12294" name="AutoShape 3">
              <a:extLst>
                <a:ext uri="{FF2B5EF4-FFF2-40B4-BE49-F238E27FC236}">
                  <a16:creationId xmlns:a16="http://schemas.microsoft.com/office/drawing/2014/main" id="{733A7C6E-9F6A-5F04-F462-911F7E7F12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5562600"/>
              <a:ext cx="1219470" cy="685800"/>
            </a:xfrm>
            <a:prstGeom prst="roundRect">
              <a:avLst>
                <a:gd name="adj" fmla="val 16667"/>
              </a:avLst>
            </a:prstGeom>
            <a:solidFill>
              <a:srgbClr val="FF9933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9933"/>
              </a:extrusionClr>
              <a:contourClr>
                <a:srgbClr val="FF9933"/>
              </a:contourClr>
            </a:sp3d>
          </p:spPr>
          <p:txBody>
            <a:bodyPr wrap="none" anchor="ctr">
              <a:flatTx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/>
                <a:t>Blackboard</a:t>
              </a:r>
            </a:p>
          </p:txBody>
        </p:sp>
        <p:sp>
          <p:nvSpPr>
            <p:cNvPr id="12295" name="AutoShape 4">
              <a:extLst>
                <a:ext uri="{FF2B5EF4-FFF2-40B4-BE49-F238E27FC236}">
                  <a16:creationId xmlns:a16="http://schemas.microsoft.com/office/drawing/2014/main" id="{D3B13696-A5E5-345B-68EB-5DC757F3EE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6916" y="5562600"/>
              <a:ext cx="1219469" cy="685800"/>
            </a:xfrm>
            <a:prstGeom prst="roundRect">
              <a:avLst>
                <a:gd name="adj" fmla="val 16667"/>
              </a:avLst>
            </a:prstGeom>
            <a:solidFill>
              <a:srgbClr val="FF9933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9933"/>
              </a:extrusionClr>
              <a:contourClr>
                <a:srgbClr val="FF9933"/>
              </a:contourClr>
            </a:sp3d>
          </p:spPr>
          <p:txBody>
            <a:bodyPr wrap="none" anchor="ctr">
              <a:flatTx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/>
                <a:t>OHP,</a:t>
              </a:r>
            </a:p>
            <a:p>
              <a:pPr algn="ctr"/>
              <a:r>
                <a:rPr lang="en-US" altLang="en-US"/>
                <a:t>Phone,</a:t>
              </a:r>
            </a:p>
            <a:p>
              <a:pPr algn="ctr"/>
              <a:r>
                <a:rPr lang="en-US" altLang="en-US"/>
                <a:t>Pager</a:t>
              </a:r>
            </a:p>
          </p:txBody>
        </p:sp>
        <p:sp>
          <p:nvSpPr>
            <p:cNvPr id="12296" name="AutoShape 5">
              <a:extLst>
                <a:ext uri="{FF2B5EF4-FFF2-40B4-BE49-F238E27FC236}">
                  <a16:creationId xmlns:a16="http://schemas.microsoft.com/office/drawing/2014/main" id="{4268D6A3-B9A5-6D1A-1982-A8FF4F714F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5500" y="5562600"/>
              <a:ext cx="1217801" cy="685800"/>
            </a:xfrm>
            <a:prstGeom prst="roundRect">
              <a:avLst>
                <a:gd name="adj" fmla="val 16667"/>
              </a:avLst>
            </a:prstGeom>
            <a:solidFill>
              <a:srgbClr val="FF9933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9933"/>
              </a:extrusionClr>
              <a:contourClr>
                <a:srgbClr val="FF9933"/>
              </a:contourClr>
            </a:sp3d>
          </p:spPr>
          <p:txBody>
            <a:bodyPr wrap="none" anchor="ctr">
              <a:flatTx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/>
                <a:t>TV/VHS,</a:t>
              </a:r>
            </a:p>
            <a:p>
              <a:pPr algn="ctr"/>
              <a:r>
                <a:rPr lang="en-US" altLang="en-US"/>
                <a:t>Wireless Phone</a:t>
              </a:r>
            </a:p>
          </p:txBody>
        </p:sp>
        <p:sp>
          <p:nvSpPr>
            <p:cNvPr id="12297" name="AutoShape 6">
              <a:extLst>
                <a:ext uri="{FF2B5EF4-FFF2-40B4-BE49-F238E27FC236}">
                  <a16:creationId xmlns:a16="http://schemas.microsoft.com/office/drawing/2014/main" id="{51C4CF50-8711-C2B3-4B6D-D81ECD7093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2415" y="5562600"/>
              <a:ext cx="1219470" cy="685800"/>
            </a:xfrm>
            <a:prstGeom prst="roundRect">
              <a:avLst>
                <a:gd name="adj" fmla="val 16667"/>
              </a:avLst>
            </a:prstGeom>
            <a:solidFill>
              <a:srgbClr val="FF9933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9933"/>
              </a:extrusionClr>
              <a:contourClr>
                <a:srgbClr val="FF9933"/>
              </a:contourClr>
            </a:sp3d>
          </p:spPr>
          <p:txBody>
            <a:bodyPr wrap="none" anchor="ctr">
              <a:flatTx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/>
                <a:t>LCD, PC</a:t>
              </a:r>
            </a:p>
            <a:p>
              <a:pPr algn="ctr"/>
              <a:r>
                <a:rPr lang="en-US" altLang="en-US"/>
                <a:t>Whiteboard, </a:t>
              </a:r>
            </a:p>
            <a:p>
              <a:pPr algn="ctr"/>
              <a:r>
                <a:rPr lang="en-US" altLang="en-US"/>
                <a:t>Interactive </a:t>
              </a:r>
            </a:p>
            <a:p>
              <a:pPr algn="ctr"/>
              <a:r>
                <a:rPr lang="en-US" altLang="en-US"/>
                <a:t>Panel</a:t>
              </a:r>
            </a:p>
          </p:txBody>
        </p:sp>
        <p:sp>
          <p:nvSpPr>
            <p:cNvPr id="12298" name="AutoShape 7">
              <a:extLst>
                <a:ext uri="{FF2B5EF4-FFF2-40B4-BE49-F238E27FC236}">
                  <a16:creationId xmlns:a16="http://schemas.microsoft.com/office/drawing/2014/main" id="{DC3F9C5F-922C-773E-0717-636362F2D8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1600" y="5791200"/>
              <a:ext cx="685800" cy="171450"/>
            </a:xfrm>
            <a:custGeom>
              <a:avLst/>
              <a:gdLst>
                <a:gd name="T0" fmla="*/ 2147483647 w 21600"/>
                <a:gd name="T1" fmla="*/ 0 h 21600"/>
                <a:gd name="T2" fmla="*/ 0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2147483647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rgbClr val="FF330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12299" name="AutoShape 8">
              <a:extLst>
                <a:ext uri="{FF2B5EF4-FFF2-40B4-BE49-F238E27FC236}">
                  <a16:creationId xmlns:a16="http://schemas.microsoft.com/office/drawing/2014/main" id="{2303B386-CDB4-ED1F-F88D-20009BB234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9000" y="5791200"/>
              <a:ext cx="685800" cy="171450"/>
            </a:xfrm>
            <a:custGeom>
              <a:avLst/>
              <a:gdLst>
                <a:gd name="T0" fmla="*/ 2147483647 w 21600"/>
                <a:gd name="T1" fmla="*/ 0 h 21600"/>
                <a:gd name="T2" fmla="*/ 0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2147483647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rgbClr val="FF330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12300" name="AutoShape 9">
              <a:extLst>
                <a:ext uri="{FF2B5EF4-FFF2-40B4-BE49-F238E27FC236}">
                  <a16:creationId xmlns:a16="http://schemas.microsoft.com/office/drawing/2014/main" id="{0ED34195-9B2D-BD78-D87E-70390B83DA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5791200"/>
              <a:ext cx="685800" cy="171450"/>
            </a:xfrm>
            <a:custGeom>
              <a:avLst/>
              <a:gdLst>
                <a:gd name="T0" fmla="*/ 2147483647 w 21600"/>
                <a:gd name="T1" fmla="*/ 0 h 21600"/>
                <a:gd name="T2" fmla="*/ 0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2147483647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rgbClr val="FF330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12301" name="AutoShape 6">
              <a:extLst>
                <a:ext uri="{FF2B5EF4-FFF2-40B4-BE49-F238E27FC236}">
                  <a16:creationId xmlns:a16="http://schemas.microsoft.com/office/drawing/2014/main" id="{ADBF0FAE-9C6E-3A19-4C4E-0B9AA407DF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29331" y="5562600"/>
              <a:ext cx="1219469" cy="685800"/>
            </a:xfrm>
            <a:prstGeom prst="roundRect">
              <a:avLst>
                <a:gd name="adj" fmla="val 16667"/>
              </a:avLst>
            </a:prstGeom>
            <a:solidFill>
              <a:srgbClr val="FF9933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9933"/>
              </a:extrusionClr>
              <a:contourClr>
                <a:srgbClr val="FF9933"/>
              </a:contourClr>
            </a:sp3d>
          </p:spPr>
          <p:txBody>
            <a:bodyPr wrap="none" anchor="ctr">
              <a:flatTx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/>
                <a:t> Forums</a:t>
              </a:r>
            </a:p>
            <a:p>
              <a:pPr algn="ctr"/>
              <a:r>
                <a:rPr lang="en-US" altLang="en-US"/>
                <a:t>Search </a:t>
              </a:r>
            </a:p>
            <a:p>
              <a:pPr algn="ctr"/>
              <a:r>
                <a:rPr lang="en-US" altLang="en-US"/>
                <a:t>Engine, </a:t>
              </a:r>
            </a:p>
            <a:p>
              <a:pPr algn="ctr"/>
              <a:r>
                <a:rPr lang="en-US" altLang="en-US"/>
                <a:t>Blogs, </a:t>
              </a:r>
            </a:p>
            <a:p>
              <a:pPr algn="ctr"/>
              <a:r>
                <a:rPr lang="en-US" altLang="en-US"/>
                <a:t>e-Groups</a:t>
              </a:r>
            </a:p>
            <a:p>
              <a:pPr algn="ctr"/>
              <a:endParaRPr lang="en-US" altLang="en-US"/>
            </a:p>
          </p:txBody>
        </p:sp>
        <p:sp>
          <p:nvSpPr>
            <p:cNvPr id="12302" name="AutoShape 9">
              <a:extLst>
                <a:ext uri="{FF2B5EF4-FFF2-40B4-BE49-F238E27FC236}">
                  <a16:creationId xmlns:a16="http://schemas.microsoft.com/office/drawing/2014/main" id="{408C465D-12A0-1A10-8B48-8F74DABAD7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43800" y="5715000"/>
              <a:ext cx="685800" cy="171450"/>
            </a:xfrm>
            <a:custGeom>
              <a:avLst/>
              <a:gdLst>
                <a:gd name="T0" fmla="*/ 2147483647 w 21600"/>
                <a:gd name="T1" fmla="*/ 0 h 21600"/>
                <a:gd name="T2" fmla="*/ 0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2147483647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rgbClr val="FF330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IN" altLang="en-US"/>
            </a:p>
          </p:txBody>
        </p:sp>
      </p:grpSp>
    </p:spTree>
  </p:cSld>
  <p:clrMapOvr>
    <a:masterClrMapping/>
  </p:clrMapOvr>
  <p:transition>
    <p:dissolv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61E11403-4936-C34F-C9C9-8FAA601A2B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-1" y="1687595"/>
            <a:ext cx="11916697" cy="4447734"/>
          </a:xfrm>
        </p:spPr>
        <p:txBody>
          <a:bodyPr rtlCol="0">
            <a:normAutofit/>
          </a:bodyPr>
          <a:lstStyle/>
          <a:p>
            <a:pPr algn="just">
              <a:lnSpc>
                <a:spcPct val="150000"/>
              </a:lnSpc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Ø"/>
              <a:defRPr/>
            </a:pPr>
            <a:r>
              <a:rPr lang="en-US" sz="2000" b="1" dirty="0">
                <a:solidFill>
                  <a:srgbClr val="0000FF"/>
                </a:solidFill>
                <a:ea typeface="Times New Roman"/>
                <a:cs typeface="Arial" pitchFamily="34" charset="0"/>
              </a:rPr>
              <a:t>People often use the terms information and communication together.  </a:t>
            </a:r>
          </a:p>
          <a:p>
            <a:pPr algn="just">
              <a:lnSpc>
                <a:spcPct val="150000"/>
              </a:lnSpc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Ø"/>
              <a:defRPr/>
            </a:pPr>
            <a:r>
              <a:rPr lang="en-US" sz="2000" b="1" dirty="0">
                <a:solidFill>
                  <a:srgbClr val="0000FF"/>
                </a:solidFill>
                <a:ea typeface="Times New Roman"/>
                <a:cs typeface="Arial" pitchFamily="34" charset="0"/>
              </a:rPr>
              <a:t>These terms are related, but each means something different.  </a:t>
            </a:r>
          </a:p>
          <a:p>
            <a:pPr algn="just">
              <a:lnSpc>
                <a:spcPct val="150000"/>
              </a:lnSpc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Ø"/>
              <a:defRPr/>
            </a:pPr>
            <a:r>
              <a:rPr lang="en-US" sz="2000" b="1" dirty="0">
                <a:solidFill>
                  <a:srgbClr val="0000FF"/>
                </a:solidFill>
                <a:ea typeface="Times New Roman"/>
                <a:cs typeface="Arial" pitchFamily="34" charset="0"/>
              </a:rPr>
              <a:t>Two words we need to know and understand communication technology are data and information.  </a:t>
            </a:r>
          </a:p>
          <a:p>
            <a:pPr algn="just">
              <a:lnSpc>
                <a:spcPct val="150000"/>
              </a:lnSpc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Ø"/>
              <a:defRPr/>
            </a:pPr>
            <a:r>
              <a:rPr lang="en-US" sz="2000" b="1" dirty="0">
                <a:solidFill>
                  <a:srgbClr val="0000FF"/>
                </a:solidFill>
                <a:ea typeface="Times New Roman"/>
                <a:cs typeface="Arial" pitchFamily="34" charset="0"/>
              </a:rPr>
              <a:t>Data includes individual facts, statistics (numerical data), and ideas.  </a:t>
            </a:r>
          </a:p>
          <a:p>
            <a:pPr algn="just">
              <a:lnSpc>
                <a:spcPct val="150000"/>
              </a:lnSpc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Ø"/>
              <a:defRPr/>
            </a:pPr>
            <a:r>
              <a:rPr lang="en-US" sz="2000" b="1" dirty="0">
                <a:solidFill>
                  <a:srgbClr val="0000FF"/>
                </a:solidFill>
                <a:ea typeface="Times New Roman"/>
                <a:cs typeface="Arial" pitchFamily="34" charset="0"/>
              </a:rPr>
              <a:t>These facts and ideas are not sorted or arranged in any manner. </a:t>
            </a:r>
          </a:p>
        </p:txBody>
      </p:sp>
      <p:sp>
        <p:nvSpPr>
          <p:cNvPr id="4098" name="Rectangle 2">
            <a:extLst>
              <a:ext uri="{FF2B5EF4-FFF2-40B4-BE49-F238E27FC236}">
                <a16:creationId xmlns:a16="http://schemas.microsoft.com/office/drawing/2014/main" id="{6526A812-BC85-CA5E-10D5-EE96452D66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sz="2800" b="1" dirty="0">
                <a:solidFill>
                  <a:srgbClr val="CC00CC"/>
                </a:solidFill>
                <a:ea typeface="+mn-ea"/>
                <a:cs typeface="+mn-cs"/>
              </a:rPr>
              <a:t>Information and Communication Technologies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1613455F-8BE5-E40D-88B7-A05D2A4297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CC00CC"/>
                </a:solidFill>
                <a:ea typeface="+mn-ea"/>
                <a:cs typeface="+mn-cs"/>
              </a:rPr>
              <a:t>What is Communication?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0E9C9E-B05A-E32B-53A5-18DFF4271634}"/>
              </a:ext>
            </a:extLst>
          </p:cNvPr>
          <p:cNvSpPr/>
          <p:nvPr/>
        </p:nvSpPr>
        <p:spPr>
          <a:xfrm>
            <a:off x="545690" y="1622322"/>
            <a:ext cx="1103179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Wingdings" pitchFamily="2" charset="2"/>
              <a:buChar char="Ø"/>
              <a:defRPr/>
            </a:pPr>
            <a:r>
              <a:rPr lang="en-US" sz="2400" b="1" dirty="0">
                <a:solidFill>
                  <a:srgbClr val="0000FF"/>
                </a:solidFill>
                <a:ea typeface="Times New Roman"/>
                <a:cs typeface="Arial" pitchFamily="34" charset="0"/>
              </a:rPr>
              <a:t> Communication is simply the act of transferring information from one place to another.</a:t>
            </a:r>
          </a:p>
          <a:p>
            <a:pPr algn="just">
              <a:defRPr/>
            </a:pPr>
            <a:endParaRPr lang="en-US" sz="2400" b="1" dirty="0">
              <a:solidFill>
                <a:srgbClr val="0000FF"/>
              </a:solidFill>
              <a:ea typeface="Times New Roman"/>
              <a:cs typeface="Arial" pitchFamily="34" charset="0"/>
            </a:endParaRPr>
          </a:p>
          <a:p>
            <a:pPr algn="just">
              <a:buFont typeface="Wingdings" pitchFamily="2" charset="2"/>
              <a:buChar char="Ø"/>
              <a:defRPr/>
            </a:pPr>
            <a:r>
              <a:rPr lang="en-US" sz="2400" b="1" dirty="0">
                <a:solidFill>
                  <a:srgbClr val="0000FF"/>
                </a:solidFill>
                <a:ea typeface="Times New Roman"/>
                <a:cs typeface="Arial" pitchFamily="34" charset="0"/>
              </a:rPr>
              <a:t> Exchanging Information from computer to another computer</a:t>
            </a:r>
          </a:p>
          <a:p>
            <a:pPr algn="just">
              <a:buFont typeface="Wingdings" pitchFamily="2" charset="2"/>
              <a:buChar char="Ø"/>
              <a:defRPr/>
            </a:pPr>
            <a:endParaRPr lang="en-US" sz="2400" b="1" dirty="0">
              <a:solidFill>
                <a:srgbClr val="0000FF"/>
              </a:solidFill>
              <a:ea typeface="Times New Roman"/>
              <a:cs typeface="Arial" pitchFamily="34" charset="0"/>
            </a:endParaRPr>
          </a:p>
          <a:p>
            <a:pPr algn="just">
              <a:buFont typeface="Wingdings" pitchFamily="2" charset="2"/>
              <a:buChar char="Ø"/>
              <a:defRPr/>
            </a:pPr>
            <a:r>
              <a:rPr lang="en-US" sz="2400" b="1" dirty="0">
                <a:solidFill>
                  <a:srgbClr val="0000FF"/>
                </a:solidFill>
                <a:latin typeface="Arial" charset="0"/>
                <a:ea typeface="Times New Roman"/>
                <a:cs typeface="Arial" pitchFamily="34" charset="0"/>
              </a:rPr>
              <a:t> The classic communication system is made up of an information source, an encoder, a transmitter, a receiver, a decoder, storage, retrieval, and an information destination.  </a:t>
            </a:r>
          </a:p>
          <a:p>
            <a:pPr>
              <a:defRPr/>
            </a:pPr>
            <a:br>
              <a:rPr lang="en-US" sz="2400" b="1" dirty="0">
                <a:solidFill>
                  <a:srgbClr val="0000FF"/>
                </a:solidFill>
                <a:ea typeface="Times New Roman"/>
                <a:cs typeface="Arial" pitchFamily="34" charset="0"/>
              </a:rPr>
            </a:br>
            <a:br>
              <a:rPr lang="en-US" dirty="0">
                <a:latin typeface="Arial" charset="0"/>
              </a:rPr>
            </a:br>
            <a:endParaRPr lang="en-US" dirty="0">
              <a:latin typeface="Arial" charset="0"/>
            </a:endParaRPr>
          </a:p>
        </p:txBody>
      </p:sp>
    </p:spTree>
  </p:cSld>
  <p:clrMapOvr>
    <a:masterClrMapping/>
  </p:clrMapOvr>
  <p:transition spd="med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>
            <a:extLst>
              <a:ext uri="{FF2B5EF4-FFF2-40B4-BE49-F238E27FC236}">
                <a16:creationId xmlns:a16="http://schemas.microsoft.com/office/drawing/2014/main" id="{D836C04B-4F13-AE0A-5938-8BC651A04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392702"/>
            <a:ext cx="11164570" cy="4696949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en-US" sz="5100" b="1" dirty="0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Online Chat</a:t>
            </a:r>
          </a:p>
          <a:p>
            <a:pPr lvl="1">
              <a:lnSpc>
                <a:spcPct val="90000"/>
              </a:lnSpc>
            </a:pPr>
            <a:r>
              <a:rPr lang="en-US" altLang="en-US" sz="5100" b="1" dirty="0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Text based</a:t>
            </a:r>
          </a:p>
          <a:p>
            <a:pPr lvl="1">
              <a:lnSpc>
                <a:spcPct val="90000"/>
              </a:lnSpc>
            </a:pPr>
            <a:r>
              <a:rPr lang="en-US" altLang="en-US" sz="5100" b="1" dirty="0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Audio based</a:t>
            </a:r>
          </a:p>
          <a:p>
            <a:pPr lvl="1">
              <a:lnSpc>
                <a:spcPct val="90000"/>
              </a:lnSpc>
            </a:pPr>
            <a:r>
              <a:rPr lang="en-US" altLang="en-US" sz="5100" b="1" dirty="0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Video based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en-US" altLang="en-US" sz="5100" b="1" dirty="0">
              <a:solidFill>
                <a:srgbClr val="0000FF"/>
              </a:solidFill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5100" b="1" dirty="0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Mobile Technology</a:t>
            </a:r>
          </a:p>
          <a:p>
            <a:pPr lvl="1">
              <a:lnSpc>
                <a:spcPct val="90000"/>
              </a:lnSpc>
            </a:pPr>
            <a:r>
              <a:rPr lang="en-US" altLang="en-US" sz="5100" b="1" dirty="0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Conferencing</a:t>
            </a:r>
          </a:p>
          <a:p>
            <a:pPr lvl="1">
              <a:lnSpc>
                <a:spcPct val="90000"/>
              </a:lnSpc>
            </a:pPr>
            <a:r>
              <a:rPr lang="en-US" altLang="en-US" sz="5100" b="1" dirty="0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Phone</a:t>
            </a:r>
          </a:p>
          <a:p>
            <a:pPr lvl="1">
              <a:lnSpc>
                <a:spcPct val="90000"/>
              </a:lnSpc>
            </a:pPr>
            <a:endParaRPr lang="en-US" altLang="en-US" sz="5100" b="1" dirty="0">
              <a:solidFill>
                <a:srgbClr val="0000FF"/>
              </a:solidFill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5100" b="1" dirty="0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Satellite</a:t>
            </a:r>
          </a:p>
          <a:p>
            <a:pPr lvl="1">
              <a:lnSpc>
                <a:spcPct val="90000"/>
              </a:lnSpc>
            </a:pPr>
            <a:r>
              <a:rPr lang="en-US" altLang="en-US" sz="5100" b="1" dirty="0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Television channel</a:t>
            </a:r>
          </a:p>
          <a:p>
            <a:pPr lvl="1">
              <a:lnSpc>
                <a:spcPct val="90000"/>
              </a:lnSpc>
            </a:pPr>
            <a:r>
              <a:rPr lang="en-US" altLang="en-US" sz="5100" b="1" dirty="0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Video Conferencing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581D3074-10CD-6E91-BC0D-76218FA52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sz="3000" b="1" dirty="0">
                <a:solidFill>
                  <a:srgbClr val="CC00CC"/>
                </a:solidFill>
                <a:ea typeface="+mn-ea"/>
                <a:cs typeface="+mn-cs"/>
              </a:rPr>
              <a:t>Synchronous Communication</a:t>
            </a:r>
          </a:p>
        </p:txBody>
      </p:sp>
      <p:sp>
        <p:nvSpPr>
          <p:cNvPr id="15364" name="Slide Number Placeholder 4">
            <a:extLst>
              <a:ext uri="{FF2B5EF4-FFF2-40B4-BE49-F238E27FC236}">
                <a16:creationId xmlns:a16="http://schemas.microsoft.com/office/drawing/2014/main" id="{B1976C94-CEFD-CDA2-9204-CE2325FF65E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BB14856-7E2F-4415-9112-2E406C86E174}" type="slidenum">
              <a:rPr lang="en-US" altLang="en-US">
                <a:solidFill>
                  <a:srgbClr val="898989"/>
                </a:solidFill>
              </a:rPr>
              <a:pPr/>
              <a:t>13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15365" name="Picture 6" descr="hacky_e0.gif">
            <a:extLst>
              <a:ext uri="{FF2B5EF4-FFF2-40B4-BE49-F238E27FC236}">
                <a16:creationId xmlns:a16="http://schemas.microsoft.com/office/drawing/2014/main" id="{58023822-C0D0-4295-7760-9E427C4790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524000"/>
            <a:ext cx="1143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6" name="Picture 7" descr="sat2_e0.gif">
            <a:extLst>
              <a:ext uri="{FF2B5EF4-FFF2-40B4-BE49-F238E27FC236}">
                <a16:creationId xmlns:a16="http://schemas.microsoft.com/office/drawing/2014/main" id="{FB00A308-3D68-AC32-716D-F60981F676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251545">
            <a:off x="6076950" y="4552950"/>
            <a:ext cx="1182688" cy="118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7" name="Picture 10" descr="thumbnail.jpg">
            <a:extLst>
              <a:ext uri="{FF2B5EF4-FFF2-40B4-BE49-F238E27FC236}">
                <a16:creationId xmlns:a16="http://schemas.microsoft.com/office/drawing/2014/main" id="{29E6F71A-6E2D-DCF8-5E7E-CAFCCF4877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1" y="3048000"/>
            <a:ext cx="1230313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dissolv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>
            <a:extLst>
              <a:ext uri="{FF2B5EF4-FFF2-40B4-BE49-F238E27FC236}">
                <a16:creationId xmlns:a16="http://schemas.microsoft.com/office/drawing/2014/main" id="{F192429F-B93C-86C2-4BE4-11749F4BC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6528" y="3241001"/>
            <a:ext cx="2062722" cy="1436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4">
            <a:extLst>
              <a:ext uri="{FF2B5EF4-FFF2-40B4-BE49-F238E27FC236}">
                <a16:creationId xmlns:a16="http://schemas.microsoft.com/office/drawing/2014/main" id="{AFF2DD9A-BF06-67E7-D0B3-6DD80F5412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386" y="4824109"/>
            <a:ext cx="2039005" cy="1265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8" name="Picture 4">
            <a:extLst>
              <a:ext uri="{FF2B5EF4-FFF2-40B4-BE49-F238E27FC236}">
                <a16:creationId xmlns:a16="http://schemas.microsoft.com/office/drawing/2014/main" id="{13309BED-6EBB-AC71-3A90-A17E71C765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6528" y="1447801"/>
            <a:ext cx="2062722" cy="16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39" name="Rectangle 3">
            <a:extLst>
              <a:ext uri="{FF2B5EF4-FFF2-40B4-BE49-F238E27FC236}">
                <a16:creationId xmlns:a16="http://schemas.microsoft.com/office/drawing/2014/main" id="{ED44FFFF-6A05-AB2B-3107-2DC39E2D59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marL="548640" indent="-411480">
              <a:buClr>
                <a:schemeClr val="tx1">
                  <a:shade val="95000"/>
                </a:schemeClr>
              </a:buClr>
              <a:buFont typeface="Wingdings 2"/>
              <a:buChar char=""/>
              <a:defRPr/>
            </a:pPr>
            <a:r>
              <a:rPr lang="en-US" sz="3200" b="1" dirty="0">
                <a:solidFill>
                  <a:srgbClr val="0000FF"/>
                </a:solidFill>
                <a:ea typeface="Times New Roman"/>
                <a:cs typeface="Arial" pitchFamily="34" charset="0"/>
              </a:rPr>
              <a:t>Discussion Forums</a:t>
            </a:r>
          </a:p>
          <a:p>
            <a:pPr marL="548640" indent="-411480">
              <a:buClr>
                <a:schemeClr val="tx1">
                  <a:shade val="95000"/>
                </a:schemeClr>
              </a:buClr>
              <a:buFont typeface="Wingdings 2"/>
              <a:buChar char=""/>
              <a:defRPr/>
            </a:pPr>
            <a:r>
              <a:rPr lang="en-US" sz="3200" b="1" dirty="0">
                <a:solidFill>
                  <a:srgbClr val="0000FF"/>
                </a:solidFill>
                <a:ea typeface="Times New Roman"/>
                <a:cs typeface="Arial" pitchFamily="34" charset="0"/>
              </a:rPr>
              <a:t>Blogs</a:t>
            </a:r>
          </a:p>
          <a:p>
            <a:pPr marL="548640" indent="-411480">
              <a:buClr>
                <a:schemeClr val="tx1">
                  <a:shade val="95000"/>
                </a:schemeClr>
              </a:buClr>
              <a:buFont typeface="Wingdings 2"/>
              <a:buChar char=""/>
              <a:defRPr/>
            </a:pPr>
            <a:r>
              <a:rPr lang="en-US" sz="3200" b="1" dirty="0">
                <a:solidFill>
                  <a:srgbClr val="0000FF"/>
                </a:solidFill>
                <a:ea typeface="Times New Roman"/>
                <a:cs typeface="Arial" pitchFamily="34" charset="0"/>
              </a:rPr>
              <a:t>e-Groups</a:t>
            </a:r>
          </a:p>
          <a:p>
            <a:pPr marL="548640" indent="-411480">
              <a:buClr>
                <a:schemeClr val="tx1">
                  <a:shade val="95000"/>
                </a:schemeClr>
              </a:buClr>
              <a:buFont typeface="Wingdings 2"/>
              <a:buChar char=""/>
              <a:defRPr/>
            </a:pPr>
            <a:r>
              <a:rPr lang="en-US" sz="3200" b="1" dirty="0" err="1">
                <a:solidFill>
                  <a:srgbClr val="0000FF"/>
                </a:solidFill>
                <a:ea typeface="Times New Roman"/>
                <a:cs typeface="Arial" pitchFamily="34" charset="0"/>
              </a:rPr>
              <a:t>Wikepedia</a:t>
            </a:r>
            <a:r>
              <a:rPr lang="en-US" sz="3200" b="1" dirty="0">
                <a:solidFill>
                  <a:srgbClr val="0000FF"/>
                </a:solidFill>
                <a:ea typeface="Times New Roman"/>
                <a:cs typeface="Arial" pitchFamily="34" charset="0"/>
              </a:rPr>
              <a:t> (Knowledge base)</a:t>
            </a:r>
          </a:p>
          <a:p>
            <a:pPr marL="548640" indent="-411480">
              <a:buClr>
                <a:schemeClr val="tx1">
                  <a:shade val="95000"/>
                </a:schemeClr>
              </a:buClr>
              <a:buFont typeface="Wingdings 2"/>
              <a:buChar char=""/>
              <a:defRPr/>
            </a:pPr>
            <a:r>
              <a:rPr lang="en-US" sz="3200" b="1" dirty="0">
                <a:solidFill>
                  <a:srgbClr val="0000FF"/>
                </a:solidFill>
                <a:ea typeface="Times New Roman"/>
                <a:cs typeface="Arial" pitchFamily="34" charset="0"/>
              </a:rPr>
              <a:t>Google (search engine)</a:t>
            </a:r>
          </a:p>
          <a:p>
            <a:pPr marL="548640" indent="-411480">
              <a:buClr>
                <a:schemeClr val="tx1">
                  <a:shade val="95000"/>
                </a:schemeClr>
              </a:buClr>
              <a:buFont typeface="Wingdings 2"/>
              <a:buChar char=""/>
              <a:defRPr/>
            </a:pPr>
            <a:r>
              <a:rPr lang="en-US" sz="3200" b="1" dirty="0">
                <a:solidFill>
                  <a:srgbClr val="0000FF"/>
                </a:solidFill>
                <a:ea typeface="Times New Roman"/>
                <a:cs typeface="Arial" pitchFamily="34" charset="0"/>
              </a:rPr>
              <a:t>Mobile SMS, MMS &amp; Podcasting</a:t>
            </a:r>
          </a:p>
          <a:p>
            <a:pPr marL="868680" lvl="1" indent="-283464">
              <a:buNone/>
              <a:defRPr/>
            </a:pPr>
            <a:endParaRPr lang="en-US" sz="1200" dirty="0"/>
          </a:p>
          <a:p>
            <a:pPr marL="548640" indent="-411480">
              <a:buClr>
                <a:schemeClr val="tx1">
                  <a:shade val="95000"/>
                </a:schemeClr>
              </a:buClr>
              <a:buNone/>
              <a:defRPr/>
            </a:pPr>
            <a:endParaRPr lang="en-US" dirty="0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269DA886-A7BE-4AB2-0F78-924F3CD59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sz="3000" b="1" dirty="0">
                <a:solidFill>
                  <a:srgbClr val="CC00CC"/>
                </a:solidFill>
                <a:ea typeface="+mn-ea"/>
                <a:cs typeface="+mn-cs"/>
              </a:rPr>
              <a:t>Asynchronous Communication</a:t>
            </a:r>
          </a:p>
        </p:txBody>
      </p:sp>
      <p:sp>
        <p:nvSpPr>
          <p:cNvPr id="16391" name="Slide Number Placeholder 4">
            <a:extLst>
              <a:ext uri="{FF2B5EF4-FFF2-40B4-BE49-F238E27FC236}">
                <a16:creationId xmlns:a16="http://schemas.microsoft.com/office/drawing/2014/main" id="{14B9DC26-9114-F163-9A07-D870C013B19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9112C41-4F72-4841-8CF8-33285CFCE85C}" type="slidenum">
              <a:rPr lang="en-US" altLang="en-US">
                <a:solidFill>
                  <a:srgbClr val="898989"/>
                </a:solidFill>
              </a:rPr>
              <a:pPr/>
              <a:t>14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>
    <p:dissolv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096BB327-3201-4EC1-0632-53A50B4CCB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IN" altLang="en-US" sz="3200" b="1" dirty="0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Education</a:t>
            </a:r>
            <a:endParaRPr lang="en-US" altLang="en-US" sz="3200" b="1" dirty="0">
              <a:solidFill>
                <a:srgbClr val="0000FF"/>
              </a:solidFill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en-IN" altLang="en-US" sz="3200" b="1" dirty="0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Research </a:t>
            </a:r>
          </a:p>
          <a:p>
            <a:r>
              <a:rPr lang="en-IN" altLang="en-US" sz="3200" b="1" dirty="0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Communication</a:t>
            </a:r>
            <a:endParaRPr lang="en-US" altLang="en-US" sz="3200" b="1" dirty="0">
              <a:solidFill>
                <a:srgbClr val="0000FF"/>
              </a:solidFill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en-IN" altLang="en-US" sz="3200" b="1" dirty="0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Leisure and Entertainment</a:t>
            </a:r>
            <a:endParaRPr lang="en-US" altLang="en-US" sz="3200" b="1" dirty="0">
              <a:solidFill>
                <a:srgbClr val="0000FF"/>
              </a:solidFill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en-IN" altLang="en-US" sz="3200" b="1" dirty="0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Exploring the world</a:t>
            </a:r>
          </a:p>
          <a:p>
            <a:r>
              <a:rPr lang="en-IN" altLang="en-US" sz="3200" b="1" dirty="0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Finance</a:t>
            </a:r>
          </a:p>
          <a:p>
            <a:r>
              <a:rPr lang="en-IN" altLang="en-US" sz="3200" b="1" dirty="0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Shopping</a:t>
            </a:r>
          </a:p>
          <a:p>
            <a:r>
              <a:rPr lang="en-IN" altLang="en-US" sz="3200" b="1" dirty="0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And many more </a:t>
            </a:r>
            <a:r>
              <a:rPr lang="en-IN" altLang="en-US" sz="3200" b="1" dirty="0">
                <a:ea typeface="Times New Roman" panose="02020603050405020304" pitchFamily="18" charset="0"/>
                <a:cs typeface="Arial" panose="020B0604020202020204" pitchFamily="34" charset="0"/>
              </a:rPr>
              <a:t>….</a:t>
            </a:r>
            <a:endParaRPr lang="en-US" altLang="en-US" sz="3200" b="1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endParaRPr lang="en-US" altLang="en-US" dirty="0"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83D36-E5EA-1E60-4262-6C7B0CA04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sz="3000" b="1" dirty="0">
                <a:solidFill>
                  <a:srgbClr val="CC00CC"/>
                </a:solidFill>
                <a:ea typeface="+mn-ea"/>
                <a:cs typeface="+mn-cs"/>
              </a:rPr>
              <a:t>Scope of Internet as a ICT</a:t>
            </a:r>
          </a:p>
        </p:txBody>
      </p:sp>
      <p:sp>
        <p:nvSpPr>
          <p:cNvPr id="17412" name="Slide Number Placeholder 4">
            <a:extLst>
              <a:ext uri="{FF2B5EF4-FFF2-40B4-BE49-F238E27FC236}">
                <a16:creationId xmlns:a16="http://schemas.microsoft.com/office/drawing/2014/main" id="{00538ED9-93EE-14DE-B7DA-BBDDA36F56C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736F1BB-0320-4D6F-B4FC-937A946BD05B}" type="slidenum">
              <a:rPr lang="en-US" altLang="en-US">
                <a:solidFill>
                  <a:srgbClr val="898989"/>
                </a:solidFill>
              </a:rPr>
              <a:pPr/>
              <a:t>15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>
    <p:dissolv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BC22E5D7-FDA6-82D1-8A29-57BC421577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>
            <a:normAutofit lnSpcReduction="10000"/>
          </a:bodyPr>
          <a:lstStyle/>
          <a:p>
            <a:pPr algn="just">
              <a:lnSpc>
                <a:spcPct val="134000"/>
              </a:lnSpc>
              <a:buClr>
                <a:schemeClr val="tx1">
                  <a:shade val="95000"/>
                </a:schemeClr>
              </a:buClr>
              <a:buFont typeface="Wingdings" pitchFamily="2" charset="2"/>
              <a:buChar char="Ø"/>
              <a:defRPr/>
            </a:pPr>
            <a:r>
              <a:rPr lang="en-US" altLang="ko-KR" sz="2200" b="1" dirty="0">
                <a:solidFill>
                  <a:srgbClr val="0000FF"/>
                </a:solidFill>
                <a:ea typeface="Times New Roman"/>
                <a:cs typeface="Arial" pitchFamily="34" charset="0"/>
              </a:rPr>
              <a:t>ICT as a tool to innovate teaching-learning practice  via Internet (i.e. digital content, multimedia, teaching-learning methods, learning environment) </a:t>
            </a:r>
          </a:p>
          <a:p>
            <a:pPr algn="just">
              <a:lnSpc>
                <a:spcPct val="134000"/>
              </a:lnSpc>
              <a:buClr>
                <a:schemeClr val="tx1">
                  <a:shade val="95000"/>
                </a:schemeClr>
              </a:buClr>
              <a:buFont typeface="Wingdings" pitchFamily="2" charset="2"/>
              <a:buChar char="Ø"/>
              <a:defRPr/>
            </a:pPr>
            <a:r>
              <a:rPr lang="en-US" altLang="ko-KR" sz="2200" b="1" dirty="0">
                <a:solidFill>
                  <a:srgbClr val="0000FF"/>
                </a:solidFill>
                <a:ea typeface="Times New Roman"/>
                <a:cs typeface="Arial" pitchFamily="34" charset="0"/>
              </a:rPr>
              <a:t>ICT as an administrative tool (i.e. education management information systems (EMIS)</a:t>
            </a:r>
          </a:p>
          <a:p>
            <a:pPr algn="just">
              <a:lnSpc>
                <a:spcPct val="134000"/>
              </a:lnSpc>
              <a:buClr>
                <a:schemeClr val="tx1">
                  <a:shade val="95000"/>
                </a:schemeClr>
              </a:buClr>
              <a:buFont typeface="Wingdings" pitchFamily="2" charset="2"/>
              <a:buChar char="Ø"/>
              <a:defRPr/>
            </a:pPr>
            <a:r>
              <a:rPr lang="en-US" altLang="ko-KR" sz="2200" b="1" dirty="0">
                <a:solidFill>
                  <a:srgbClr val="0000FF"/>
                </a:solidFill>
                <a:ea typeface="Times New Roman"/>
                <a:cs typeface="Arial" pitchFamily="34" charset="0"/>
              </a:rPr>
              <a:t>ICT as an expanding learning opportunity (i.e. distance learning, e-Learning)</a:t>
            </a:r>
          </a:p>
          <a:p>
            <a:pPr algn="just">
              <a:lnSpc>
                <a:spcPct val="134000"/>
              </a:lnSpc>
              <a:buClr>
                <a:schemeClr val="tx1">
                  <a:shade val="95000"/>
                </a:schemeClr>
              </a:buClr>
              <a:buFont typeface="Wingdings" pitchFamily="2" charset="2"/>
              <a:buChar char="Ø"/>
              <a:defRPr/>
            </a:pPr>
            <a:r>
              <a:rPr lang="en-US" altLang="ko-KR" sz="2200" b="1" dirty="0">
                <a:solidFill>
                  <a:srgbClr val="0000FF"/>
                </a:solidFill>
                <a:ea typeface="Times New Roman"/>
                <a:cs typeface="Arial" pitchFamily="34" charset="0"/>
              </a:rPr>
              <a:t>ICT as a facilitator of higher-order thinking skills (i.e. learner-centered, self-directed learning, tailored learning)</a:t>
            </a:r>
          </a:p>
          <a:p>
            <a:pPr marL="548640" indent="-411480">
              <a:lnSpc>
                <a:spcPct val="134000"/>
              </a:lnSpc>
              <a:buClr>
                <a:schemeClr val="tx1">
                  <a:shade val="95000"/>
                </a:schemeClr>
              </a:buClr>
              <a:buFont typeface="Wingdings 2"/>
              <a:buChar char=""/>
              <a:defRPr/>
            </a:pPr>
            <a:endParaRPr lang="en-GB" b="1" dirty="0"/>
          </a:p>
          <a:p>
            <a:pPr marL="548640" indent="-411480">
              <a:lnSpc>
                <a:spcPct val="134000"/>
              </a:lnSpc>
              <a:buClr>
                <a:schemeClr val="tx1">
                  <a:shade val="95000"/>
                </a:schemeClr>
              </a:buClr>
              <a:buFont typeface="Wingdings 2"/>
              <a:buChar char=""/>
              <a:defRPr/>
            </a:pPr>
            <a:endParaRPr lang="ko-KR" altLang="en-US" b="1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40EA5E4-365C-A83A-1898-C99C7149D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altLang="ko-KR" sz="3000" b="1" dirty="0">
                <a:solidFill>
                  <a:srgbClr val="CC00CC"/>
                </a:solidFill>
                <a:ea typeface="+mn-ea"/>
                <a:cs typeface="+mn-cs"/>
              </a:rPr>
              <a:t>Scope of Internet as a ICT in Education</a:t>
            </a:r>
          </a:p>
        </p:txBody>
      </p:sp>
      <p:sp>
        <p:nvSpPr>
          <p:cNvPr id="18436" name="Slide Number Placeholder 4">
            <a:extLst>
              <a:ext uri="{FF2B5EF4-FFF2-40B4-BE49-F238E27FC236}">
                <a16:creationId xmlns:a16="http://schemas.microsoft.com/office/drawing/2014/main" id="{298F412D-DA73-54C3-7234-FC441FDDFCD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C5A2749-A417-452C-886F-9011332E8E7C}" type="slidenum">
              <a:rPr lang="en-US" altLang="en-US">
                <a:solidFill>
                  <a:srgbClr val="898989"/>
                </a:solidFill>
              </a:rPr>
              <a:pPr/>
              <a:t>16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>
    <p:dissolv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945ECDFF-1CE9-9E3D-7AAA-3CFD7C1F9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altLang="ko-KR" sz="3000" b="1" dirty="0">
                <a:solidFill>
                  <a:srgbClr val="CC00CC"/>
                </a:solidFill>
                <a:ea typeface="+mn-ea"/>
                <a:cs typeface="+mn-cs"/>
              </a:rPr>
              <a:t>Traditional  v/s  Internet based ICT  education Approach</a:t>
            </a:r>
          </a:p>
        </p:txBody>
      </p:sp>
      <p:sp>
        <p:nvSpPr>
          <p:cNvPr id="19459" name="Slide Number Placeholder 5">
            <a:extLst>
              <a:ext uri="{FF2B5EF4-FFF2-40B4-BE49-F238E27FC236}">
                <a16:creationId xmlns:a16="http://schemas.microsoft.com/office/drawing/2014/main" id="{D6E1FF1D-F582-EDE9-2405-9D7ADD36705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FB9BC4E-A318-439F-84EA-6FEB9CD499F6}" type="slidenum">
              <a:rPr lang="en-US" altLang="en-US">
                <a:solidFill>
                  <a:srgbClr val="898989"/>
                </a:solidFill>
              </a:rPr>
              <a:pPr/>
              <a:t>17</a:t>
            </a:fld>
            <a:endParaRPr lang="en-US" altLang="en-US">
              <a:solidFill>
                <a:srgbClr val="898989"/>
              </a:solidFill>
            </a:endParaRPr>
          </a:p>
        </p:txBody>
      </p:sp>
      <p:graphicFrame>
        <p:nvGraphicFramePr>
          <p:cNvPr id="8" name="Group 28">
            <a:extLst>
              <a:ext uri="{FF2B5EF4-FFF2-40B4-BE49-F238E27FC236}">
                <a16:creationId xmlns:a16="http://schemas.microsoft.com/office/drawing/2014/main" id="{2EE2E5EE-3E37-48B3-30F5-8605B0789C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317964"/>
              </p:ext>
            </p:extLst>
          </p:nvPr>
        </p:nvGraphicFramePr>
        <p:xfrm>
          <a:off x="1209368" y="1312607"/>
          <a:ext cx="9382431" cy="5028995"/>
        </p:xfrm>
        <a:graphic>
          <a:graphicData uri="http://schemas.openxmlformats.org/drawingml/2006/table">
            <a:tbl>
              <a:tblPr firstCol="1">
                <a:tableStyleId>{7E9639D4-E3E2-4D34-9284-5A2195B3D0D7}</a:tableStyleId>
              </a:tblPr>
              <a:tblGrid>
                <a:gridCol w="2324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57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18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7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2600" b="0" i="0" kern="12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2000" b="0" i="0" kern="1200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굴림" pitchFamily="34" charset="-127"/>
                          <a:cs typeface="Arial" pitchFamily="34" charset="0"/>
                        </a:rPr>
                        <a:t>Traditional Classroom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2000" b="0" i="0" kern="1200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굴림" pitchFamily="34" charset="-127"/>
                          <a:cs typeface="Arial" pitchFamily="34" charset="0"/>
                        </a:rPr>
                        <a:t>ICT In Education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07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2000" b="0" i="0" kern="1200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14AC22"/>
                          </a:solidFill>
                          <a:effectLst/>
                          <a:latin typeface="Arial" pitchFamily="34" charset="0"/>
                          <a:ea typeface="굴림" pitchFamily="34" charset="-127"/>
                          <a:cs typeface="Arial" pitchFamily="34" charset="0"/>
                        </a:rPr>
                        <a:t>Classroom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2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>
                            <a:shade val="95000"/>
                          </a:schemeClr>
                        </a:buClr>
                        <a:buSzTx/>
                        <a:buFont typeface="Wingdings 2"/>
                        <a:buChar char="•"/>
                        <a:tabLst/>
                        <a:defRPr/>
                      </a:pPr>
                      <a:r>
                        <a:rPr lang="en-US" altLang="ko-KR" sz="1800" b="1" kern="1200" dirty="0">
                          <a:solidFill>
                            <a:srgbClr val="0000FF"/>
                          </a:solidFill>
                          <a:latin typeface="+mn-lt"/>
                          <a:ea typeface="Times New Roman"/>
                          <a:cs typeface="Arial" pitchFamily="34" charset="0"/>
                        </a:rPr>
                        <a:t> Physical – limited size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2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>
                            <a:shade val="95000"/>
                          </a:schemeClr>
                        </a:buClr>
                        <a:buSzTx/>
                        <a:buFont typeface="Wingdings 2"/>
                        <a:buChar char="•"/>
                        <a:tabLst/>
                        <a:defRPr/>
                      </a:pPr>
                      <a:r>
                        <a:rPr lang="en-US" altLang="ko-KR" sz="1800" b="1" kern="1200" dirty="0">
                          <a:solidFill>
                            <a:srgbClr val="0000FF"/>
                          </a:solidFill>
                          <a:latin typeface="+mn-lt"/>
                          <a:ea typeface="Times New Roman"/>
                          <a:cs typeface="Arial" pitchFamily="34" charset="0"/>
                        </a:rPr>
                        <a:t> Synchronous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2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>
                            <a:shade val="95000"/>
                          </a:schemeClr>
                        </a:buClr>
                        <a:buSzTx/>
                        <a:buFont typeface="Wingdings 2"/>
                        <a:buChar char="•"/>
                        <a:tabLst/>
                        <a:defRPr/>
                      </a:pPr>
                      <a:r>
                        <a:rPr lang="en-US" altLang="ko-KR" sz="1800" b="1" kern="1200" dirty="0">
                          <a:solidFill>
                            <a:srgbClr val="0000FF"/>
                          </a:solidFill>
                          <a:latin typeface="+mn-lt"/>
                          <a:ea typeface="Times New Roman"/>
                          <a:cs typeface="Arial" pitchFamily="34" charset="0"/>
                        </a:rPr>
                        <a:t> Unlimited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2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>
                            <a:shade val="95000"/>
                          </a:schemeClr>
                        </a:buClr>
                        <a:buSzTx/>
                        <a:buFont typeface="Wingdings 2"/>
                        <a:buChar char="•"/>
                        <a:tabLst/>
                        <a:defRPr/>
                      </a:pPr>
                      <a:r>
                        <a:rPr lang="en-US" altLang="ko-KR" sz="1800" b="1" kern="1200" dirty="0">
                          <a:solidFill>
                            <a:srgbClr val="0000FF"/>
                          </a:solidFill>
                          <a:latin typeface="+mn-lt"/>
                          <a:ea typeface="Times New Roman"/>
                          <a:cs typeface="Arial" pitchFamily="34" charset="0"/>
                        </a:rPr>
                        <a:t> Anytime, anywhere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47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2000" b="0" i="0" kern="1200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14AC22"/>
                          </a:solidFill>
                          <a:effectLst/>
                          <a:latin typeface="Arial" pitchFamily="34" charset="0"/>
                          <a:ea typeface="굴림" pitchFamily="34" charset="-127"/>
                          <a:cs typeface="Arial" pitchFamily="34" charset="0"/>
                        </a:rPr>
                        <a:t>Content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2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>
                            <a:shade val="95000"/>
                          </a:schemeClr>
                        </a:buClr>
                        <a:buSzTx/>
                        <a:buFont typeface="Wingdings 2"/>
                        <a:buChar char="•"/>
                        <a:tabLst/>
                        <a:defRPr/>
                      </a:pPr>
                      <a:r>
                        <a:rPr lang="en-US" altLang="ko-KR" sz="1800" b="1" kern="1200" dirty="0">
                          <a:solidFill>
                            <a:srgbClr val="0000FF"/>
                          </a:solidFill>
                          <a:latin typeface="+mn-lt"/>
                          <a:ea typeface="Times New Roman"/>
                          <a:cs typeface="Arial" pitchFamily="34" charset="0"/>
                        </a:rPr>
                        <a:t> PowerPoint / transparency / etc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2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>
                            <a:shade val="95000"/>
                          </a:schemeClr>
                        </a:buClr>
                        <a:buSzTx/>
                        <a:buFont typeface="Wingdings 2"/>
                        <a:buChar char="•"/>
                        <a:tabLst/>
                        <a:defRPr/>
                      </a:pPr>
                      <a:r>
                        <a:rPr lang="en-US" altLang="ko-KR" sz="1800" b="1" kern="1200" dirty="0">
                          <a:solidFill>
                            <a:srgbClr val="0000FF"/>
                          </a:solidFill>
                          <a:latin typeface="+mn-lt"/>
                          <a:ea typeface="Times New Roman"/>
                          <a:cs typeface="Arial" pitchFamily="34" charset="0"/>
                        </a:rPr>
                        <a:t> Textbooks / library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2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>
                            <a:shade val="95000"/>
                          </a:schemeClr>
                        </a:buClr>
                        <a:buSzTx/>
                        <a:buFont typeface="Wingdings 2"/>
                        <a:buChar char="•"/>
                        <a:tabLst/>
                        <a:defRPr/>
                      </a:pPr>
                      <a:r>
                        <a:rPr lang="en-US" altLang="ko-KR" sz="1800" b="1" kern="1200" dirty="0">
                          <a:solidFill>
                            <a:srgbClr val="0000FF"/>
                          </a:solidFill>
                          <a:latin typeface="+mn-lt"/>
                          <a:ea typeface="Times New Roman"/>
                          <a:cs typeface="Arial" pitchFamily="34" charset="0"/>
                        </a:rPr>
                        <a:t> Video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2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>
                            <a:shade val="95000"/>
                          </a:schemeClr>
                        </a:buClr>
                        <a:buSzTx/>
                        <a:buFont typeface="Wingdings 2"/>
                        <a:buChar char="•"/>
                        <a:tabLst/>
                        <a:defRPr/>
                      </a:pPr>
                      <a:r>
                        <a:rPr lang="en-US" altLang="ko-KR" sz="1800" b="1" kern="1200" dirty="0">
                          <a:solidFill>
                            <a:srgbClr val="0000FF"/>
                          </a:solidFill>
                          <a:latin typeface="+mn-lt"/>
                          <a:ea typeface="Times New Roman"/>
                          <a:cs typeface="Arial" pitchFamily="34" charset="0"/>
                        </a:rPr>
                        <a:t> Multimedia / simulation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2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>
                            <a:shade val="95000"/>
                          </a:schemeClr>
                        </a:buClr>
                        <a:buSzTx/>
                        <a:buFont typeface="Wingdings 2"/>
                        <a:buChar char="•"/>
                        <a:tabLst/>
                        <a:defRPr/>
                      </a:pPr>
                      <a:r>
                        <a:rPr lang="en-US" altLang="ko-KR" sz="1800" b="1" kern="1200" dirty="0">
                          <a:solidFill>
                            <a:srgbClr val="0000FF"/>
                          </a:solidFill>
                          <a:latin typeface="+mn-lt"/>
                          <a:ea typeface="Times New Roman"/>
                          <a:cs typeface="Arial" pitchFamily="34" charset="0"/>
                        </a:rPr>
                        <a:t> Digital library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2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>
                            <a:shade val="95000"/>
                          </a:schemeClr>
                        </a:buClr>
                        <a:buSzTx/>
                        <a:buFont typeface="Wingdings 2"/>
                        <a:buChar char="•"/>
                        <a:tabLst/>
                        <a:defRPr/>
                      </a:pPr>
                      <a:r>
                        <a:rPr lang="en-US" altLang="ko-KR" sz="1800" b="1" kern="1200" dirty="0">
                          <a:solidFill>
                            <a:srgbClr val="0000FF"/>
                          </a:solidFill>
                          <a:latin typeface="+mn-lt"/>
                          <a:ea typeface="Times New Roman"/>
                          <a:cs typeface="Arial" pitchFamily="34" charset="0"/>
                        </a:rPr>
                        <a:t> On demand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2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>
                            <a:shade val="95000"/>
                          </a:schemeClr>
                        </a:buClr>
                        <a:buSzTx/>
                        <a:buFont typeface="Wingdings 2"/>
                        <a:buChar char="•"/>
                        <a:tabLst/>
                        <a:defRPr/>
                      </a:pPr>
                      <a:r>
                        <a:rPr lang="en-US" altLang="ko-KR" sz="1800" b="1" kern="1200" dirty="0">
                          <a:solidFill>
                            <a:srgbClr val="0000FF"/>
                          </a:solidFill>
                          <a:latin typeface="+mn-lt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n-US" altLang="ko-KR" sz="1800" b="1" kern="1200" dirty="0" err="1">
                          <a:solidFill>
                            <a:srgbClr val="0000FF"/>
                          </a:solidFill>
                          <a:latin typeface="+mn-lt"/>
                          <a:ea typeface="Times New Roman"/>
                          <a:cs typeface="Arial" pitchFamily="34" charset="0"/>
                        </a:rPr>
                        <a:t>Syn</a:t>
                      </a:r>
                      <a:r>
                        <a:rPr lang="en-US" altLang="ko-KR" sz="1800" b="1" kern="1200" dirty="0">
                          <a:solidFill>
                            <a:srgbClr val="0000FF"/>
                          </a:solidFill>
                          <a:latin typeface="+mn-lt"/>
                          <a:ea typeface="Times New Roman"/>
                          <a:cs typeface="Arial" pitchFamily="34" charset="0"/>
                        </a:rPr>
                        <a:t> &amp; </a:t>
                      </a:r>
                      <a:r>
                        <a:rPr lang="en-US" altLang="ko-KR" sz="1800" b="1" kern="1200" dirty="0" err="1">
                          <a:solidFill>
                            <a:srgbClr val="0000FF"/>
                          </a:solidFill>
                          <a:latin typeface="+mn-lt"/>
                          <a:ea typeface="Times New Roman"/>
                          <a:cs typeface="Arial" pitchFamily="34" charset="0"/>
                        </a:rPr>
                        <a:t>Asyn</a:t>
                      </a:r>
                      <a:r>
                        <a:rPr lang="en-US" altLang="ko-KR" sz="1800" b="1" kern="1200" dirty="0">
                          <a:solidFill>
                            <a:srgbClr val="0000FF"/>
                          </a:solidFill>
                          <a:latin typeface="+mn-lt"/>
                          <a:ea typeface="Times New Roman"/>
                          <a:cs typeface="Arial" pitchFamily="34" charset="0"/>
                        </a:rPr>
                        <a:t>.   Communication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96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2000" b="0" i="0" kern="1200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14AC22"/>
                          </a:solidFill>
                          <a:effectLst/>
                          <a:latin typeface="Arial" pitchFamily="34" charset="0"/>
                          <a:ea typeface="굴림" pitchFamily="34" charset="-127"/>
                          <a:cs typeface="Arial" pitchFamily="34" charset="0"/>
                        </a:rPr>
                        <a:t>Personalisation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2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>
                            <a:shade val="95000"/>
                          </a:schemeClr>
                        </a:buClr>
                        <a:buSzTx/>
                        <a:buFont typeface="Wingdings 2"/>
                        <a:buChar char="•"/>
                        <a:tabLst/>
                        <a:defRPr/>
                      </a:pPr>
                      <a:r>
                        <a:rPr lang="en-US" altLang="ko-KR" sz="1800" b="1" kern="1200" dirty="0">
                          <a:solidFill>
                            <a:srgbClr val="0000FF"/>
                          </a:solidFill>
                          <a:latin typeface="+mn-lt"/>
                          <a:ea typeface="Times New Roman"/>
                          <a:cs typeface="Arial" pitchFamily="34" charset="0"/>
                        </a:rPr>
                        <a:t> One learning path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2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>
                            <a:shade val="95000"/>
                          </a:schemeClr>
                        </a:buClr>
                        <a:buSzTx/>
                        <a:buFont typeface="Wingdings 2"/>
                        <a:buChar char="•"/>
                        <a:tabLst/>
                        <a:defRPr/>
                      </a:pPr>
                      <a:r>
                        <a:rPr lang="en-US" altLang="ko-KR" sz="1800" b="1" kern="1200" dirty="0">
                          <a:solidFill>
                            <a:srgbClr val="0000FF"/>
                          </a:solidFill>
                          <a:latin typeface="+mn-lt"/>
                          <a:ea typeface="Times New Roman"/>
                          <a:cs typeface="Arial" pitchFamily="34" charset="0"/>
                        </a:rPr>
                        <a:t> Learning path and pace determined by learner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dissolv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5" name="Rectangle 3">
            <a:extLst>
              <a:ext uri="{FF2B5EF4-FFF2-40B4-BE49-F238E27FC236}">
                <a16:creationId xmlns:a16="http://schemas.microsoft.com/office/drawing/2014/main" id="{BA49705A-F43A-D75F-080E-F1929C2468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>
              <a:buClr>
                <a:srgbClr val="EF11B0"/>
              </a:buClr>
              <a:buSzPct val="100000"/>
              <a:buFont typeface="Wingdings" pitchFamily="2" charset="2"/>
              <a:buChar char="Ø"/>
              <a:defRPr/>
            </a:pPr>
            <a:r>
              <a:rPr lang="en-US" altLang="ko-KR" sz="2000" b="1" dirty="0">
                <a:solidFill>
                  <a:srgbClr val="0000FF"/>
                </a:solidFill>
                <a:ea typeface="Times New Roman"/>
                <a:cs typeface="Arial" pitchFamily="34" charset="0"/>
              </a:rPr>
              <a:t>Hear is an effective saying</a:t>
            </a:r>
          </a:p>
          <a:p>
            <a:pPr>
              <a:buClr>
                <a:srgbClr val="EF11B0"/>
              </a:buClr>
              <a:buSzPct val="100000"/>
              <a:buFont typeface="Wingdings" pitchFamily="2" charset="2"/>
              <a:buChar char="Ø"/>
              <a:defRPr/>
            </a:pPr>
            <a:endParaRPr lang="en-US" altLang="ko-KR" sz="900" b="1" dirty="0">
              <a:solidFill>
                <a:srgbClr val="0000FF"/>
              </a:solidFill>
              <a:ea typeface="Times New Roman"/>
              <a:cs typeface="Arial" pitchFamily="34" charset="0"/>
            </a:endParaRPr>
          </a:p>
          <a:p>
            <a:pPr lvl="1" algn="just">
              <a:lnSpc>
                <a:spcPct val="200000"/>
              </a:lnSpc>
              <a:buClr>
                <a:srgbClr val="EF11B0"/>
              </a:buClr>
              <a:buSzPct val="100000"/>
              <a:buFont typeface="Wingdings" pitchFamily="2" charset="2"/>
              <a:buChar char="v"/>
              <a:defRPr/>
            </a:pPr>
            <a:r>
              <a:rPr lang="en-US" altLang="ko-KR" sz="2000" b="1" u="sng" dirty="0">
                <a:solidFill>
                  <a:srgbClr val="0000FF"/>
                </a:solidFill>
                <a:ea typeface="Times New Roman"/>
                <a:cs typeface="Arial" pitchFamily="34" charset="0"/>
              </a:rPr>
              <a:t>I hear, I forget </a:t>
            </a:r>
            <a:r>
              <a:rPr lang="en-US" altLang="ko-KR" sz="2000" b="1" dirty="0">
                <a:solidFill>
                  <a:srgbClr val="0000FF"/>
                </a:solidFill>
                <a:ea typeface="Times New Roman"/>
                <a:cs typeface="Arial" pitchFamily="34" charset="0"/>
              </a:rPr>
              <a:t>: Verbal description only are not enough for learners to remember and understand. Visualization of objects especially in science and technology is important </a:t>
            </a:r>
          </a:p>
          <a:p>
            <a:pPr lvl="1" algn="just">
              <a:lnSpc>
                <a:spcPct val="200000"/>
              </a:lnSpc>
              <a:buClr>
                <a:srgbClr val="EF11B0"/>
              </a:buClr>
              <a:buSzPct val="100000"/>
              <a:buFont typeface="Wingdings" pitchFamily="2" charset="2"/>
              <a:buChar char="v"/>
              <a:defRPr/>
            </a:pPr>
            <a:r>
              <a:rPr lang="en-US" altLang="ko-KR" sz="2000" b="1" u="sng" dirty="0">
                <a:solidFill>
                  <a:srgbClr val="0000FF"/>
                </a:solidFill>
                <a:ea typeface="Times New Roman"/>
                <a:cs typeface="Arial" pitchFamily="34" charset="0"/>
              </a:rPr>
              <a:t>I see, I remember:</a:t>
            </a:r>
            <a:r>
              <a:rPr lang="en-US" altLang="ko-KR" sz="2000" b="1" dirty="0">
                <a:solidFill>
                  <a:srgbClr val="0000FF"/>
                </a:solidFill>
                <a:ea typeface="Times New Roman"/>
                <a:cs typeface="Arial" pitchFamily="34" charset="0"/>
              </a:rPr>
              <a:t> Knowledge that is gained through the site is more colorful, accurate and permanent. It is said that 80% of our  knowledge is gained through our eyes.  </a:t>
            </a:r>
          </a:p>
          <a:p>
            <a:pPr lvl="2" algn="just">
              <a:lnSpc>
                <a:spcPct val="150000"/>
              </a:lnSpc>
              <a:buClr>
                <a:srgbClr val="FFFF00"/>
              </a:buClr>
              <a:buSzPct val="100000"/>
              <a:buFont typeface="Wingdings" pitchFamily="2" charset="2"/>
              <a:buChar char="v"/>
              <a:defRPr/>
            </a:pPr>
            <a:endParaRPr lang="en-US" dirty="0"/>
          </a:p>
          <a:p>
            <a:pPr lvl="2">
              <a:buNone/>
              <a:defRPr/>
            </a:pPr>
            <a:endParaRPr lang="en-US" dirty="0"/>
          </a:p>
          <a:p>
            <a:pPr lvl="2">
              <a:buNone/>
              <a:defRPr/>
            </a:pPr>
            <a:endParaRPr lang="en-US" dirty="0"/>
          </a:p>
        </p:txBody>
      </p:sp>
      <p:sp>
        <p:nvSpPr>
          <p:cNvPr id="136194" name="Rectangle 2">
            <a:extLst>
              <a:ext uri="{FF2B5EF4-FFF2-40B4-BE49-F238E27FC236}">
                <a16:creationId xmlns:a16="http://schemas.microsoft.com/office/drawing/2014/main" id="{9EE28E23-3B96-2B6D-93F4-228913AAA7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altLang="ko-KR" sz="3000" b="1" dirty="0">
                <a:solidFill>
                  <a:srgbClr val="CC00CC"/>
                </a:solidFill>
                <a:ea typeface="+mn-ea"/>
                <a:cs typeface="+mn-cs"/>
              </a:rPr>
              <a:t>Psychology of using Teaching Aids which include ICTs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>
            <a:extLst>
              <a:ext uri="{FF2B5EF4-FFF2-40B4-BE49-F238E27FC236}">
                <a16:creationId xmlns:a16="http://schemas.microsoft.com/office/drawing/2014/main" id="{981DD54D-BBFA-D3FD-1AA6-C2573170AD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500"/>
              </a:spcBef>
              <a:spcAft>
                <a:spcPts val="1200"/>
              </a:spcAft>
              <a:buClr>
                <a:srgbClr val="FFFF00"/>
              </a:buClr>
              <a:buFont typeface="Wingdings" panose="05000000000000000000" pitchFamily="2" charset="2"/>
              <a:buChar char="Ø"/>
            </a:pPr>
            <a:r>
              <a:rPr lang="en-GB" altLang="ko-KR" sz="2000" b="1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Develop understanding</a:t>
            </a:r>
          </a:p>
          <a:p>
            <a:pPr lvl="1" algn="just">
              <a:lnSpc>
                <a:spcPct val="200000"/>
              </a:lnSpc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GB" altLang="ko-KR" sz="1800" b="1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Speed and automatic functions of ICT can enable teachers to demonstrate, explore or explain aspects of their teaching, and students learning, more effectively e.g. use of a spread sheet to perform calculations in order that patterns can be concentrated on rather than the calculating</a:t>
            </a:r>
            <a:r>
              <a:rPr kumimoji="1" lang="en-GB" altLang="en-US" b="1"/>
              <a:t>.</a:t>
            </a:r>
          </a:p>
        </p:txBody>
      </p:sp>
      <p:sp>
        <p:nvSpPr>
          <p:cNvPr id="4098" name="Rectangle 2">
            <a:extLst>
              <a:ext uri="{FF2B5EF4-FFF2-40B4-BE49-F238E27FC236}">
                <a16:creationId xmlns:a16="http://schemas.microsoft.com/office/drawing/2014/main" id="{9087FCB7-20AC-2380-84EE-02CDF32A27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GB" altLang="ko-KR" sz="3000" b="1" dirty="0">
                <a:solidFill>
                  <a:srgbClr val="CC00CC"/>
                </a:solidFill>
                <a:ea typeface="+mn-ea"/>
                <a:cs typeface="+mn-cs"/>
              </a:rPr>
              <a:t>ICT can help learning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1027">
            <a:extLst>
              <a:ext uri="{FF2B5EF4-FFF2-40B4-BE49-F238E27FC236}">
                <a16:creationId xmlns:a16="http://schemas.microsoft.com/office/drawing/2014/main" id="{D04F41D7-0E3E-6B62-E0AF-A6861B5677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500"/>
              </a:spcBef>
              <a:spcAft>
                <a:spcPts val="1200"/>
              </a:spcAft>
              <a:buClr>
                <a:srgbClr val="FFFF00"/>
              </a:buClr>
              <a:buFont typeface="Wingdings" panose="05000000000000000000" pitchFamily="2" charset="2"/>
              <a:buChar char="Ø"/>
            </a:pPr>
            <a:r>
              <a:rPr lang="en-GB" altLang="ko-KR" sz="2400" b="1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Extend access to sources</a:t>
            </a:r>
          </a:p>
          <a:p>
            <a:pPr lvl="1" algn="just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GB" altLang="ko-KR" sz="1800" b="1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the capacity and range of ICT can enable teachers and students to gain access to historical, recent or immediate information, through, for example, accessing information on CD-ROM or the Internet</a:t>
            </a:r>
          </a:p>
          <a:p>
            <a:pPr>
              <a:buClr>
                <a:srgbClr val="FFFF00"/>
              </a:buClr>
              <a:buFont typeface="Wingdings" panose="05000000000000000000" pitchFamily="2" charset="2"/>
              <a:buChar char="Ø"/>
            </a:pPr>
            <a:r>
              <a:rPr lang="en-GB" altLang="ko-KR" sz="2400" b="1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Enhance enquiry skills</a:t>
            </a:r>
          </a:p>
          <a:p>
            <a:pPr>
              <a:buClr>
                <a:srgbClr val="FFFF00"/>
              </a:buClr>
              <a:buFont typeface="Wingdings" panose="05000000000000000000" pitchFamily="2" charset="2"/>
              <a:buChar char="Ø"/>
            </a:pPr>
            <a:endParaRPr lang="en-GB" altLang="ko-KR" sz="1000" b="1">
              <a:solidFill>
                <a:srgbClr val="0000FF"/>
              </a:solidFill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GB" altLang="ko-KR" sz="1800" b="1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search for and compare information from different sources</a:t>
            </a:r>
          </a:p>
          <a:p>
            <a:pPr algn="r">
              <a:buFontTx/>
              <a:buNone/>
            </a:pPr>
            <a:endParaRPr lang="en-GB" altLang="en-US" sz="2400"/>
          </a:p>
        </p:txBody>
      </p:sp>
      <p:sp>
        <p:nvSpPr>
          <p:cNvPr id="26626" name="Rectangle 1026">
            <a:extLst>
              <a:ext uri="{FF2B5EF4-FFF2-40B4-BE49-F238E27FC236}">
                <a16:creationId xmlns:a16="http://schemas.microsoft.com/office/drawing/2014/main" id="{208F473E-5A67-D505-FD9A-E7A93A9449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GB" altLang="ko-KR" sz="3000" b="1" dirty="0">
                <a:solidFill>
                  <a:srgbClr val="CC00CC"/>
                </a:solidFill>
                <a:ea typeface="+mn-ea"/>
                <a:cs typeface="+mn-cs"/>
              </a:rPr>
              <a:t>ICT can help learning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1027">
            <a:extLst>
              <a:ext uri="{FF2B5EF4-FFF2-40B4-BE49-F238E27FC236}">
                <a16:creationId xmlns:a16="http://schemas.microsoft.com/office/drawing/2014/main" id="{F9F3285E-7B82-2DBC-EEAA-20306C5149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>
                <a:srgbClr val="FFFF00"/>
              </a:buClr>
              <a:buFont typeface="Wingdings" panose="05000000000000000000" pitchFamily="2" charset="2"/>
              <a:buChar char="Ø"/>
            </a:pPr>
            <a:r>
              <a:rPr lang="en-GB" altLang="ko-KR" sz="2400" b="1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Enhance the communication of ideas</a:t>
            </a:r>
          </a:p>
          <a:p>
            <a:pPr lvl="1" algn="just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GB" altLang="ko-KR" sz="1800" b="1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communicate with other people, locally and over distances, easily and effectively</a:t>
            </a:r>
          </a:p>
          <a:p>
            <a:pPr lvl="1" algn="just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GB" altLang="ko-KR" sz="1800" b="1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present information in ways which are accessible in different forms for different audiences. </a:t>
            </a:r>
          </a:p>
        </p:txBody>
      </p:sp>
      <p:sp>
        <p:nvSpPr>
          <p:cNvPr id="27650" name="Rectangle 1026">
            <a:extLst>
              <a:ext uri="{FF2B5EF4-FFF2-40B4-BE49-F238E27FC236}">
                <a16:creationId xmlns:a16="http://schemas.microsoft.com/office/drawing/2014/main" id="{21EE6D21-1812-A280-B90E-EBF34830A4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GB" altLang="ko-KR" sz="3000" b="1" dirty="0">
                <a:solidFill>
                  <a:srgbClr val="CC00CC"/>
                </a:solidFill>
                <a:ea typeface="+mn-ea"/>
                <a:cs typeface="+mn-cs"/>
              </a:rPr>
              <a:t>ICT can help learning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9BBF1AA-BA01-5362-DA6C-2E94F3E75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322362"/>
            <a:ext cx="10515600" cy="5033987"/>
          </a:xfrm>
        </p:spPr>
        <p:txBody>
          <a:bodyPr rtlCol="0">
            <a:noAutofit/>
          </a:bodyPr>
          <a:lstStyle/>
          <a:p>
            <a:pPr marL="548640" indent="-411480">
              <a:lnSpc>
                <a:spcPct val="150000"/>
              </a:lnSpc>
              <a:buClr>
                <a:schemeClr val="tx1">
                  <a:shade val="95000"/>
                </a:schemeClr>
              </a:buClr>
              <a:buSzPct val="100000"/>
              <a:buFont typeface="Wingdings" pitchFamily="2" charset="2"/>
              <a:buChar char=""/>
              <a:defRPr/>
            </a:pPr>
            <a:r>
              <a:rPr kumimoji="1" lang="en-US" sz="1800" b="1" dirty="0">
                <a:solidFill>
                  <a:srgbClr val="0000FF"/>
                </a:solidFill>
              </a:rPr>
              <a:t>Education opportunities in dispersed locations where conventional schools are not viable;</a:t>
            </a:r>
          </a:p>
          <a:p>
            <a:pPr marL="548640" indent="-411480">
              <a:lnSpc>
                <a:spcPct val="150000"/>
              </a:lnSpc>
              <a:buClr>
                <a:schemeClr val="tx1">
                  <a:shade val="95000"/>
                </a:schemeClr>
              </a:buClr>
              <a:buSzPct val="100000"/>
              <a:buFont typeface="Wingdings" pitchFamily="2" charset="2"/>
              <a:buChar char=""/>
              <a:defRPr/>
            </a:pPr>
            <a:r>
              <a:rPr kumimoji="1" lang="en-US" sz="1800" b="1" dirty="0">
                <a:solidFill>
                  <a:srgbClr val="0000FF"/>
                </a:solidFill>
              </a:rPr>
              <a:t>A choice to students and parents of what they want to learn i.e. Choice based credit system (CBCS);</a:t>
            </a:r>
          </a:p>
          <a:p>
            <a:pPr marL="548640" indent="-411480">
              <a:lnSpc>
                <a:spcPct val="150000"/>
              </a:lnSpc>
              <a:buClr>
                <a:schemeClr val="tx1">
                  <a:shade val="95000"/>
                </a:schemeClr>
              </a:buClr>
              <a:buSzPct val="100000"/>
              <a:buFont typeface="Wingdings" pitchFamily="2" charset="2"/>
              <a:buChar char=""/>
              <a:defRPr/>
            </a:pPr>
            <a:r>
              <a:rPr kumimoji="1" lang="en-US" sz="1800" b="1" dirty="0">
                <a:solidFill>
                  <a:srgbClr val="0000FF"/>
                </a:solidFill>
              </a:rPr>
              <a:t>A safety net for school drop-outs so they do not lapse into illiteracy;</a:t>
            </a:r>
          </a:p>
          <a:p>
            <a:pPr marL="548640" indent="-411480">
              <a:lnSpc>
                <a:spcPct val="150000"/>
              </a:lnSpc>
              <a:buClr>
                <a:schemeClr val="tx1">
                  <a:shade val="95000"/>
                </a:schemeClr>
              </a:buClr>
              <a:buSzPct val="100000"/>
              <a:buFont typeface="Wingdings" pitchFamily="2" charset="2"/>
              <a:buChar char=""/>
              <a:defRPr/>
            </a:pPr>
            <a:r>
              <a:rPr kumimoji="1" lang="en-US" sz="1800" b="1" dirty="0">
                <a:solidFill>
                  <a:srgbClr val="0000FF"/>
                </a:solidFill>
              </a:rPr>
              <a:t>Alternative venue to schools.</a:t>
            </a:r>
          </a:p>
          <a:p>
            <a:pPr marL="548640" indent="-411480">
              <a:lnSpc>
                <a:spcPct val="150000"/>
              </a:lnSpc>
              <a:buClr>
                <a:schemeClr val="tx1">
                  <a:shade val="95000"/>
                </a:schemeClr>
              </a:buClr>
              <a:buSzPct val="100000"/>
              <a:buFont typeface="Wingdings" pitchFamily="2" charset="2"/>
              <a:buChar char=""/>
              <a:defRPr/>
            </a:pPr>
            <a:r>
              <a:rPr kumimoji="1" lang="en-US" sz="1800" b="1" dirty="0">
                <a:solidFill>
                  <a:srgbClr val="0000FF"/>
                </a:solidFill>
              </a:rPr>
              <a:t>Second chance education.</a:t>
            </a:r>
          </a:p>
          <a:p>
            <a:pPr marL="548640" indent="-411480">
              <a:lnSpc>
                <a:spcPct val="150000"/>
              </a:lnSpc>
              <a:buClr>
                <a:schemeClr val="tx1">
                  <a:shade val="95000"/>
                </a:schemeClr>
              </a:buClr>
              <a:buSzPct val="100000"/>
              <a:buFont typeface="Wingdings" pitchFamily="2" charset="2"/>
              <a:buChar char=""/>
              <a:defRPr/>
            </a:pPr>
            <a:r>
              <a:rPr kumimoji="1" lang="en-GB" sz="1800" b="1" dirty="0">
                <a:solidFill>
                  <a:srgbClr val="0000FF"/>
                </a:solidFill>
              </a:rPr>
              <a:t>Standardised curriculum materials</a:t>
            </a:r>
            <a:endParaRPr kumimoji="1" lang="en-US" sz="1800" b="1" dirty="0">
              <a:solidFill>
                <a:srgbClr val="0000FF"/>
              </a:solidFill>
            </a:endParaRPr>
          </a:p>
          <a:p>
            <a:pPr marL="548640" indent="-411480">
              <a:lnSpc>
                <a:spcPct val="150000"/>
              </a:lnSpc>
              <a:buClr>
                <a:schemeClr val="tx1">
                  <a:shade val="95000"/>
                </a:schemeClr>
              </a:buClr>
              <a:buSzPct val="100000"/>
              <a:buFont typeface="Wingdings" pitchFamily="2" charset="2"/>
              <a:buChar char=""/>
              <a:defRPr/>
            </a:pPr>
            <a:r>
              <a:rPr kumimoji="1" lang="en-GB" altLang="ko-KR" sz="1800" b="1" dirty="0">
                <a:solidFill>
                  <a:srgbClr val="0000FF"/>
                </a:solidFill>
              </a:rPr>
              <a:t>Lifelong learning concept</a:t>
            </a:r>
          </a:p>
          <a:p>
            <a:pPr marL="548640" indent="-411480">
              <a:lnSpc>
                <a:spcPct val="150000"/>
              </a:lnSpc>
              <a:buClr>
                <a:schemeClr val="tx1">
                  <a:shade val="95000"/>
                </a:schemeClr>
              </a:buClr>
              <a:buSzPct val="100000"/>
              <a:buFont typeface="Wingdings" pitchFamily="2" charset="2"/>
              <a:buChar char=""/>
              <a:defRPr/>
            </a:pPr>
            <a:r>
              <a:rPr kumimoji="1" lang="en-GB" sz="1800" b="1" dirty="0">
                <a:solidFill>
                  <a:srgbClr val="0000FF"/>
                </a:solidFill>
              </a:rPr>
              <a:t>Limiting fraud in assessment process</a:t>
            </a:r>
            <a:endParaRPr kumimoji="1" lang="en-US" sz="1800" b="1" dirty="0">
              <a:solidFill>
                <a:srgbClr val="0000FF"/>
              </a:solidFill>
            </a:endParaRPr>
          </a:p>
          <a:p>
            <a:pPr marL="548640" indent="-411480">
              <a:buClr>
                <a:schemeClr val="tx1">
                  <a:shade val="95000"/>
                </a:schemeClr>
              </a:buClr>
              <a:buSzPct val="100000"/>
              <a:buFont typeface="Wingdings" pitchFamily="2" charset="2"/>
              <a:buChar char=""/>
              <a:defRPr/>
            </a:pPr>
            <a:endParaRPr kumimoji="1" lang="en-US" sz="2400" b="1" dirty="0">
              <a:solidFill>
                <a:srgbClr val="0000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E81E51-6931-4365-8ECB-155144C42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altLang="ko-KR" sz="3000" b="1" dirty="0">
                <a:solidFill>
                  <a:srgbClr val="CC00CC"/>
                </a:solidFill>
                <a:ea typeface="+mn-ea"/>
                <a:cs typeface="+mn-cs"/>
              </a:rPr>
              <a:t>Does ICT increase access to learning opportunity?</a:t>
            </a:r>
          </a:p>
        </p:txBody>
      </p:sp>
      <p:sp>
        <p:nvSpPr>
          <p:cNvPr id="24580" name="Slide Number Placeholder 5">
            <a:extLst>
              <a:ext uri="{FF2B5EF4-FFF2-40B4-BE49-F238E27FC236}">
                <a16:creationId xmlns:a16="http://schemas.microsoft.com/office/drawing/2014/main" id="{70E6CEA1-0300-DE0D-DB39-2A4CD02958F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C3A2644-CE6B-4D4D-BCD8-3839718D5F35}" type="slidenum">
              <a:rPr lang="en-US" altLang="en-US">
                <a:solidFill>
                  <a:srgbClr val="898989"/>
                </a:solidFill>
              </a:rPr>
              <a:pPr/>
              <a:t>22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>
    <p:dissolv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FB935-A015-C8B0-88FF-F59B916005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>
            <a:noAutofit/>
          </a:bodyPr>
          <a:lstStyle/>
          <a:p>
            <a:pPr marL="548640" indent="-411480">
              <a:lnSpc>
                <a:spcPct val="200000"/>
              </a:lnSpc>
              <a:buClr>
                <a:schemeClr val="tx1">
                  <a:shade val="95000"/>
                </a:schemeClr>
              </a:buClr>
              <a:buFont typeface="Wingdings 2"/>
              <a:buChar char=""/>
              <a:defRPr/>
            </a:pPr>
            <a:r>
              <a:rPr kumimoji="1" lang="en-US" sz="1800" b="1" dirty="0">
                <a:solidFill>
                  <a:srgbClr val="0000FF"/>
                </a:solidFill>
              </a:rPr>
              <a:t>There are many web sites available for getting information regarding agricultural products. </a:t>
            </a:r>
          </a:p>
          <a:p>
            <a:pPr marL="548640" indent="-411480">
              <a:lnSpc>
                <a:spcPct val="200000"/>
              </a:lnSpc>
              <a:buClr>
                <a:schemeClr val="tx1">
                  <a:shade val="95000"/>
                </a:schemeClr>
              </a:buClr>
              <a:buFont typeface="Wingdings 2"/>
              <a:buChar char=""/>
              <a:defRPr/>
            </a:pPr>
            <a:r>
              <a:rPr kumimoji="1" lang="en-US" sz="1800" b="1" dirty="0">
                <a:solidFill>
                  <a:srgbClr val="0000FF"/>
                </a:solidFill>
              </a:rPr>
              <a:t>One of them is “Soil Health Card” a 12th National e-governance award winner. It reflects soil testing report (Current composition of soil) and provides information about  which crops farmers should cultivate and which manure should be applied in what  proportion.</a:t>
            </a:r>
            <a:br>
              <a:rPr kumimoji="1" lang="en-US" sz="1800" b="1" dirty="0">
                <a:solidFill>
                  <a:srgbClr val="0000FF"/>
                </a:solidFill>
              </a:rPr>
            </a:br>
            <a:r>
              <a:rPr kumimoji="1" lang="en-US" sz="1800" b="1" dirty="0" err="1">
                <a:solidFill>
                  <a:srgbClr val="0000FF"/>
                </a:solidFill>
              </a:rPr>
              <a:t>Agmarknet</a:t>
            </a:r>
            <a:r>
              <a:rPr kumimoji="1" lang="en-US" sz="1800" b="1" dirty="0">
                <a:solidFill>
                  <a:srgbClr val="0000FF"/>
                </a:solidFill>
              </a:rPr>
              <a:t> (</a:t>
            </a:r>
            <a:r>
              <a:rPr kumimoji="1" lang="en-IN" sz="1800" b="1" dirty="0">
                <a:solidFill>
                  <a:srgbClr val="0000FF"/>
                </a:solidFill>
              </a:rPr>
              <a:t>Digital </a:t>
            </a:r>
            <a:r>
              <a:rPr kumimoji="1" lang="en-IN" sz="1800" b="1" dirty="0" err="1">
                <a:solidFill>
                  <a:srgbClr val="0000FF"/>
                </a:solidFill>
              </a:rPr>
              <a:t>Mandi</a:t>
            </a:r>
            <a:r>
              <a:rPr kumimoji="1" lang="en-IN" sz="1800" b="1" dirty="0">
                <a:solidFill>
                  <a:srgbClr val="0000FF"/>
                </a:solidFill>
              </a:rPr>
              <a:t> for Indian </a:t>
            </a:r>
            <a:r>
              <a:rPr kumimoji="1" lang="en-IN" sz="1800" b="1" dirty="0" err="1">
                <a:solidFill>
                  <a:srgbClr val="0000FF"/>
                </a:solidFill>
              </a:rPr>
              <a:t>Kisan</a:t>
            </a:r>
            <a:r>
              <a:rPr kumimoji="1" lang="en-IN" sz="1800" b="1" dirty="0">
                <a:solidFill>
                  <a:srgbClr val="0000FF"/>
                </a:solidFill>
              </a:rPr>
              <a:t> –by IIT, </a:t>
            </a:r>
            <a:r>
              <a:rPr kumimoji="1" lang="en-IN" sz="1800" b="1" dirty="0" err="1">
                <a:solidFill>
                  <a:srgbClr val="0000FF"/>
                </a:solidFill>
              </a:rPr>
              <a:t>Kanpur</a:t>
            </a:r>
            <a:r>
              <a:rPr kumimoji="1" lang="en-US" sz="1800" b="1" dirty="0">
                <a:solidFill>
                  <a:srgbClr val="0000FF"/>
                </a:solidFill>
              </a:rPr>
              <a:t>)</a:t>
            </a:r>
            <a:br>
              <a:rPr kumimoji="1" lang="en-US" sz="1800" b="1" dirty="0">
                <a:solidFill>
                  <a:srgbClr val="0000FF"/>
                </a:solidFill>
              </a:rPr>
            </a:br>
            <a:r>
              <a:rPr kumimoji="1" lang="en-IN" sz="1800" b="1" dirty="0">
                <a:solidFill>
                  <a:srgbClr val="0000FF"/>
                </a:solidFill>
              </a:rPr>
              <a:t>www.kissankerala.net          and  Many more …</a:t>
            </a:r>
            <a:endParaRPr kumimoji="1" lang="en-US" sz="1800" b="1" dirty="0">
              <a:solidFill>
                <a:srgbClr val="0000FF"/>
              </a:solidFill>
            </a:endParaRPr>
          </a:p>
          <a:p>
            <a:pPr marL="548640" indent="-411480">
              <a:lnSpc>
                <a:spcPct val="200000"/>
              </a:lnSpc>
              <a:buClr>
                <a:schemeClr val="tx1">
                  <a:shade val="95000"/>
                </a:schemeClr>
              </a:buClr>
              <a:buFont typeface="Wingdings 2"/>
              <a:buChar char=""/>
              <a:defRPr/>
            </a:pPr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A8E38F-DC12-0EA3-7329-7CFD07D16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altLang="ko-KR" sz="3000" b="1" dirty="0">
                <a:solidFill>
                  <a:srgbClr val="CC00CC"/>
                </a:solidFill>
                <a:ea typeface="+mn-ea"/>
                <a:cs typeface="+mn-cs"/>
              </a:rPr>
              <a:t>Internet based ICT in Agriculture using web applications</a:t>
            </a:r>
          </a:p>
        </p:txBody>
      </p:sp>
      <p:sp>
        <p:nvSpPr>
          <p:cNvPr id="25604" name="Slide Number Placeholder 4">
            <a:extLst>
              <a:ext uri="{FF2B5EF4-FFF2-40B4-BE49-F238E27FC236}">
                <a16:creationId xmlns:a16="http://schemas.microsoft.com/office/drawing/2014/main" id="{7DE0AF82-8F0E-1503-77C0-BEEE7197F2C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8CAF4E8-62A4-44F6-89D6-DE1343ABAA1C}" type="slidenum">
              <a:rPr lang="en-US" altLang="en-US">
                <a:solidFill>
                  <a:srgbClr val="898989"/>
                </a:solidFill>
              </a:rPr>
              <a:pPr/>
              <a:t>23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>
    <p:dissolv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3EC47-741B-B107-5E73-0F9B8B2E5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5471" y="1923112"/>
            <a:ext cx="11305206" cy="3718863"/>
          </a:xfrm>
        </p:spPr>
        <p:txBody>
          <a:bodyPr rtlCol="0">
            <a:noAutofit/>
          </a:bodyPr>
          <a:lstStyle/>
          <a:p>
            <a:pPr marL="548640" indent="-411480" algn="just">
              <a:lnSpc>
                <a:spcPct val="200000"/>
              </a:lnSpc>
              <a:buClr>
                <a:schemeClr val="tx1">
                  <a:shade val="95000"/>
                </a:schemeClr>
              </a:buClr>
              <a:buNone/>
              <a:defRPr/>
            </a:pPr>
            <a:r>
              <a:rPr kumimoji="1" lang="en-IN" sz="1800" b="1" dirty="0">
                <a:solidFill>
                  <a:srgbClr val="0000FF"/>
                </a:solidFill>
              </a:rPr>
              <a:t>	Green ICT refers to an approach in reducing the energy and other resources consumed and the  emissions and other waste produced across the ICT lifecycle – from manufacture, procurement and use of ICT in an organisation to its re-use and aims to improve environmental sustainability of organisations. Specifically, Green ICT as applied to the use of ICT resources aims to: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0BE5EA-AE7C-2D15-8A98-0F97F794F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altLang="ko-KR" sz="3000" b="1" dirty="0">
                <a:solidFill>
                  <a:srgbClr val="CC00CC"/>
                </a:solidFill>
                <a:ea typeface="+mn-ea"/>
                <a:cs typeface="+mn-cs"/>
              </a:rPr>
              <a:t>Green ICT</a:t>
            </a:r>
            <a:endParaRPr lang="en-IN" altLang="ko-KR" sz="3000" b="1" dirty="0">
              <a:solidFill>
                <a:srgbClr val="CC00CC"/>
              </a:solidFill>
              <a:ea typeface="+mn-ea"/>
              <a:cs typeface="+mn-cs"/>
            </a:endParaRPr>
          </a:p>
        </p:txBody>
      </p:sp>
      <p:sp>
        <p:nvSpPr>
          <p:cNvPr id="26628" name="Slide Number Placeholder 4">
            <a:extLst>
              <a:ext uri="{FF2B5EF4-FFF2-40B4-BE49-F238E27FC236}">
                <a16:creationId xmlns:a16="http://schemas.microsoft.com/office/drawing/2014/main" id="{E2F9E733-A0E5-D6F7-8B35-EF55BC091B9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B433C27-8427-42B4-859D-E3FEBD109B22}" type="slidenum">
              <a:rPr lang="en-US" altLang="en-US">
                <a:solidFill>
                  <a:srgbClr val="898989"/>
                </a:solidFill>
              </a:rPr>
              <a:pPr/>
              <a:t>24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>
    <p:dissolv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2CBF2-1323-D642-E662-69D36E98DD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543" y="1336430"/>
            <a:ext cx="12079458" cy="5019919"/>
          </a:xfrm>
        </p:spPr>
        <p:txBody>
          <a:bodyPr rtlCol="0">
            <a:noAutofit/>
          </a:bodyPr>
          <a:lstStyle/>
          <a:p>
            <a:pPr marL="548640" indent="-411480" algn="just">
              <a:lnSpc>
                <a:spcPct val="200000"/>
              </a:lnSpc>
              <a:buClr>
                <a:schemeClr val="tx1">
                  <a:shade val="95000"/>
                </a:schemeClr>
              </a:buClr>
              <a:buFont typeface="Wingdings 2"/>
              <a:buChar char=""/>
              <a:defRPr/>
            </a:pPr>
            <a:r>
              <a:rPr kumimoji="1" lang="en-IN" sz="2000" b="1" dirty="0">
                <a:solidFill>
                  <a:srgbClr val="0000FF"/>
                </a:solidFill>
              </a:rPr>
              <a:t>Reduce energy consumption and CO2 emissions during ICT use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Why it is Green ICT:</a:t>
            </a:r>
            <a:endParaRPr lang="en-US" sz="18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ICT systems consume electricity continuously during operation.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Reducing energy use directly lowers </a:t>
            </a:r>
            <a:r>
              <a:rPr lang="en-US" sz="1800" b="1" dirty="0">
                <a:solidFill>
                  <a:schemeClr val="tx1"/>
                </a:solidFill>
              </a:rPr>
              <a:t>CO₂ emissions</a:t>
            </a:r>
            <a:r>
              <a:rPr lang="en-US" sz="1800" dirty="0">
                <a:solidFill>
                  <a:schemeClr val="tx1"/>
                </a:solidFill>
              </a:rPr>
              <a:t>, especially in countries where electricity is generated from fossil fuels.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Achieved through: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Power-efficient hardware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Energy-aware software design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Smart power management policies</a:t>
            </a:r>
          </a:p>
          <a:p>
            <a:r>
              <a:rPr lang="en-US" sz="1800" dirty="0">
                <a:solidFill>
                  <a:schemeClr val="tx1"/>
                </a:solidFill>
              </a:rPr>
              <a:t>✅ </a:t>
            </a:r>
            <a:r>
              <a:rPr lang="en-US" sz="1800" b="1" dirty="0">
                <a:solidFill>
                  <a:schemeClr val="tx1"/>
                </a:solidFill>
              </a:rPr>
              <a:t>Green impact:</a:t>
            </a:r>
            <a:r>
              <a:rPr lang="en-US" sz="1800" dirty="0">
                <a:solidFill>
                  <a:schemeClr val="tx1"/>
                </a:solidFill>
              </a:rPr>
              <a:t> Cleaner energy use and reduced contribution to climate change.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A517A7-1852-1985-7131-57D30F635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17" y="400967"/>
            <a:ext cx="10515600" cy="668765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altLang="ko-KR" sz="3000" b="1" dirty="0">
                <a:solidFill>
                  <a:srgbClr val="CC00CC"/>
                </a:solidFill>
                <a:ea typeface="+mn-ea"/>
                <a:cs typeface="+mn-cs"/>
              </a:rPr>
              <a:t>Steps towards Green ICT</a:t>
            </a:r>
            <a:endParaRPr lang="en-IN" altLang="ko-KR" sz="3000" b="1" dirty="0">
              <a:solidFill>
                <a:srgbClr val="CC00CC"/>
              </a:solidFill>
              <a:ea typeface="+mn-ea"/>
              <a:cs typeface="+mn-cs"/>
            </a:endParaRPr>
          </a:p>
        </p:txBody>
      </p:sp>
      <p:sp>
        <p:nvSpPr>
          <p:cNvPr id="27652" name="Slide Number Placeholder 4">
            <a:extLst>
              <a:ext uri="{FF2B5EF4-FFF2-40B4-BE49-F238E27FC236}">
                <a16:creationId xmlns:a16="http://schemas.microsoft.com/office/drawing/2014/main" id="{046C616B-94C2-B6FC-B8A9-53C980AFE0B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E36A2E1-A25C-4BA4-BD84-7B742B7A45CE}" type="slidenum">
              <a:rPr lang="en-US" altLang="en-US">
                <a:solidFill>
                  <a:srgbClr val="898989"/>
                </a:solidFill>
              </a:rPr>
              <a:pPr/>
              <a:t>25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8620574"/>
      </p:ext>
    </p:extLst>
  </p:cSld>
  <p:clrMapOvr>
    <a:masterClrMapping/>
  </p:clrMapOvr>
  <p:transition>
    <p:dissolv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2CBF2-1323-D642-E662-69D36E98DD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543" y="1336430"/>
            <a:ext cx="12079458" cy="5019919"/>
          </a:xfrm>
        </p:spPr>
        <p:txBody>
          <a:bodyPr rtlCol="0">
            <a:noAutofit/>
          </a:bodyPr>
          <a:lstStyle/>
          <a:p>
            <a:pPr marL="548640" indent="-411480" algn="just">
              <a:lnSpc>
                <a:spcPct val="200000"/>
              </a:lnSpc>
              <a:buClr>
                <a:schemeClr val="tx1">
                  <a:shade val="95000"/>
                </a:schemeClr>
              </a:buClr>
              <a:buFont typeface="Wingdings 2"/>
              <a:buChar char=""/>
              <a:defRPr/>
            </a:pPr>
            <a:r>
              <a:rPr kumimoji="1" lang="en-IN" sz="2000" b="1" dirty="0">
                <a:solidFill>
                  <a:srgbClr val="0000FF"/>
                </a:solidFill>
              </a:rPr>
              <a:t>Reduce environmental impact of the disposal of ICT waste products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Why it is Green ICT:</a:t>
            </a:r>
            <a:endParaRPr lang="en-US" sz="18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ICT waste contains hazardous substances such as lead, cadmium, and mercury.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Poor disposal pollutes soil, water, and air.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Green ICT promotes: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Safe e-waste disposal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Recycling and material recovery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Environmentally compliant disposal standards</a:t>
            </a:r>
          </a:p>
          <a:p>
            <a:r>
              <a:rPr lang="en-US" sz="1800" dirty="0">
                <a:solidFill>
                  <a:schemeClr val="tx1"/>
                </a:solidFill>
              </a:rPr>
              <a:t>✅ </a:t>
            </a:r>
            <a:r>
              <a:rPr lang="en-US" sz="1800" b="1" dirty="0">
                <a:solidFill>
                  <a:schemeClr val="tx1"/>
                </a:solidFill>
              </a:rPr>
              <a:t>Green impact:</a:t>
            </a:r>
            <a:r>
              <a:rPr lang="en-US" sz="1800" dirty="0">
                <a:solidFill>
                  <a:schemeClr val="tx1"/>
                </a:solidFill>
              </a:rPr>
              <a:t> Protects ecosystems and human health while conserving raw materials.</a:t>
            </a:r>
            <a:endParaRPr kumimoji="1" lang="en-IN" sz="1800" b="1" dirty="0">
              <a:solidFill>
                <a:schemeClr val="tx1"/>
              </a:solidFill>
            </a:endParaRPr>
          </a:p>
          <a:p>
            <a:pPr marL="548640" indent="-411480" algn="just">
              <a:lnSpc>
                <a:spcPct val="200000"/>
              </a:lnSpc>
              <a:buClr>
                <a:schemeClr val="tx1">
                  <a:shade val="95000"/>
                </a:schemeClr>
              </a:buClr>
              <a:buNone/>
              <a:defRPr/>
            </a:pPr>
            <a:r>
              <a:rPr kumimoji="1" lang="en-IN" sz="2000" b="1" dirty="0">
                <a:solidFill>
                  <a:srgbClr val="0000FF"/>
                </a:solidFill>
              </a:rPr>
              <a:t>In addition to the above, Green ICT also explores how ICT applications can be used to help other sectors conserve and optimise energy usage.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A517A7-1852-1985-7131-57D30F635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17" y="400967"/>
            <a:ext cx="10515600" cy="668765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altLang="ko-KR" sz="3000" b="1" dirty="0">
                <a:solidFill>
                  <a:srgbClr val="CC00CC"/>
                </a:solidFill>
                <a:ea typeface="+mn-ea"/>
                <a:cs typeface="+mn-cs"/>
              </a:rPr>
              <a:t>Steps towards Green ICT</a:t>
            </a:r>
            <a:endParaRPr lang="en-IN" altLang="ko-KR" sz="3000" b="1" dirty="0">
              <a:solidFill>
                <a:srgbClr val="CC00CC"/>
              </a:solidFill>
              <a:ea typeface="+mn-ea"/>
              <a:cs typeface="+mn-cs"/>
            </a:endParaRPr>
          </a:p>
        </p:txBody>
      </p:sp>
      <p:sp>
        <p:nvSpPr>
          <p:cNvPr id="27652" name="Slide Number Placeholder 4">
            <a:extLst>
              <a:ext uri="{FF2B5EF4-FFF2-40B4-BE49-F238E27FC236}">
                <a16:creationId xmlns:a16="http://schemas.microsoft.com/office/drawing/2014/main" id="{046C616B-94C2-B6FC-B8A9-53C980AFE0B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E36A2E1-A25C-4BA4-BD84-7B742B7A45CE}" type="slidenum">
              <a:rPr lang="en-US" altLang="en-US">
                <a:solidFill>
                  <a:srgbClr val="898989"/>
                </a:solidFill>
              </a:rPr>
              <a:pPr/>
              <a:t>26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4148702"/>
      </p:ext>
    </p:extLst>
  </p:cSld>
  <p:clrMapOvr>
    <a:masterClrMapping/>
  </p:clrMapOvr>
  <p:transition>
    <p:dissolv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2CBF2-1323-D642-E662-69D36E98DD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543" y="1336430"/>
            <a:ext cx="12079458" cy="5019919"/>
          </a:xfrm>
        </p:spPr>
        <p:txBody>
          <a:bodyPr rtlCol="0">
            <a:noAutofit/>
          </a:bodyPr>
          <a:lstStyle/>
          <a:p>
            <a:pPr marL="548640" indent="-411480">
              <a:lnSpc>
                <a:spcPct val="200000"/>
              </a:lnSpc>
              <a:buClr>
                <a:schemeClr val="tx1">
                  <a:shade val="95000"/>
                </a:schemeClr>
              </a:buClr>
              <a:buFont typeface="Wingdings 2"/>
              <a:buChar char=""/>
              <a:defRPr/>
            </a:pPr>
            <a:r>
              <a:rPr kumimoji="1" lang="en-IN" sz="1700" b="1" dirty="0">
                <a:solidFill>
                  <a:srgbClr val="0000FF"/>
                </a:solidFill>
              </a:rPr>
              <a:t>Reducing Power Consumption of ICT </a:t>
            </a:r>
            <a:r>
              <a:rPr kumimoji="1" lang="en-IN" sz="1700" b="1" dirty="0" err="1">
                <a:solidFill>
                  <a:srgbClr val="0000FF"/>
                </a:solidFill>
              </a:rPr>
              <a:t>equipments</a:t>
            </a:r>
            <a:r>
              <a:rPr kumimoji="1" lang="en-IN" sz="1700" b="1" dirty="0">
                <a:solidFill>
                  <a:srgbClr val="0000FF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ICT equipment (computers, servers, routers) consume large amounts of electricity.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Reducing power usage lowers: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Carbon emissions from power generation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Operating costs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Techniques include: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Power management settings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Energy-efficient hardware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Switching off idle devices</a:t>
            </a:r>
          </a:p>
          <a:p>
            <a:r>
              <a:rPr lang="en-US" sz="2000" dirty="0">
                <a:solidFill>
                  <a:schemeClr val="tx1"/>
                </a:solidFill>
              </a:rPr>
              <a:t>Green impact: Less energy use = smaller carbon footprint.</a:t>
            </a:r>
            <a:endParaRPr kumimoji="1" lang="en-IN" sz="20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A517A7-1852-1985-7131-57D30F635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17" y="400967"/>
            <a:ext cx="10515600" cy="668765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altLang="ko-KR" sz="3000" b="1" dirty="0">
                <a:solidFill>
                  <a:srgbClr val="CC00CC"/>
                </a:solidFill>
                <a:ea typeface="+mn-ea"/>
                <a:cs typeface="+mn-cs"/>
              </a:rPr>
              <a:t>Steps towards Green ICT</a:t>
            </a:r>
            <a:endParaRPr lang="en-IN" altLang="ko-KR" sz="3000" b="1" dirty="0">
              <a:solidFill>
                <a:srgbClr val="CC00CC"/>
              </a:solidFill>
              <a:ea typeface="+mn-ea"/>
              <a:cs typeface="+mn-cs"/>
            </a:endParaRPr>
          </a:p>
        </p:txBody>
      </p:sp>
      <p:sp>
        <p:nvSpPr>
          <p:cNvPr id="27652" name="Slide Number Placeholder 4">
            <a:extLst>
              <a:ext uri="{FF2B5EF4-FFF2-40B4-BE49-F238E27FC236}">
                <a16:creationId xmlns:a16="http://schemas.microsoft.com/office/drawing/2014/main" id="{046C616B-94C2-B6FC-B8A9-53C980AFE0B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E36A2E1-A25C-4BA4-BD84-7B742B7A45CE}" type="slidenum">
              <a:rPr lang="en-US" altLang="en-US">
                <a:solidFill>
                  <a:srgbClr val="898989"/>
                </a:solidFill>
              </a:rPr>
              <a:pPr/>
              <a:t>27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>
    <p:dissolv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2CBF2-1323-D642-E662-69D36E98DD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543" y="1336430"/>
            <a:ext cx="12079458" cy="5019919"/>
          </a:xfrm>
        </p:spPr>
        <p:txBody>
          <a:bodyPr rtlCol="0">
            <a:noAutofit/>
          </a:bodyPr>
          <a:lstStyle/>
          <a:p>
            <a:pPr marL="548640" indent="-411480">
              <a:lnSpc>
                <a:spcPct val="200000"/>
              </a:lnSpc>
              <a:buClr>
                <a:schemeClr val="tx1">
                  <a:shade val="95000"/>
                </a:schemeClr>
              </a:buClr>
              <a:buFont typeface="Wingdings 2"/>
              <a:buChar char=""/>
              <a:defRPr/>
            </a:pPr>
            <a:r>
              <a:rPr kumimoji="1" lang="en-IN" sz="1700" b="1" dirty="0">
                <a:solidFill>
                  <a:srgbClr val="0000FF"/>
                </a:solidFill>
              </a:rPr>
              <a:t>Going Paperless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Why it is Green ICT:</a:t>
            </a:r>
            <a:endParaRPr lang="en-US" sz="18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Digital documents replace paper-based processes.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Reduces: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Tree cutting (deforestation)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Printing ink waste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Physical storage needs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Examples: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E-mails instead of letters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E-forms and digital records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Online submissions and e-signatures</a:t>
            </a:r>
          </a:p>
          <a:p>
            <a:r>
              <a:rPr lang="en-US" sz="1800" dirty="0">
                <a:solidFill>
                  <a:schemeClr val="tx1"/>
                </a:solidFill>
              </a:rPr>
              <a:t>✅ </a:t>
            </a:r>
            <a:r>
              <a:rPr lang="en-US" sz="1800" b="1" dirty="0">
                <a:solidFill>
                  <a:schemeClr val="tx1"/>
                </a:solidFill>
              </a:rPr>
              <a:t>Green impact:</a:t>
            </a:r>
            <a:r>
              <a:rPr lang="en-US" sz="1800" dirty="0">
                <a:solidFill>
                  <a:schemeClr val="tx1"/>
                </a:solidFill>
              </a:rPr>
              <a:t> Conserves natural resources and reduces waste.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A517A7-1852-1985-7131-57D30F635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17" y="400967"/>
            <a:ext cx="10515600" cy="668765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altLang="ko-KR" sz="3000" b="1" dirty="0">
                <a:solidFill>
                  <a:srgbClr val="CC00CC"/>
                </a:solidFill>
                <a:ea typeface="+mn-ea"/>
                <a:cs typeface="+mn-cs"/>
              </a:rPr>
              <a:t>Steps towards Green ICT</a:t>
            </a:r>
            <a:endParaRPr lang="en-IN" altLang="ko-KR" sz="3000" b="1" dirty="0">
              <a:solidFill>
                <a:srgbClr val="CC00CC"/>
              </a:solidFill>
              <a:ea typeface="+mn-ea"/>
              <a:cs typeface="+mn-cs"/>
            </a:endParaRPr>
          </a:p>
        </p:txBody>
      </p:sp>
      <p:sp>
        <p:nvSpPr>
          <p:cNvPr id="27652" name="Slide Number Placeholder 4">
            <a:extLst>
              <a:ext uri="{FF2B5EF4-FFF2-40B4-BE49-F238E27FC236}">
                <a16:creationId xmlns:a16="http://schemas.microsoft.com/office/drawing/2014/main" id="{046C616B-94C2-B6FC-B8A9-53C980AFE0B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E36A2E1-A25C-4BA4-BD84-7B742B7A45CE}" type="slidenum">
              <a:rPr lang="en-US" altLang="en-US">
                <a:solidFill>
                  <a:srgbClr val="898989"/>
                </a:solidFill>
              </a:rPr>
              <a:pPr/>
              <a:t>28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3288036"/>
      </p:ext>
    </p:extLst>
  </p:cSld>
  <p:clrMapOvr>
    <a:masterClrMapping/>
  </p:clrMapOvr>
  <p:transition>
    <p:dissolv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2CBF2-1323-D642-E662-69D36E98DD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543" y="1336430"/>
            <a:ext cx="12079458" cy="5019919"/>
          </a:xfrm>
        </p:spPr>
        <p:txBody>
          <a:bodyPr rtlCol="0">
            <a:noAutofit/>
          </a:bodyPr>
          <a:lstStyle/>
          <a:p>
            <a:pPr marL="548640" indent="-411480">
              <a:lnSpc>
                <a:spcPct val="200000"/>
              </a:lnSpc>
              <a:buClr>
                <a:schemeClr val="tx1">
                  <a:shade val="95000"/>
                </a:schemeClr>
              </a:buClr>
              <a:buFont typeface="Wingdings 2"/>
              <a:buChar char=""/>
              <a:defRPr/>
            </a:pPr>
            <a:r>
              <a:rPr kumimoji="1" lang="en-IN" sz="1700" b="1" dirty="0">
                <a:solidFill>
                  <a:srgbClr val="0000FF"/>
                </a:solidFill>
              </a:rPr>
              <a:t>Buying Energy-efficient ICT </a:t>
            </a:r>
            <a:r>
              <a:rPr kumimoji="1" lang="en-IN" sz="1700" b="1" dirty="0" err="1">
                <a:solidFill>
                  <a:srgbClr val="0000FF"/>
                </a:solidFill>
              </a:rPr>
              <a:t>equipments</a:t>
            </a:r>
            <a:endParaRPr kumimoji="1" lang="en-IN" sz="1700" b="1" dirty="0">
              <a:solidFill>
                <a:srgbClr val="0000FF"/>
              </a:solidFill>
            </a:endParaRPr>
          </a:p>
          <a:p>
            <a:r>
              <a:rPr lang="en-US" sz="1800" b="1" dirty="0">
                <a:solidFill>
                  <a:schemeClr val="tx1"/>
                </a:solidFill>
              </a:rPr>
              <a:t>Why it is Green ICT:</a:t>
            </a:r>
            <a:endParaRPr lang="en-US" sz="18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Energy-efficient devices consume less electricity for the same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Examples: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ENERGY STAR–certified computers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Low-power servers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LED monitors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Also generate less heat, reducing cooling requirements.</a:t>
            </a:r>
          </a:p>
          <a:p>
            <a:r>
              <a:rPr lang="en-US" sz="1800" dirty="0">
                <a:solidFill>
                  <a:schemeClr val="tx1"/>
                </a:solidFill>
              </a:rPr>
              <a:t>✅ </a:t>
            </a:r>
            <a:r>
              <a:rPr lang="en-US" sz="1800" b="1" dirty="0">
                <a:solidFill>
                  <a:schemeClr val="tx1"/>
                </a:solidFill>
              </a:rPr>
              <a:t>Green impact:</a:t>
            </a:r>
            <a:r>
              <a:rPr lang="en-US" sz="1800" dirty="0">
                <a:solidFill>
                  <a:schemeClr val="tx1"/>
                </a:solidFill>
              </a:rPr>
              <a:t> Lower energy demand and reduced greenhouse gas emissions.</a:t>
            </a:r>
          </a:p>
          <a:p>
            <a:pPr marL="137160">
              <a:lnSpc>
                <a:spcPct val="200000"/>
              </a:lnSpc>
              <a:buClr>
                <a:schemeClr val="tx1">
                  <a:shade val="95000"/>
                </a:schemeClr>
              </a:buClr>
              <a:defRPr/>
            </a:pPr>
            <a:endParaRPr kumimoji="1" lang="en-IN" sz="1200" b="1" dirty="0">
              <a:solidFill>
                <a:srgbClr val="0000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A517A7-1852-1985-7131-57D30F635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17" y="400967"/>
            <a:ext cx="10515600" cy="668765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altLang="ko-KR" sz="3000" b="1" dirty="0">
                <a:solidFill>
                  <a:srgbClr val="CC00CC"/>
                </a:solidFill>
                <a:ea typeface="+mn-ea"/>
                <a:cs typeface="+mn-cs"/>
              </a:rPr>
              <a:t>Steps towards Green ICT</a:t>
            </a:r>
            <a:endParaRPr lang="en-IN" altLang="ko-KR" sz="3000" b="1" dirty="0">
              <a:solidFill>
                <a:srgbClr val="CC00CC"/>
              </a:solidFill>
              <a:ea typeface="+mn-ea"/>
              <a:cs typeface="+mn-cs"/>
            </a:endParaRPr>
          </a:p>
        </p:txBody>
      </p:sp>
      <p:sp>
        <p:nvSpPr>
          <p:cNvPr id="27652" name="Slide Number Placeholder 4">
            <a:extLst>
              <a:ext uri="{FF2B5EF4-FFF2-40B4-BE49-F238E27FC236}">
                <a16:creationId xmlns:a16="http://schemas.microsoft.com/office/drawing/2014/main" id="{046C616B-94C2-B6FC-B8A9-53C980AFE0B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E36A2E1-A25C-4BA4-BD84-7B742B7A45CE}" type="slidenum">
              <a:rPr lang="en-US" altLang="en-US">
                <a:solidFill>
                  <a:srgbClr val="898989"/>
                </a:solidFill>
              </a:rPr>
              <a:pPr/>
              <a:t>29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6225468"/>
      </p:ext>
    </p:extLst>
  </p:cSld>
  <p:clrMapOvr>
    <a:masterClrMapping/>
  </p:clrMapOvr>
  <p:transition>
    <p:dissolv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2CBF2-1323-D642-E662-69D36E98DD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543" y="1336430"/>
            <a:ext cx="12079458" cy="5019919"/>
          </a:xfrm>
        </p:spPr>
        <p:txBody>
          <a:bodyPr rtlCol="0">
            <a:noAutofit/>
          </a:bodyPr>
          <a:lstStyle/>
          <a:p>
            <a:pPr marL="548640" indent="-411480">
              <a:lnSpc>
                <a:spcPct val="200000"/>
              </a:lnSpc>
              <a:buClr>
                <a:schemeClr val="tx1">
                  <a:shade val="95000"/>
                </a:schemeClr>
              </a:buClr>
              <a:buFont typeface="Wingdings 2"/>
              <a:buChar char=""/>
              <a:defRPr/>
            </a:pPr>
            <a:r>
              <a:rPr kumimoji="1" lang="en-IN" sz="1700" b="1" dirty="0">
                <a:solidFill>
                  <a:srgbClr val="0000FF"/>
                </a:solidFill>
              </a:rPr>
              <a:t>Disposal, Re-use and Recycling ICT </a:t>
            </a:r>
            <a:r>
              <a:rPr kumimoji="1" lang="en-IN" sz="1700" b="1" dirty="0" err="1">
                <a:solidFill>
                  <a:srgbClr val="0000FF"/>
                </a:solidFill>
              </a:rPr>
              <a:t>Equipments</a:t>
            </a:r>
            <a:endParaRPr kumimoji="1" lang="en-IN" sz="1700" b="1" dirty="0">
              <a:solidFill>
                <a:srgbClr val="0000FF"/>
              </a:solidFill>
            </a:endParaRPr>
          </a:p>
          <a:p>
            <a:r>
              <a:rPr lang="en-US" sz="1800" b="1" dirty="0">
                <a:solidFill>
                  <a:schemeClr val="tx1"/>
                </a:solidFill>
              </a:rPr>
              <a:t>Why it is Green ICT:</a:t>
            </a:r>
            <a:endParaRPr lang="en-US" sz="18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Improper disposal of ICT devices causes toxic pollution (lead, mercury).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Re-use extends device lifespan.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Recycling recovers valuable materials (copper, gold).</a:t>
            </a:r>
          </a:p>
          <a:p>
            <a:r>
              <a:rPr lang="en-US" sz="1800" dirty="0">
                <a:solidFill>
                  <a:schemeClr val="tx1"/>
                </a:solidFill>
              </a:rPr>
              <a:t>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Donating old computers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Refurbishing devices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Certified e-waste recycling programs</a:t>
            </a:r>
          </a:p>
          <a:p>
            <a:r>
              <a:rPr lang="en-US" sz="1800" dirty="0">
                <a:solidFill>
                  <a:schemeClr val="tx1"/>
                </a:solidFill>
              </a:rPr>
              <a:t>✅ </a:t>
            </a:r>
            <a:r>
              <a:rPr lang="en-US" sz="1800" b="1" dirty="0">
                <a:solidFill>
                  <a:schemeClr val="tx1"/>
                </a:solidFill>
              </a:rPr>
              <a:t>Green impact:</a:t>
            </a:r>
            <a:r>
              <a:rPr lang="en-US" sz="1800" dirty="0">
                <a:solidFill>
                  <a:schemeClr val="tx1"/>
                </a:solidFill>
              </a:rPr>
              <a:t> Reduces e-waste and environmental contamination.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A517A7-1852-1985-7131-57D30F635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17" y="400967"/>
            <a:ext cx="10515600" cy="668765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altLang="ko-KR" sz="3000" b="1" dirty="0">
                <a:solidFill>
                  <a:srgbClr val="CC00CC"/>
                </a:solidFill>
                <a:ea typeface="+mn-ea"/>
                <a:cs typeface="+mn-cs"/>
              </a:rPr>
              <a:t>Steps towards Green ICT</a:t>
            </a:r>
            <a:endParaRPr lang="en-IN" altLang="ko-KR" sz="3000" b="1" dirty="0">
              <a:solidFill>
                <a:srgbClr val="CC00CC"/>
              </a:solidFill>
              <a:ea typeface="+mn-ea"/>
              <a:cs typeface="+mn-cs"/>
            </a:endParaRPr>
          </a:p>
        </p:txBody>
      </p:sp>
      <p:sp>
        <p:nvSpPr>
          <p:cNvPr id="27652" name="Slide Number Placeholder 4">
            <a:extLst>
              <a:ext uri="{FF2B5EF4-FFF2-40B4-BE49-F238E27FC236}">
                <a16:creationId xmlns:a16="http://schemas.microsoft.com/office/drawing/2014/main" id="{046C616B-94C2-B6FC-B8A9-53C980AFE0B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E36A2E1-A25C-4BA4-BD84-7B742B7A45CE}" type="slidenum">
              <a:rPr lang="en-US" altLang="en-US">
                <a:solidFill>
                  <a:srgbClr val="898989"/>
                </a:solidFill>
              </a:rPr>
              <a:pPr/>
              <a:t>30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3645211"/>
      </p:ext>
    </p:extLst>
  </p:cSld>
  <p:clrMapOvr>
    <a:masterClrMapping/>
  </p:clrMapOvr>
  <p:transition>
    <p:dissolv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2CBF2-1323-D642-E662-69D36E98DD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543" y="1336430"/>
            <a:ext cx="12079458" cy="5019919"/>
          </a:xfrm>
        </p:spPr>
        <p:txBody>
          <a:bodyPr rtlCol="0">
            <a:noAutofit/>
          </a:bodyPr>
          <a:lstStyle/>
          <a:p>
            <a:pPr marL="548640" indent="-411480">
              <a:lnSpc>
                <a:spcPct val="200000"/>
              </a:lnSpc>
              <a:buClr>
                <a:schemeClr val="tx1">
                  <a:shade val="95000"/>
                </a:schemeClr>
              </a:buClr>
              <a:buFont typeface="Wingdings 2"/>
              <a:buChar char=""/>
              <a:defRPr/>
            </a:pPr>
            <a:r>
              <a:rPr kumimoji="1" lang="en-IN" sz="1700" b="1" dirty="0">
                <a:solidFill>
                  <a:srgbClr val="0000FF"/>
                </a:solidFill>
              </a:rPr>
              <a:t>Server Optimisation and Virtualisation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Why it is Green ICT:</a:t>
            </a:r>
            <a:endParaRPr lang="en-US" sz="18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Traditional servers often operate below capacity.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tx1"/>
                </a:solidFill>
              </a:rPr>
              <a:t>Virtualisation</a:t>
            </a:r>
            <a:r>
              <a:rPr lang="en-US" sz="1800" dirty="0">
                <a:solidFill>
                  <a:schemeClr val="tx1"/>
                </a:solidFill>
              </a:rPr>
              <a:t> allows multiple systems to run on one physical server.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Benefits: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Fewer servers needed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Lower energy and cooling costs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Reduced hardware purchases</a:t>
            </a:r>
          </a:p>
          <a:p>
            <a:r>
              <a:rPr lang="en-US" sz="1800" dirty="0">
                <a:solidFill>
                  <a:schemeClr val="tx1"/>
                </a:solidFill>
              </a:rPr>
              <a:t>✅ </a:t>
            </a:r>
            <a:r>
              <a:rPr lang="en-US" sz="1800" b="1" dirty="0">
                <a:solidFill>
                  <a:schemeClr val="tx1"/>
                </a:solidFill>
              </a:rPr>
              <a:t>Green impact:</a:t>
            </a:r>
            <a:r>
              <a:rPr lang="en-US" sz="1800" dirty="0">
                <a:solidFill>
                  <a:schemeClr val="tx1"/>
                </a:solidFill>
              </a:rPr>
              <a:t> Efficient resource utilization and reduced emissions.</a:t>
            </a:r>
            <a:endParaRPr kumimoji="1" lang="en-IN" sz="1700" b="1" dirty="0">
              <a:solidFill>
                <a:srgbClr val="0000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A517A7-1852-1985-7131-57D30F635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17" y="400967"/>
            <a:ext cx="10515600" cy="668765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altLang="ko-KR" sz="3000" b="1" dirty="0">
                <a:solidFill>
                  <a:srgbClr val="CC00CC"/>
                </a:solidFill>
                <a:ea typeface="+mn-ea"/>
                <a:cs typeface="+mn-cs"/>
              </a:rPr>
              <a:t>Steps towards Green ICT</a:t>
            </a:r>
            <a:endParaRPr lang="en-IN" altLang="ko-KR" sz="3000" b="1" dirty="0">
              <a:solidFill>
                <a:srgbClr val="CC00CC"/>
              </a:solidFill>
              <a:ea typeface="+mn-ea"/>
              <a:cs typeface="+mn-cs"/>
            </a:endParaRPr>
          </a:p>
        </p:txBody>
      </p:sp>
      <p:sp>
        <p:nvSpPr>
          <p:cNvPr id="27652" name="Slide Number Placeholder 4">
            <a:extLst>
              <a:ext uri="{FF2B5EF4-FFF2-40B4-BE49-F238E27FC236}">
                <a16:creationId xmlns:a16="http://schemas.microsoft.com/office/drawing/2014/main" id="{046C616B-94C2-B6FC-B8A9-53C980AFE0B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E36A2E1-A25C-4BA4-BD84-7B742B7A45CE}" type="slidenum">
              <a:rPr lang="en-US" altLang="en-US">
                <a:solidFill>
                  <a:srgbClr val="898989"/>
                </a:solidFill>
              </a:rPr>
              <a:pPr/>
              <a:t>31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626876"/>
      </p:ext>
    </p:extLst>
  </p:cSld>
  <p:clrMapOvr>
    <a:masterClrMapping/>
  </p:clrMapOvr>
  <p:transition>
    <p:dissolv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2CBF2-1323-D642-E662-69D36E98DD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543" y="1336430"/>
            <a:ext cx="12079458" cy="5019919"/>
          </a:xfrm>
        </p:spPr>
        <p:txBody>
          <a:bodyPr rtlCol="0">
            <a:noAutofit/>
          </a:bodyPr>
          <a:lstStyle/>
          <a:p>
            <a:pPr marL="548640" indent="-411480">
              <a:lnSpc>
                <a:spcPct val="200000"/>
              </a:lnSpc>
              <a:buClr>
                <a:schemeClr val="tx1">
                  <a:shade val="95000"/>
                </a:schemeClr>
              </a:buClr>
              <a:buFont typeface="Wingdings 2"/>
              <a:buChar char=""/>
              <a:defRPr/>
            </a:pPr>
            <a:r>
              <a:rPr kumimoji="1" lang="en-IN" sz="2000" b="1" dirty="0">
                <a:solidFill>
                  <a:srgbClr val="0000FF"/>
                </a:solidFill>
              </a:rPr>
              <a:t>Indirect ICT Savings (Tele Conferencing, Web Conferencing, Video Conferencing)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Why it is Green ICT: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ICT enables other sectors to reduce environmental impact indirectly.</a:t>
            </a:r>
          </a:p>
          <a:p>
            <a:r>
              <a:rPr lang="en-US" sz="1800" dirty="0">
                <a:solidFill>
                  <a:schemeClr val="tx1"/>
                </a:solidFill>
              </a:rPr>
              <a:t>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Video conferencing reduces travel emissions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Online shopping reduces transportation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Remote work lowers office energy use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Smart grids optimize electricity usage</a:t>
            </a:r>
          </a:p>
          <a:p>
            <a:r>
              <a:rPr lang="en-US" sz="1800" dirty="0">
                <a:solidFill>
                  <a:schemeClr val="tx1"/>
                </a:solidFill>
              </a:rPr>
              <a:t>✅ </a:t>
            </a:r>
            <a:r>
              <a:rPr lang="en-US" sz="1800" b="1" dirty="0">
                <a:solidFill>
                  <a:schemeClr val="tx1"/>
                </a:solidFill>
              </a:rPr>
              <a:t>Green impact:</a:t>
            </a:r>
            <a:r>
              <a:rPr lang="en-US" sz="1800" dirty="0">
                <a:solidFill>
                  <a:schemeClr val="tx1"/>
                </a:solidFill>
              </a:rPr>
              <a:t> ICT helps other industries become greener.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A517A7-1852-1985-7131-57D30F635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17" y="400967"/>
            <a:ext cx="10515600" cy="668765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altLang="ko-KR" sz="3000" b="1" dirty="0">
                <a:solidFill>
                  <a:srgbClr val="CC00CC"/>
                </a:solidFill>
                <a:ea typeface="+mn-ea"/>
                <a:cs typeface="+mn-cs"/>
              </a:rPr>
              <a:t>Steps towards Green ICT</a:t>
            </a:r>
            <a:endParaRPr lang="en-IN" altLang="ko-KR" sz="3000" b="1" dirty="0">
              <a:solidFill>
                <a:srgbClr val="CC00CC"/>
              </a:solidFill>
              <a:ea typeface="+mn-ea"/>
              <a:cs typeface="+mn-cs"/>
            </a:endParaRPr>
          </a:p>
        </p:txBody>
      </p:sp>
      <p:sp>
        <p:nvSpPr>
          <p:cNvPr id="27652" name="Slide Number Placeholder 4">
            <a:extLst>
              <a:ext uri="{FF2B5EF4-FFF2-40B4-BE49-F238E27FC236}">
                <a16:creationId xmlns:a16="http://schemas.microsoft.com/office/drawing/2014/main" id="{046C616B-94C2-B6FC-B8A9-53C980AFE0B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E36A2E1-A25C-4BA4-BD84-7B742B7A45CE}" type="slidenum">
              <a:rPr lang="en-US" altLang="en-US">
                <a:solidFill>
                  <a:srgbClr val="898989"/>
                </a:solidFill>
              </a:rPr>
              <a:pPr/>
              <a:t>32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8805429"/>
      </p:ext>
    </p:extLst>
  </p:cSld>
  <p:clrMapOvr>
    <a:masterClrMapping/>
  </p:clrMapOvr>
  <p:transition>
    <p:dissolv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5">
            <a:extLst>
              <a:ext uri="{FF2B5EF4-FFF2-40B4-BE49-F238E27FC236}">
                <a16:creationId xmlns:a16="http://schemas.microsoft.com/office/drawing/2014/main" id="{088B4D1C-83ED-47DC-6990-B4669A8C40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5326" y="1789113"/>
            <a:ext cx="75596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826" tIns="44412" rIns="88826" bIns="44412">
            <a:spAutoFit/>
          </a:bodyPr>
          <a:lstStyle>
            <a:lvl1pPr defTabSz="889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9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9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9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9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9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9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9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9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29FE3A0-41EE-4EE9-8DBC-9E3BFEFE1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altLang="ko-KR" sz="3000" b="1" dirty="0">
                <a:solidFill>
                  <a:srgbClr val="CC00CC"/>
                </a:solidFill>
                <a:ea typeface="+mn-ea"/>
                <a:cs typeface="+mn-cs"/>
              </a:rPr>
              <a:t>Our Commitment</a:t>
            </a:r>
          </a:p>
        </p:txBody>
      </p:sp>
      <p:sp>
        <p:nvSpPr>
          <p:cNvPr id="28677" name="Slide Number Placeholder 5">
            <a:extLst>
              <a:ext uri="{FF2B5EF4-FFF2-40B4-BE49-F238E27FC236}">
                <a16:creationId xmlns:a16="http://schemas.microsoft.com/office/drawing/2014/main" id="{2D3C491C-F7D9-A8F9-9FF8-5796F67023B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4BB5B77-C516-439B-B1AF-956737288D88}" type="slidenum">
              <a:rPr lang="en-US" altLang="en-US">
                <a:solidFill>
                  <a:srgbClr val="898989"/>
                </a:solidFill>
              </a:rPr>
              <a:pPr/>
              <a:t>33</a:t>
            </a:fld>
            <a:endParaRPr lang="en-US" altLang="en-US">
              <a:solidFill>
                <a:srgbClr val="898989"/>
              </a:solidFill>
            </a:endParaRPr>
          </a:p>
        </p:txBody>
      </p:sp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608998C6-D9BC-4F71-B9EC-77978DA7D6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0743980"/>
              </p:ext>
            </p:extLst>
          </p:nvPr>
        </p:nvGraphicFramePr>
        <p:xfrm>
          <a:off x="1681163" y="1560324"/>
          <a:ext cx="8128000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7646130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8543970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Practice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Green ICT Contribution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2229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Reduced energy use during ICT operations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Cuts CO₂ emissions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2949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Eco-friendly ICT waste disposal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Prevents environmental pollution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902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Reduced power consumption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Lowers energy 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0836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Paperless operations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Saves natural resources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1184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Energy-efficient equipment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Reduces electricity demand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873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Reuse &amp; recycling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Minimizes e-waste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0916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Server optimization &amp; virtualization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Improves resource efficiency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0778144"/>
                  </a:ext>
                </a:extLst>
              </a:tr>
            </a:tbl>
          </a:graphicData>
        </a:graphic>
      </p:graphicFrame>
      <p:graphicFrame>
        <p:nvGraphicFramePr>
          <p:cNvPr id="14" name="Table 14">
            <a:extLst>
              <a:ext uri="{FF2B5EF4-FFF2-40B4-BE49-F238E27FC236}">
                <a16:creationId xmlns:a16="http://schemas.microsoft.com/office/drawing/2014/main" id="{03507A29-E375-492F-B18B-B84B591F88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3692335"/>
              </p:ext>
            </p:extLst>
          </p:nvPr>
        </p:nvGraphicFramePr>
        <p:xfrm>
          <a:off x="1681163" y="4796284"/>
          <a:ext cx="8128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5331175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9581643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Indirect ICT savings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Reduces emissions across sectors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9404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9495255"/>
      </p:ext>
    </p:extLst>
  </p:cSld>
  <p:clrMapOvr>
    <a:masterClrMapping/>
  </p:clrMapOvr>
  <p:transition>
    <p:dissolv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5">
            <a:extLst>
              <a:ext uri="{FF2B5EF4-FFF2-40B4-BE49-F238E27FC236}">
                <a16:creationId xmlns:a16="http://schemas.microsoft.com/office/drawing/2014/main" id="{088B4D1C-83ED-47DC-6990-B4669A8C40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5326" y="1789113"/>
            <a:ext cx="75596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826" tIns="44412" rIns="88826" bIns="44412">
            <a:spAutoFit/>
          </a:bodyPr>
          <a:lstStyle>
            <a:lvl1pPr defTabSz="889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9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9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9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9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9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9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9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9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C638C68-982B-E2A9-70B8-C4819BF2D0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marL="548640" indent="-411480">
              <a:buClr>
                <a:schemeClr val="tx1">
                  <a:shade val="95000"/>
                </a:schemeClr>
              </a:buClr>
              <a:buNone/>
              <a:defRPr/>
            </a:pPr>
            <a:r>
              <a:rPr kumimoji="1" lang="en-US" sz="2200" b="1" dirty="0">
                <a:solidFill>
                  <a:srgbClr val="0000FF"/>
                </a:solidFill>
              </a:rPr>
              <a:t>Accelerating Our Daily life activities  by </a:t>
            </a:r>
          </a:p>
          <a:p>
            <a:pPr marL="548640" indent="-411480">
              <a:buClr>
                <a:schemeClr val="tx1">
                  <a:shade val="95000"/>
                </a:schemeClr>
              </a:buClr>
              <a:buNone/>
              <a:defRPr/>
            </a:pPr>
            <a:r>
              <a:rPr kumimoji="1" lang="en-US" sz="2200" b="1" dirty="0">
                <a:solidFill>
                  <a:srgbClr val="0000FF"/>
                </a:solidFill>
              </a:rPr>
              <a:t>       Convergence of Technologies &amp; Sharing of    </a:t>
            </a:r>
          </a:p>
          <a:p>
            <a:pPr marL="548640" indent="-411480">
              <a:buClr>
                <a:schemeClr val="tx1">
                  <a:shade val="95000"/>
                </a:schemeClr>
              </a:buClr>
              <a:buNone/>
              <a:defRPr/>
            </a:pPr>
            <a:r>
              <a:rPr kumimoji="1" lang="en-US" sz="2200" b="1" dirty="0">
                <a:solidFill>
                  <a:srgbClr val="0000FF"/>
                </a:solidFill>
              </a:rPr>
              <a:t>               Experiences and Resources.</a:t>
            </a:r>
          </a:p>
          <a:p>
            <a:pPr marL="0" indent="0">
              <a:buClr>
                <a:schemeClr val="tx1">
                  <a:shade val="95000"/>
                </a:schemeClr>
              </a:buClr>
              <a:buNone/>
              <a:defRPr/>
            </a:pPr>
            <a:endParaRPr lang="en-US" b="1" dirty="0"/>
          </a:p>
          <a:p>
            <a:pPr marL="548640" indent="-411480" algn="ctr">
              <a:buClr>
                <a:schemeClr val="tx1">
                  <a:shade val="95000"/>
                </a:schemeClr>
              </a:buClr>
              <a:buNone/>
              <a:defRPr/>
            </a:pPr>
            <a:r>
              <a:rPr lang="en-IN" b="1" dirty="0">
                <a:solidFill>
                  <a:srgbClr val="00B050"/>
                </a:solidFill>
              </a:rPr>
              <a:t>Green ICT can reduce costs and the negative impact</a:t>
            </a:r>
          </a:p>
          <a:p>
            <a:pPr marL="548640" indent="-411480" algn="ctr">
              <a:buClr>
                <a:schemeClr val="tx1">
                  <a:shade val="95000"/>
                </a:schemeClr>
              </a:buClr>
              <a:buNone/>
              <a:defRPr/>
            </a:pPr>
            <a:r>
              <a:rPr lang="en-IN" b="1" dirty="0">
                <a:solidFill>
                  <a:srgbClr val="00B050"/>
                </a:solidFill>
              </a:rPr>
              <a:t>on the environment, making being green good for all businesses</a:t>
            </a:r>
          </a:p>
          <a:p>
            <a:pPr marL="548640" indent="-411480">
              <a:buClr>
                <a:schemeClr val="tx1">
                  <a:shade val="95000"/>
                </a:schemeClr>
              </a:buClr>
              <a:buFont typeface="Wingdings 2"/>
              <a:buChar char=""/>
              <a:defRPr/>
            </a:pPr>
            <a:endParaRPr lang="en-US" b="1" i="1" dirty="0"/>
          </a:p>
          <a:p>
            <a:pPr marL="548640" indent="-411480">
              <a:buClr>
                <a:schemeClr val="tx1">
                  <a:shade val="95000"/>
                </a:schemeClr>
              </a:buClr>
              <a:buFont typeface="Wingdings 2"/>
              <a:buChar char=""/>
              <a:defRPr/>
            </a:pPr>
            <a:endParaRPr lang="en-US" b="1" i="1" dirty="0"/>
          </a:p>
          <a:p>
            <a:pPr marL="548640" indent="-411480">
              <a:buClr>
                <a:schemeClr val="tx1">
                  <a:shade val="95000"/>
                </a:schemeClr>
              </a:buClr>
              <a:buFont typeface="Wingdings 2"/>
              <a:buChar char=""/>
              <a:defRPr/>
            </a:pPr>
            <a:endParaRPr lang="en-US" b="1" i="1" dirty="0"/>
          </a:p>
          <a:p>
            <a:pPr marL="548640" indent="-411480">
              <a:buClr>
                <a:schemeClr val="tx1">
                  <a:shade val="95000"/>
                </a:schemeClr>
              </a:buClr>
              <a:buFont typeface="Wingdings 2"/>
              <a:buChar char=""/>
              <a:defRPr/>
            </a:pP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29FE3A0-41EE-4EE9-8DBC-9E3BFEFE1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altLang="ko-KR" sz="3000" b="1" dirty="0">
                <a:solidFill>
                  <a:srgbClr val="CC00CC"/>
                </a:solidFill>
                <a:ea typeface="+mn-ea"/>
                <a:cs typeface="+mn-cs"/>
              </a:rPr>
              <a:t>Our Commitment</a:t>
            </a:r>
          </a:p>
        </p:txBody>
      </p:sp>
      <p:sp>
        <p:nvSpPr>
          <p:cNvPr id="28677" name="Slide Number Placeholder 5">
            <a:extLst>
              <a:ext uri="{FF2B5EF4-FFF2-40B4-BE49-F238E27FC236}">
                <a16:creationId xmlns:a16="http://schemas.microsoft.com/office/drawing/2014/main" id="{2D3C491C-F7D9-A8F9-9FF8-5796F67023B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4BB5B77-C516-439B-B1AF-956737288D88}" type="slidenum">
              <a:rPr lang="en-US" altLang="en-US">
                <a:solidFill>
                  <a:srgbClr val="898989"/>
                </a:solidFill>
              </a:rPr>
              <a:pPr/>
              <a:t>34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>
    <p:dissolv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A3D9FC9D-3CAE-BBD4-0B1C-C0B09F760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en-US" sz="1800" b="1" dirty="0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Network: </a:t>
            </a:r>
            <a:r>
              <a:rPr lang="en-US" altLang="en-US" sz="1800" b="1" dirty="0">
                <a:solidFill>
                  <a:srgbClr val="EF11B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Connecting computers with each other For exchanging 	information </a:t>
            </a:r>
          </a:p>
          <a:p>
            <a:pPr>
              <a:lnSpc>
                <a:spcPct val="150000"/>
              </a:lnSpc>
            </a:pPr>
            <a:r>
              <a:rPr lang="en-US" altLang="en-US" sz="1800" b="1" dirty="0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Client :	</a:t>
            </a:r>
            <a:r>
              <a:rPr lang="en-US" altLang="en-US" sz="1800" b="1" dirty="0">
                <a:solidFill>
                  <a:srgbClr val="EF11B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It is a </a:t>
            </a:r>
            <a:r>
              <a:rPr lang="en-US" altLang="en-US" sz="1800" b="1" dirty="0" err="1">
                <a:solidFill>
                  <a:srgbClr val="EF11B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programme</a:t>
            </a:r>
            <a:r>
              <a:rPr lang="en-US" altLang="en-US" sz="1800" b="1" dirty="0">
                <a:solidFill>
                  <a:srgbClr val="EF11B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or computer for getting special 			information from another compute. </a:t>
            </a:r>
          </a:p>
          <a:p>
            <a:pPr>
              <a:lnSpc>
                <a:spcPct val="150000"/>
              </a:lnSpc>
            </a:pPr>
            <a:r>
              <a:rPr lang="en-US" altLang="en-US" sz="1800" b="1" dirty="0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Server: </a:t>
            </a:r>
            <a:r>
              <a:rPr lang="en-US" altLang="en-US" sz="1800" b="1" dirty="0">
                <a:solidFill>
                  <a:srgbClr val="EF11B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It is a </a:t>
            </a:r>
            <a:r>
              <a:rPr lang="en-US" altLang="en-US" sz="1800" b="1" dirty="0" err="1">
                <a:solidFill>
                  <a:srgbClr val="EF11B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programme</a:t>
            </a:r>
            <a:r>
              <a:rPr lang="en-US" altLang="en-US" sz="1800" b="1" dirty="0">
                <a:solidFill>
                  <a:srgbClr val="EF11B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or computer, which gives information to the client computer.</a:t>
            </a:r>
          </a:p>
          <a:p>
            <a:pPr>
              <a:lnSpc>
                <a:spcPct val="150000"/>
              </a:lnSpc>
            </a:pPr>
            <a:r>
              <a:rPr lang="en-US" altLang="en-US" sz="1800" b="1" dirty="0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Protocol: </a:t>
            </a:r>
            <a:r>
              <a:rPr lang="en-US" altLang="en-US" sz="1800" b="1" dirty="0">
                <a:solidFill>
                  <a:srgbClr val="EF11B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It’s a rules for connecting to the internet. (TCP/IP)</a:t>
            </a:r>
          </a:p>
          <a:p>
            <a:pPr>
              <a:lnSpc>
                <a:spcPct val="150000"/>
              </a:lnSpc>
            </a:pPr>
            <a:r>
              <a:rPr lang="en-US" altLang="en-US" sz="1800" b="1" dirty="0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Portal: 	</a:t>
            </a:r>
            <a:r>
              <a:rPr lang="en-US" altLang="en-US" sz="1800" b="1" dirty="0">
                <a:solidFill>
                  <a:srgbClr val="EF11B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It is a website. Known as a gateway of internet. 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en-US" sz="1800" b="1" dirty="0">
                <a:solidFill>
                  <a:srgbClr val="EF11B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			(Search engine)</a:t>
            </a:r>
          </a:p>
          <a:p>
            <a:endParaRPr lang="en-US" altLang="en-US" sz="1800" b="1" dirty="0">
              <a:solidFill>
                <a:srgbClr val="0000FF"/>
              </a:solidFill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altLang="en-US" sz="1800" b="1" dirty="0">
              <a:solidFill>
                <a:srgbClr val="0000FF"/>
              </a:solidFill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endParaRPr lang="en-US" altLang="en-US" sz="1800" b="1" dirty="0">
              <a:solidFill>
                <a:srgbClr val="0000FF"/>
              </a:solidFill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endParaRPr lang="en-US" altLang="en-US" sz="1800" b="1" dirty="0">
              <a:solidFill>
                <a:srgbClr val="0000FF"/>
              </a:solidFill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A71C17-7917-4680-BC41-693606112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sz="3000" b="1" dirty="0">
                <a:solidFill>
                  <a:srgbClr val="CC00CC"/>
                </a:solidFill>
                <a:ea typeface="+mn-ea"/>
                <a:cs typeface="+mn-cs"/>
              </a:rPr>
              <a:t>Useful Keys Internet </a:t>
            </a:r>
          </a:p>
        </p:txBody>
      </p:sp>
      <p:sp>
        <p:nvSpPr>
          <p:cNvPr id="29701" name="Date Placeholder 5">
            <a:extLst>
              <a:ext uri="{FF2B5EF4-FFF2-40B4-BE49-F238E27FC236}">
                <a16:creationId xmlns:a16="http://schemas.microsoft.com/office/drawing/2014/main" id="{BB473328-5836-D37F-FA3D-03E063747F24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>
          <a:xfrm>
            <a:off x="0" y="6356350"/>
            <a:ext cx="2743200" cy="365125"/>
          </a:xfrm>
        </p:spPr>
        <p:txBody>
          <a:bodyPr/>
          <a:lstStyle/>
          <a:p>
            <a:pPr>
              <a:defRPr/>
            </a:pPr>
            <a:fld id="{20D871AD-6074-45D9-8DCC-A311C18E416F}" type="datetime1">
              <a:rPr lang="es-ES" smtClean="0"/>
              <a:pPr>
                <a:defRPr/>
              </a:pPr>
              <a:t>26/01/2026</a:t>
            </a:fld>
            <a:endParaRPr lang="en-US"/>
          </a:p>
        </p:txBody>
      </p:sp>
      <p:sp>
        <p:nvSpPr>
          <p:cNvPr id="29700" name="Slide Number Placeholder 3">
            <a:extLst>
              <a:ext uri="{FF2B5EF4-FFF2-40B4-BE49-F238E27FC236}">
                <a16:creationId xmlns:a16="http://schemas.microsoft.com/office/drawing/2014/main" id="{EA1808F5-E912-9A5B-F58E-BAD9025A53D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E29974C-7E71-45F1-8A8F-0F1E29478FF8}" type="slidenum">
              <a:rPr lang="en-US" altLang="en-US">
                <a:solidFill>
                  <a:srgbClr val="898989"/>
                </a:solidFill>
              </a:rPr>
              <a:pPr/>
              <a:t>35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B3DF13D7-9E63-9CAA-C86B-D1780ADA4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5653" y="1477108"/>
            <a:ext cx="8534400" cy="406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="1" dirty="0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Router:		</a:t>
            </a:r>
            <a:r>
              <a:rPr lang="en-US" altLang="en-US" sz="2000" b="1" dirty="0">
                <a:solidFill>
                  <a:srgbClr val="EF11B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It is a device, which decides where data will be send 			(Network point) </a:t>
            </a:r>
          </a:p>
          <a:p>
            <a:pPr>
              <a:lnSpc>
                <a:spcPct val="200000"/>
              </a:lnSpc>
            </a:pPr>
            <a:r>
              <a:rPr lang="en-US" altLang="en-US" sz="2000" b="1" dirty="0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www :		</a:t>
            </a:r>
            <a:r>
              <a:rPr lang="en-US" altLang="en-US" sz="2000" b="1" dirty="0">
                <a:solidFill>
                  <a:srgbClr val="EF11B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World Wide Web</a:t>
            </a:r>
          </a:p>
          <a:p>
            <a:pPr>
              <a:lnSpc>
                <a:spcPct val="200000"/>
              </a:lnSpc>
            </a:pPr>
            <a:r>
              <a:rPr lang="en-US" altLang="en-US" sz="2000" b="1" dirty="0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Browser:	</a:t>
            </a:r>
            <a:r>
              <a:rPr lang="en-US" altLang="en-US" sz="2000" b="1" dirty="0">
                <a:solidFill>
                  <a:srgbClr val="EF11B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It is a </a:t>
            </a:r>
            <a:r>
              <a:rPr lang="en-US" altLang="en-US" sz="2000" b="1" dirty="0" err="1">
                <a:solidFill>
                  <a:srgbClr val="EF11B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programme</a:t>
            </a:r>
            <a:r>
              <a:rPr lang="en-US" altLang="en-US" sz="2000" b="1" dirty="0">
                <a:solidFill>
                  <a:srgbClr val="EF11B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which helps us to use internet</a:t>
            </a:r>
          </a:p>
          <a:p>
            <a:pPr>
              <a:lnSpc>
                <a:spcPct val="200000"/>
              </a:lnSpc>
            </a:pPr>
            <a:r>
              <a:rPr lang="en-US" altLang="en-US" sz="2000" b="1" dirty="0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Website:	</a:t>
            </a:r>
            <a:r>
              <a:rPr lang="en-US" altLang="en-US" sz="2000" b="1" dirty="0">
                <a:solidFill>
                  <a:srgbClr val="EF11B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Group of different web pages. 	</a:t>
            </a:r>
          </a:p>
          <a:p>
            <a:pPr>
              <a:lnSpc>
                <a:spcPct val="200000"/>
              </a:lnSpc>
            </a:pPr>
            <a:r>
              <a:rPr lang="en-US" altLang="en-US" sz="2000" b="1" dirty="0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URL :		</a:t>
            </a:r>
            <a:r>
              <a:rPr lang="en-US" altLang="en-US" sz="2000" b="1" dirty="0">
                <a:solidFill>
                  <a:srgbClr val="EF11B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Universal Resource Locator</a:t>
            </a:r>
          </a:p>
          <a:p>
            <a:pPr>
              <a:lnSpc>
                <a:spcPct val="200000"/>
              </a:lnSpc>
            </a:pPr>
            <a:r>
              <a:rPr lang="en-US" altLang="en-US" sz="2000" b="1" dirty="0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</a:p>
          <a:p>
            <a:endParaRPr lang="en-US" altLang="en-US" dirty="0"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3">
            <a:extLst>
              <a:ext uri="{FF2B5EF4-FFF2-40B4-BE49-F238E27FC236}">
                <a16:creationId xmlns:a16="http://schemas.microsoft.com/office/drawing/2014/main" id="{F2BE7D9C-B755-A3FA-CD95-B7C014EF5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7274" y="1725565"/>
            <a:ext cx="8534400" cy="507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2">
              <a:lnSpc>
                <a:spcPct val="150000"/>
              </a:lnSpc>
            </a:pPr>
            <a:r>
              <a:rPr lang="en-US" altLang="en-US" b="1" dirty="0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.com :		</a:t>
            </a:r>
            <a:r>
              <a:rPr lang="en-US" altLang="en-US" b="1" dirty="0">
                <a:solidFill>
                  <a:srgbClr val="EF11B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Commercial organization </a:t>
            </a:r>
          </a:p>
          <a:p>
            <a:pPr lvl="2">
              <a:lnSpc>
                <a:spcPct val="150000"/>
              </a:lnSpc>
            </a:pPr>
            <a:r>
              <a:rPr lang="en-US" altLang="en-US" b="1" dirty="0" err="1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.net</a:t>
            </a:r>
            <a:r>
              <a:rPr lang="en-US" altLang="en-US" b="1" dirty="0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:		</a:t>
            </a:r>
            <a:r>
              <a:rPr lang="en-US" altLang="en-US" b="1" dirty="0">
                <a:solidFill>
                  <a:srgbClr val="EF11B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Large Networks </a:t>
            </a:r>
            <a:r>
              <a:rPr lang="en-US" altLang="en-US" b="1" dirty="0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		</a:t>
            </a:r>
          </a:p>
          <a:p>
            <a:pPr lvl="2">
              <a:lnSpc>
                <a:spcPct val="150000"/>
              </a:lnSpc>
            </a:pPr>
            <a:r>
              <a:rPr lang="en-US" altLang="en-US" b="1" dirty="0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.gov :		</a:t>
            </a:r>
            <a:r>
              <a:rPr lang="en-US" altLang="en-US" b="1" dirty="0">
                <a:solidFill>
                  <a:srgbClr val="EF11B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Government organization</a:t>
            </a:r>
          </a:p>
          <a:p>
            <a:pPr lvl="2">
              <a:lnSpc>
                <a:spcPct val="150000"/>
              </a:lnSpc>
            </a:pPr>
            <a:r>
              <a:rPr lang="en-US" altLang="en-US" b="1" dirty="0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.org :		</a:t>
            </a:r>
            <a:r>
              <a:rPr lang="en-US" altLang="en-US" b="1" dirty="0">
                <a:solidFill>
                  <a:srgbClr val="EF11B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non-profit making organization</a:t>
            </a:r>
          </a:p>
          <a:p>
            <a:pPr lvl="2">
              <a:lnSpc>
                <a:spcPct val="150000"/>
              </a:lnSpc>
            </a:pPr>
            <a:r>
              <a:rPr lang="en-US" altLang="en-US" b="1" dirty="0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r>
              <a:rPr lang="en-US" altLang="en-US" b="1" dirty="0" err="1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edu</a:t>
            </a:r>
            <a:r>
              <a:rPr lang="en-US" altLang="en-US" b="1" dirty="0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:		</a:t>
            </a:r>
            <a:r>
              <a:rPr lang="en-US" altLang="en-US" b="1" dirty="0">
                <a:solidFill>
                  <a:srgbClr val="EF11B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educational organization</a:t>
            </a:r>
          </a:p>
          <a:p>
            <a:pPr lvl="2">
              <a:lnSpc>
                <a:spcPct val="150000"/>
              </a:lnSpc>
            </a:pPr>
            <a:r>
              <a:rPr lang="en-US" altLang="en-US" b="1" dirty="0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.mil :		</a:t>
            </a:r>
            <a:r>
              <a:rPr lang="en-US" altLang="en-US" b="1" dirty="0">
                <a:solidFill>
                  <a:srgbClr val="EF11B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military organization</a:t>
            </a:r>
          </a:p>
          <a:p>
            <a:pPr lvl="2">
              <a:lnSpc>
                <a:spcPct val="150000"/>
              </a:lnSpc>
            </a:pPr>
            <a:r>
              <a:rPr lang="en-US" altLang="en-US" b="1" dirty="0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.in :		</a:t>
            </a:r>
            <a:r>
              <a:rPr lang="en-US" altLang="en-US" b="1" dirty="0">
                <a:solidFill>
                  <a:srgbClr val="EF11B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India</a:t>
            </a:r>
          </a:p>
          <a:p>
            <a:pPr lvl="2">
              <a:lnSpc>
                <a:spcPct val="150000"/>
              </a:lnSpc>
            </a:pPr>
            <a:r>
              <a:rPr lang="en-US" altLang="en-US" b="1" dirty="0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.au :		</a:t>
            </a:r>
            <a:r>
              <a:rPr lang="en-US" altLang="en-US" b="1" dirty="0">
                <a:solidFill>
                  <a:srgbClr val="EF11B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Australia</a:t>
            </a:r>
          </a:p>
          <a:p>
            <a:pPr lvl="2">
              <a:lnSpc>
                <a:spcPct val="150000"/>
              </a:lnSpc>
            </a:pPr>
            <a:r>
              <a:rPr lang="en-US" altLang="en-US" b="1" dirty="0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.us :		</a:t>
            </a:r>
            <a:r>
              <a:rPr lang="en-US" altLang="en-US" b="1" dirty="0">
                <a:solidFill>
                  <a:srgbClr val="EF11B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United States</a:t>
            </a:r>
          </a:p>
          <a:p>
            <a:pPr lvl="2">
              <a:lnSpc>
                <a:spcPct val="150000"/>
              </a:lnSpc>
            </a:pPr>
            <a:r>
              <a:rPr lang="en-US" altLang="en-US" b="1" dirty="0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r>
              <a:rPr lang="en-US" altLang="en-US" b="1" dirty="0" err="1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uk</a:t>
            </a:r>
            <a:r>
              <a:rPr lang="en-US" altLang="en-US" b="1" dirty="0">
                <a:solidFill>
                  <a:srgbClr val="0000FF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:		</a:t>
            </a:r>
            <a:r>
              <a:rPr lang="en-US" altLang="en-US" b="1" dirty="0">
                <a:solidFill>
                  <a:srgbClr val="EF11B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United Kingdom</a:t>
            </a:r>
          </a:p>
          <a:p>
            <a:pPr>
              <a:lnSpc>
                <a:spcPct val="150000"/>
              </a:lnSpc>
            </a:pPr>
            <a:endParaRPr lang="en-US" altLang="en-US" b="1" dirty="0">
              <a:solidFill>
                <a:srgbClr val="EF11B0"/>
              </a:solidFill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en-US" b="1" dirty="0">
              <a:solidFill>
                <a:srgbClr val="EF11B0"/>
              </a:solidFill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A6BCE51-D101-9E04-BF26-B10CAB042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sz="3000" b="1" dirty="0">
                <a:solidFill>
                  <a:srgbClr val="CC00CC"/>
                </a:solidFill>
                <a:ea typeface="+mn-ea"/>
                <a:cs typeface="+mn-cs"/>
              </a:rPr>
              <a:t>Types of Website </a:t>
            </a:r>
            <a:r>
              <a:rPr lang="en-US" sz="3000" b="1">
                <a:solidFill>
                  <a:srgbClr val="CC00CC"/>
                </a:solidFill>
                <a:ea typeface="+mn-ea"/>
                <a:cs typeface="+mn-cs"/>
              </a:rPr>
              <a:t>(Domain)</a:t>
            </a:r>
            <a:endParaRPr lang="en-US" sz="3000" b="1" dirty="0">
              <a:solidFill>
                <a:srgbClr val="CC00CC"/>
              </a:solidFill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4" descr="D:\F\PHP\Iphone Photos 25.6.2014\IMG_3792.JPG">
            <a:extLst>
              <a:ext uri="{FF2B5EF4-FFF2-40B4-BE49-F238E27FC236}">
                <a16:creationId xmlns:a16="http://schemas.microsoft.com/office/drawing/2014/main" id="{7989FC8F-6081-FE75-5473-DA6096AC79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4642" y="134104"/>
            <a:ext cx="5262716" cy="6207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4830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FBEF1"/>
      </a:accent1>
      <a:accent2>
        <a:srgbClr val="00820F"/>
      </a:accent2>
      <a:accent3>
        <a:srgbClr val="A5A5A5"/>
      </a:accent3>
      <a:accent4>
        <a:srgbClr val="FFF901"/>
      </a:accent4>
      <a:accent5>
        <a:srgbClr val="833C0B"/>
      </a:accent5>
      <a:accent6>
        <a:srgbClr val="6F3B55"/>
      </a:accent6>
      <a:hlink>
        <a:srgbClr val="0095B8"/>
      </a:hlink>
      <a:folHlink>
        <a:srgbClr val="00EAEA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5084</TotalTime>
  <Words>2177</Words>
  <Application>Microsoft Office PowerPoint</Application>
  <PresentationFormat>Widescreen</PresentationFormat>
  <Paragraphs>369</Paragraphs>
  <Slides>39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Arial</vt:lpstr>
      <vt:lpstr>Calibri</vt:lpstr>
      <vt:lpstr>Century Gothic</vt:lpstr>
      <vt:lpstr>Wingdings</vt:lpstr>
      <vt:lpstr>Wingdings 2</vt:lpstr>
      <vt:lpstr>Office Theme</vt:lpstr>
      <vt:lpstr>PowerPoint Presentation</vt:lpstr>
      <vt:lpstr>What is Computer ?</vt:lpstr>
      <vt:lpstr>What is Process? </vt:lpstr>
      <vt:lpstr>Characteristics</vt:lpstr>
      <vt:lpstr>Applications of Computer</vt:lpstr>
      <vt:lpstr>What is Internet</vt:lpstr>
      <vt:lpstr>Uses of  Internet </vt:lpstr>
      <vt:lpstr>What is ICT?</vt:lpstr>
      <vt:lpstr>Information and Communication Technologies</vt:lpstr>
      <vt:lpstr>ICT Tools</vt:lpstr>
      <vt:lpstr>Information and Communication Technologies</vt:lpstr>
      <vt:lpstr>What is Communication?</vt:lpstr>
      <vt:lpstr>Synchronous Communication</vt:lpstr>
      <vt:lpstr>Asynchronous Communication</vt:lpstr>
      <vt:lpstr>Scope of Internet as a ICT</vt:lpstr>
      <vt:lpstr>Scope of Internet as a ICT in Education</vt:lpstr>
      <vt:lpstr>Traditional  v/s  Internet based ICT  education Approach</vt:lpstr>
      <vt:lpstr>Psychology of using Teaching Aids which include ICTs</vt:lpstr>
      <vt:lpstr>ICT can help learning</vt:lpstr>
      <vt:lpstr>ICT can help learning</vt:lpstr>
      <vt:lpstr>ICT can help learning</vt:lpstr>
      <vt:lpstr>Does ICT increase access to learning opportunity?</vt:lpstr>
      <vt:lpstr>Internet based ICT in Agriculture using web applications</vt:lpstr>
      <vt:lpstr>Green ICT</vt:lpstr>
      <vt:lpstr>Steps towards Green ICT</vt:lpstr>
      <vt:lpstr>Steps towards Green ICT</vt:lpstr>
      <vt:lpstr>Steps towards Green ICT</vt:lpstr>
      <vt:lpstr>Steps towards Green ICT</vt:lpstr>
      <vt:lpstr>Steps towards Green ICT</vt:lpstr>
      <vt:lpstr>Steps towards Green ICT</vt:lpstr>
      <vt:lpstr>Steps towards Green ICT</vt:lpstr>
      <vt:lpstr>Steps towards Green ICT</vt:lpstr>
      <vt:lpstr>Our Commitment</vt:lpstr>
      <vt:lpstr>Our Commitment</vt:lpstr>
      <vt:lpstr>Useful Keys Internet </vt:lpstr>
      <vt:lpstr>PowerPoint Presentation</vt:lpstr>
      <vt:lpstr>Types of Website (Domain)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emmanuel appiah</dc:creator>
  <cp:lastModifiedBy>Benedicta Nyarko Anin-Acquah</cp:lastModifiedBy>
  <cp:revision>69</cp:revision>
  <dcterms:created xsi:type="dcterms:W3CDTF">2021-09-14T13:24:40Z</dcterms:created>
  <dcterms:modified xsi:type="dcterms:W3CDTF">2026-01-28T09:14:27Z</dcterms:modified>
</cp:coreProperties>
</file>