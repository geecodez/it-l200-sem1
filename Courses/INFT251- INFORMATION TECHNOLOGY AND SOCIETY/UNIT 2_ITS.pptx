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08" r:id="rId3"/>
    <p:sldId id="309" r:id="rId4"/>
    <p:sldId id="271" r:id="rId5"/>
    <p:sldId id="272" r:id="rId6"/>
    <p:sldId id="273" r:id="rId7"/>
    <p:sldId id="274" r:id="rId8"/>
    <p:sldId id="275" r:id="rId9"/>
    <p:sldId id="297" r:id="rId10"/>
    <p:sldId id="276" r:id="rId11"/>
    <p:sldId id="277" r:id="rId12"/>
    <p:sldId id="278" r:id="rId13"/>
    <p:sldId id="279" r:id="rId14"/>
    <p:sldId id="280" r:id="rId15"/>
    <p:sldId id="281" r:id="rId16"/>
    <p:sldId id="282" r:id="rId17"/>
    <p:sldId id="283" r:id="rId18"/>
    <p:sldId id="285" r:id="rId19"/>
    <p:sldId id="286" r:id="rId20"/>
    <p:sldId id="287" r:id="rId21"/>
    <p:sldId id="288" r:id="rId22"/>
    <p:sldId id="307" r:id="rId23"/>
    <p:sldId id="290" r:id="rId24"/>
    <p:sldId id="291" r:id="rId25"/>
    <p:sldId id="292" r:id="rId26"/>
    <p:sldId id="293" r:id="rId27"/>
    <p:sldId id="294" r:id="rId28"/>
    <p:sldId id="295" r:id="rId29"/>
    <p:sldId id="296" r:id="rId30"/>
    <p:sldId id="2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0506"/>
    <a:srgbClr val="0A688E"/>
    <a:srgbClr val="00820F"/>
    <a:srgbClr val="E6E6E6"/>
    <a:srgbClr val="0E8CBE"/>
    <a:srgbClr val="3FBEF1"/>
    <a:srgbClr val="109C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4291" autoAdjust="0"/>
  </p:normalViewPr>
  <p:slideViewPr>
    <p:cSldViewPr snapToGrid="0">
      <p:cViewPr varScale="1">
        <p:scale>
          <a:sx n="65" d="100"/>
          <a:sy n="65" d="100"/>
        </p:scale>
        <p:origin x="7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3B5432-00C2-49B3-9062-7F2F639CE82C}" type="datetimeFigureOut">
              <a:rPr lang="en-GB" smtClean="0"/>
              <a:t>09/02/2025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697FFE-D184-49D1-AD0A-FF77D79B6CFE}" type="slidenum">
              <a:rPr lang="en-GB" smtClean="0"/>
              <a:t>‹#›</a:t>
            </a:fld>
            <a:endParaRPr lang="en-GB"/>
          </a:p>
        </p:txBody>
      </p:sp>
    </p:spTree>
    <p:extLst>
      <p:ext uri="{BB962C8B-B14F-4D97-AF65-F5344CB8AC3E}">
        <p14:creationId xmlns:p14="http://schemas.microsoft.com/office/powerpoint/2010/main" val="3363200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0C4EBA-5487-2CC4-995B-374013F2E336}"/>
              </a:ext>
            </a:extLst>
          </p:cNvPr>
          <p:cNvSpPr>
            <a:spLocks noGrp="1" noChangeArrowheads="1"/>
          </p:cNvSpPr>
          <p:nvPr>
            <p:ph type="sldNum" sz="quarter" idx="5"/>
          </p:nvPr>
        </p:nvSpPr>
        <p:spPr>
          <a:ln/>
        </p:spPr>
        <p:txBody>
          <a:bodyPr/>
          <a:lstStyle/>
          <a:p>
            <a:fld id="{8E9A7720-A27B-4D25-8682-89AC6E6299FB}" type="slidenum">
              <a:rPr lang="en-US" altLang="en-US"/>
              <a:pPr/>
              <a:t>4</a:t>
            </a:fld>
            <a:endParaRPr lang="en-US" altLang="en-US"/>
          </a:p>
        </p:txBody>
      </p:sp>
      <p:sp>
        <p:nvSpPr>
          <p:cNvPr id="88066" name="Rectangle 2">
            <a:extLst>
              <a:ext uri="{FF2B5EF4-FFF2-40B4-BE49-F238E27FC236}">
                <a16:creationId xmlns:a16="http://schemas.microsoft.com/office/drawing/2014/main" id="{3F2C3507-8AE2-3236-7C05-AF7BE03AD08F}"/>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697D0C1F-5E7B-B9DE-FCF6-EE190115E835}"/>
              </a:ext>
            </a:extLst>
          </p:cNvPr>
          <p:cNvSpPr>
            <a:spLocks noGrp="1" noChangeArrowheads="1"/>
          </p:cNvSpPr>
          <p:nvPr>
            <p:ph type="body" idx="1"/>
          </p:nvPr>
        </p:nvSpPr>
        <p:spPr/>
        <p:txBody>
          <a:bodyPr/>
          <a:lstStyle/>
          <a:p>
            <a:r>
              <a:rPr lang="en-US" altLang="en-US" dirty="0"/>
              <a:t>What is a group?</a:t>
            </a:r>
          </a:p>
          <a:p>
            <a:endParaRPr lang="en-US" altLang="en-US" dirty="0"/>
          </a:p>
          <a:p>
            <a:r>
              <a:rPr lang="en-US" altLang="en-US" dirty="0"/>
              <a:t>Examples? </a:t>
            </a:r>
          </a:p>
          <a:p>
            <a:r>
              <a:rPr lang="en-US" altLang="en-US" dirty="0"/>
              <a:t>Family; suite or house mates; friends from home; people you work with (informal)</a:t>
            </a:r>
          </a:p>
          <a:p>
            <a:r>
              <a:rPr lang="en-US" altLang="en-US" dirty="0"/>
              <a:t>Members of your fraternity/sorority; service club you belong to; church/synagogue/mosque you belong to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123638-F0EC-32A6-A310-C4BEC99EE5F1}"/>
              </a:ext>
            </a:extLst>
          </p:cNvPr>
          <p:cNvSpPr>
            <a:spLocks noGrp="1" noChangeArrowheads="1"/>
          </p:cNvSpPr>
          <p:nvPr>
            <p:ph type="sldNum" sz="quarter" idx="5"/>
          </p:nvPr>
        </p:nvSpPr>
        <p:spPr>
          <a:ln/>
        </p:spPr>
        <p:txBody>
          <a:bodyPr/>
          <a:lstStyle/>
          <a:p>
            <a:fld id="{93BC23BA-DD50-4756-B0D8-9A1A0AFD8A38}" type="slidenum">
              <a:rPr lang="en-US" altLang="en-US"/>
              <a:pPr/>
              <a:t>5</a:t>
            </a:fld>
            <a:endParaRPr lang="en-US" altLang="en-US"/>
          </a:p>
        </p:txBody>
      </p:sp>
      <p:sp>
        <p:nvSpPr>
          <p:cNvPr id="91138" name="Rectangle 2">
            <a:extLst>
              <a:ext uri="{FF2B5EF4-FFF2-40B4-BE49-F238E27FC236}">
                <a16:creationId xmlns:a16="http://schemas.microsoft.com/office/drawing/2014/main" id="{0FE116DA-F613-B350-D069-1F3B3B6937CF}"/>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DF456FA0-C9D3-AD57-B964-6EB281AE9B5A}"/>
              </a:ext>
            </a:extLst>
          </p:cNvPr>
          <p:cNvSpPr>
            <a:spLocks noGrp="1" noChangeArrowheads="1"/>
          </p:cNvSpPr>
          <p:nvPr>
            <p:ph type="body" idx="1"/>
          </p:nvPr>
        </p:nvSpPr>
        <p:spPr/>
        <p:txBody>
          <a:bodyPr/>
          <a:lstStyle/>
          <a:p>
            <a:r>
              <a:rPr lang="en-US" altLang="en-US"/>
              <a:t>Why are groups important, in a consumer behavior context?</a:t>
            </a:r>
          </a:p>
          <a:p>
            <a:endParaRPr lang="en-US" altLang="en-US"/>
          </a:p>
          <a:p>
            <a:r>
              <a:rPr lang="en-US" altLang="en-US"/>
              <a:t>What is </a:t>
            </a:r>
            <a:r>
              <a:rPr lang="en-US" altLang="en-US" b="1" i="1"/>
              <a:t>consumer socialization</a:t>
            </a:r>
            <a:r>
              <a:rPr lang="en-US" altLang="en-US"/>
              <a:t>?</a:t>
            </a:r>
          </a:p>
          <a:p>
            <a:endParaRPr lang="en-US" altLang="en-US"/>
          </a:p>
          <a:p>
            <a:r>
              <a:rPr lang="en-US" altLang="en-US"/>
              <a:t>How do groups affect consumer socialization?</a:t>
            </a:r>
          </a:p>
          <a:p>
            <a:endParaRPr lang="en-US" altLang="en-US"/>
          </a:p>
          <a:p>
            <a:r>
              <a:rPr lang="en-US" altLang="en-US"/>
              <a:t>Examples? </a:t>
            </a:r>
          </a:p>
          <a:p>
            <a:r>
              <a:rPr lang="en-US" altLang="en-US"/>
              <a:t>As children, we model our consumption behavior on…? </a:t>
            </a:r>
          </a:p>
          <a:p>
            <a:r>
              <a:rPr lang="en-US" altLang="en-US"/>
              <a:t>our parents and siblings</a:t>
            </a:r>
          </a:p>
          <a:p>
            <a:endParaRPr lang="en-US" altLang="en-US"/>
          </a:p>
          <a:p>
            <a:r>
              <a:rPr lang="en-US" altLang="en-US"/>
              <a:t>As high school students we model….? </a:t>
            </a:r>
          </a:p>
          <a:p>
            <a:r>
              <a:rPr lang="en-US" altLang="en-US"/>
              <a:t>our peers (e.g., the clothes we buy)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045FD3D-AAD0-C97B-B190-F6724E8079BA}"/>
              </a:ext>
            </a:extLst>
          </p:cNvPr>
          <p:cNvSpPr>
            <a:spLocks noGrp="1" noChangeArrowheads="1"/>
          </p:cNvSpPr>
          <p:nvPr>
            <p:ph type="sldNum" sz="quarter" idx="5"/>
          </p:nvPr>
        </p:nvSpPr>
        <p:spPr>
          <a:ln/>
        </p:spPr>
        <p:txBody>
          <a:bodyPr/>
          <a:lstStyle/>
          <a:p>
            <a:fld id="{1B254BFF-4E5A-4020-BFC4-00AF5D197D49}" type="slidenum">
              <a:rPr lang="en-US" altLang="en-US"/>
              <a:pPr/>
              <a:t>6</a:t>
            </a:fld>
            <a:endParaRPr lang="en-US" altLang="en-US"/>
          </a:p>
        </p:txBody>
      </p:sp>
      <p:sp>
        <p:nvSpPr>
          <p:cNvPr id="93186" name="Rectangle 2">
            <a:extLst>
              <a:ext uri="{FF2B5EF4-FFF2-40B4-BE49-F238E27FC236}">
                <a16:creationId xmlns:a16="http://schemas.microsoft.com/office/drawing/2014/main" id="{304C9D5E-1D62-CEA1-2BDE-0BE236972546}"/>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3890266A-F82B-00A3-8FE5-44F964A6E9F3}"/>
              </a:ext>
            </a:extLst>
          </p:cNvPr>
          <p:cNvSpPr>
            <a:spLocks noGrp="1" noChangeArrowheads="1"/>
          </p:cNvSpPr>
          <p:nvPr>
            <p:ph type="body" idx="1"/>
          </p:nvPr>
        </p:nvSpPr>
        <p:spPr/>
        <p:txBody>
          <a:bodyPr/>
          <a:lstStyle/>
          <a:p>
            <a:r>
              <a:rPr lang="en-US" altLang="en-US"/>
              <a:t>There are a number of different </a:t>
            </a:r>
            <a:r>
              <a:rPr lang="en-US" altLang="en-US" b="1" i="1"/>
              <a:t>types</a:t>
            </a:r>
            <a:r>
              <a:rPr lang="en-US" altLang="en-US"/>
              <a:t> of groups</a:t>
            </a:r>
          </a:p>
          <a:p>
            <a:r>
              <a:rPr lang="en-US" altLang="en-US"/>
              <a:t>This is covered well in your reading so I won’t go into a lot of detail, but…</a:t>
            </a:r>
          </a:p>
          <a:p>
            <a:endParaRPr lang="en-US" altLang="en-US"/>
          </a:p>
          <a:p>
            <a:r>
              <a:rPr lang="en-US" altLang="en-US"/>
              <a:t>Example of a primary group? </a:t>
            </a:r>
          </a:p>
          <a:p>
            <a:r>
              <a:rPr lang="en-US" altLang="en-US"/>
              <a:t>Family, teammates, close friends</a:t>
            </a:r>
          </a:p>
          <a:p>
            <a:endParaRPr lang="en-US" altLang="en-US"/>
          </a:p>
          <a:p>
            <a:r>
              <a:rPr lang="en-US" altLang="en-US"/>
              <a:t>Example of a secondary group? </a:t>
            </a:r>
          </a:p>
          <a:p>
            <a:r>
              <a:rPr lang="en-US" altLang="en-US"/>
              <a:t>Professional organizations, neighborhood group, community group</a:t>
            </a:r>
          </a:p>
          <a:p>
            <a:endParaRPr lang="en-US" altLang="en-US"/>
          </a:p>
          <a:p>
            <a:r>
              <a:rPr lang="en-US" altLang="en-US"/>
              <a:t>What’s the key difference between the two?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DA2C03B-16B0-49B5-6207-68C78F2C172F}"/>
              </a:ext>
            </a:extLst>
          </p:cNvPr>
          <p:cNvSpPr>
            <a:spLocks noGrp="1" noChangeArrowheads="1"/>
          </p:cNvSpPr>
          <p:nvPr>
            <p:ph type="sldNum" sz="quarter" idx="5"/>
          </p:nvPr>
        </p:nvSpPr>
        <p:spPr>
          <a:ln/>
        </p:spPr>
        <p:txBody>
          <a:bodyPr/>
          <a:lstStyle/>
          <a:p>
            <a:fld id="{D4C0AB16-06B8-4F8E-9A6B-EEC3A20D1273}" type="slidenum">
              <a:rPr lang="en-US" altLang="en-US"/>
              <a:pPr/>
              <a:t>7</a:t>
            </a:fld>
            <a:endParaRPr lang="en-US" altLang="en-US"/>
          </a:p>
        </p:txBody>
      </p:sp>
      <p:sp>
        <p:nvSpPr>
          <p:cNvPr id="95234" name="Rectangle 2">
            <a:extLst>
              <a:ext uri="{FF2B5EF4-FFF2-40B4-BE49-F238E27FC236}">
                <a16:creationId xmlns:a16="http://schemas.microsoft.com/office/drawing/2014/main" id="{067E34A1-8ED2-9448-EDC7-E2F0A0F85A86}"/>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0559546F-3939-AEE4-7CBC-491318AB652C}"/>
              </a:ext>
            </a:extLst>
          </p:cNvPr>
          <p:cNvSpPr>
            <a:spLocks noGrp="1" noChangeArrowheads="1"/>
          </p:cNvSpPr>
          <p:nvPr>
            <p:ph type="body" idx="1"/>
          </p:nvPr>
        </p:nvSpPr>
        <p:spPr/>
        <p:txBody>
          <a:bodyPr/>
          <a:lstStyle/>
          <a:p>
            <a:r>
              <a:rPr lang="en-US" altLang="en-US"/>
              <a:t>Another distinction is between…</a:t>
            </a:r>
          </a:p>
          <a:p>
            <a:endParaRPr lang="en-US" altLang="en-US"/>
          </a:p>
          <a:p>
            <a:r>
              <a:rPr lang="en-US" altLang="en-US"/>
              <a:t>Example?</a:t>
            </a:r>
          </a:p>
          <a:p>
            <a:r>
              <a:rPr lang="en-US" altLang="en-US"/>
              <a:t>Corporation; government office; University committee</a:t>
            </a:r>
          </a:p>
          <a:p>
            <a:endParaRPr lang="en-US" altLang="en-US"/>
          </a:p>
          <a:p>
            <a:r>
              <a:rPr lang="en-US" altLang="en-US"/>
              <a:t>Example? </a:t>
            </a:r>
          </a:p>
          <a:p>
            <a:r>
              <a:rPr lang="en-US" altLang="en-US"/>
              <a:t>Employees of a corporation</a:t>
            </a:r>
          </a:p>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6F858B-935E-B04C-1A9F-703F5BA7FDA0}"/>
              </a:ext>
            </a:extLst>
          </p:cNvPr>
          <p:cNvSpPr>
            <a:spLocks noGrp="1" noChangeArrowheads="1"/>
          </p:cNvSpPr>
          <p:nvPr>
            <p:ph type="sldNum" sz="quarter" idx="5"/>
          </p:nvPr>
        </p:nvSpPr>
        <p:spPr>
          <a:ln/>
        </p:spPr>
        <p:txBody>
          <a:bodyPr/>
          <a:lstStyle/>
          <a:p>
            <a:fld id="{05A44162-FE29-46D2-AEA8-AD80A989022B}" type="slidenum">
              <a:rPr lang="en-US" altLang="en-US"/>
              <a:pPr/>
              <a:t>8</a:t>
            </a:fld>
            <a:endParaRPr lang="en-US" altLang="en-US"/>
          </a:p>
        </p:txBody>
      </p:sp>
      <p:sp>
        <p:nvSpPr>
          <p:cNvPr id="97282" name="Rectangle 2">
            <a:extLst>
              <a:ext uri="{FF2B5EF4-FFF2-40B4-BE49-F238E27FC236}">
                <a16:creationId xmlns:a16="http://schemas.microsoft.com/office/drawing/2014/main" id="{D231E8DB-0F6C-93E0-BAF7-476AD9F750F3}"/>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234E58CB-EBFE-0037-0060-AC33745FB6F3}"/>
              </a:ext>
            </a:extLst>
          </p:cNvPr>
          <p:cNvSpPr>
            <a:spLocks noGrp="1" noChangeArrowheads="1"/>
          </p:cNvSpPr>
          <p:nvPr>
            <p:ph type="body" idx="1"/>
          </p:nvPr>
        </p:nvSpPr>
        <p:spPr/>
        <p:txBody>
          <a:bodyPr/>
          <a:lstStyle/>
          <a:p>
            <a:pPr marL="228600" indent="-228600"/>
            <a:r>
              <a:rPr lang="en-US" altLang="en-US"/>
              <a:t>An important aspect of group behavior is…</a:t>
            </a:r>
          </a:p>
          <a:p>
            <a:pPr marL="228600" indent="-228600"/>
            <a:endParaRPr lang="en-US" altLang="en-US"/>
          </a:p>
          <a:p>
            <a:pPr marL="228600" indent="-228600"/>
            <a:r>
              <a:rPr lang="en-US" altLang="en-US"/>
              <a:t>What do we mean by “roles”?</a:t>
            </a:r>
          </a:p>
          <a:p>
            <a:pPr marL="228600" indent="-228600"/>
            <a:endParaRPr lang="en-US" altLang="en-US"/>
          </a:p>
          <a:p>
            <a:pPr marL="228600" indent="-228600"/>
            <a:r>
              <a:rPr lang="en-US" altLang="en-US"/>
              <a:t>How do such patterns develop?</a:t>
            </a:r>
          </a:p>
          <a:p>
            <a:pPr marL="228600" indent="-228600"/>
            <a:endParaRPr lang="en-US" altLang="en-US"/>
          </a:p>
          <a:p>
            <a:pPr marL="228600" indent="-228600"/>
            <a:r>
              <a:rPr lang="en-US" altLang="en-US"/>
              <a:t>Examples?</a:t>
            </a:r>
          </a:p>
          <a:p>
            <a:pPr marL="228600" indent="-228600">
              <a:buFontTx/>
              <a:buAutoNum type="arabicPeriod"/>
            </a:pPr>
            <a:r>
              <a:rPr lang="en-US" altLang="en-US"/>
              <a:t>A fraternity/sorority may elect a president</a:t>
            </a:r>
          </a:p>
          <a:p>
            <a:pPr marL="228600" indent="-228600">
              <a:buFontTx/>
              <a:buAutoNum type="arabicPeriod"/>
            </a:pPr>
            <a:r>
              <a:rPr lang="en-US" altLang="en-US"/>
              <a:t>A family may by consensus agree on what responsibilities each member will undertake</a:t>
            </a:r>
          </a:p>
          <a:p>
            <a:pPr marL="228600" indent="-228600">
              <a:buFontTx/>
              <a:buAutoNum type="arabicPeriod"/>
            </a:pPr>
            <a:r>
              <a:rPr lang="en-US" altLang="en-US"/>
              <a:t>A husband and wife may over time start sharing work, but over time woman may take over more responsibilities</a:t>
            </a:r>
          </a:p>
          <a:p>
            <a:pPr marL="228600" indent="-228600"/>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4BDAF8-BA83-444D-9DA8-C8CE71D834A3}"/>
              </a:ext>
            </a:extLst>
          </p:cNvPr>
          <p:cNvSpPr>
            <a:spLocks noGrp="1" noChangeArrowheads="1"/>
          </p:cNvSpPr>
          <p:nvPr>
            <p:ph type="sldNum" sz="quarter" idx="5"/>
          </p:nvPr>
        </p:nvSpPr>
        <p:spPr>
          <a:ln/>
        </p:spPr>
        <p:txBody>
          <a:bodyPr/>
          <a:lstStyle/>
          <a:p>
            <a:fld id="{7DF11DF7-69C0-4DF9-BD20-7216D159788D}" type="slidenum">
              <a:rPr lang="en-US" altLang="en-US"/>
              <a:pPr/>
              <a:t>9</a:t>
            </a:fld>
            <a:endParaRPr lang="en-US" altLang="en-US"/>
          </a:p>
        </p:txBody>
      </p:sp>
      <p:sp>
        <p:nvSpPr>
          <p:cNvPr id="149506" name="Rectangle 2">
            <a:extLst>
              <a:ext uri="{FF2B5EF4-FFF2-40B4-BE49-F238E27FC236}">
                <a16:creationId xmlns:a16="http://schemas.microsoft.com/office/drawing/2014/main" id="{61A0E211-C210-6EBE-C5C6-BE06E37E2A30}"/>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C454F643-C3E2-6C0E-42B1-55A2CAB56385}"/>
              </a:ext>
            </a:extLst>
          </p:cNvPr>
          <p:cNvSpPr>
            <a:spLocks noGrp="1" noChangeArrowheads="1"/>
          </p:cNvSpPr>
          <p:nvPr>
            <p:ph type="body" idx="1"/>
          </p:nvPr>
        </p:nvSpPr>
        <p:spPr/>
        <p:txBody>
          <a:bodyPr/>
          <a:lstStyle/>
          <a:p>
            <a:r>
              <a:rPr lang="en-US" altLang="en-US"/>
              <a:t>Why are roles important in the consumer behavior context?</a:t>
            </a:r>
          </a:p>
          <a:p>
            <a:endParaRPr lang="en-US" altLang="en-US"/>
          </a:p>
          <a:p>
            <a:r>
              <a:rPr lang="en-US" altLang="en-US"/>
              <a:t>Examples?</a:t>
            </a:r>
          </a:p>
          <a:p>
            <a:r>
              <a:rPr lang="en-US" altLang="en-US"/>
              <a:t>If the wife does all the shopping, she’s the target audience for the grocery store’s ads</a:t>
            </a:r>
          </a:p>
          <a:p>
            <a:endParaRPr lang="en-US" altLang="en-US"/>
          </a:p>
          <a:p>
            <a:endParaRPr lang="en-US" altLang="en-US"/>
          </a:p>
          <a:p>
            <a:r>
              <a:rPr lang="en-US" altLang="en-US"/>
              <a:t>Another important aspect of roles is the concept of the…</a:t>
            </a:r>
          </a:p>
          <a:p>
            <a:endParaRPr lang="en-US" altLang="en-US"/>
          </a:p>
          <a:p>
            <a:r>
              <a:rPr lang="en-US" altLang="en-US"/>
              <a:t>Example?</a:t>
            </a:r>
          </a:p>
          <a:p>
            <a:r>
              <a:rPr lang="en-US" altLang="en-US"/>
              <a:t>A woman who decided to stay home with her kids and then goes back into the workforce is going to need all kinds of things: briefcase, new wardrobe, palm pilot, laptop, cell phone, etc.</a:t>
            </a:r>
          </a:p>
          <a:p>
            <a:r>
              <a:rPr lang="en-US" altLang="en-US"/>
              <a:t>Her role has changed and now she needs products related to that role</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048F69F-24F6-178B-FED1-FC32DCCEFEB0}"/>
              </a:ext>
            </a:extLst>
          </p:cNvPr>
          <p:cNvSpPr>
            <a:spLocks noGrp="1" noChangeArrowheads="1"/>
          </p:cNvSpPr>
          <p:nvPr>
            <p:ph type="sldNum" sz="quarter" idx="5"/>
          </p:nvPr>
        </p:nvSpPr>
        <p:spPr>
          <a:ln/>
        </p:spPr>
        <p:txBody>
          <a:bodyPr/>
          <a:lstStyle/>
          <a:p>
            <a:fld id="{74B43047-7366-43DE-8C71-4175E830CBE0}" type="slidenum">
              <a:rPr lang="en-US" altLang="en-US"/>
              <a:pPr/>
              <a:t>10</a:t>
            </a:fld>
            <a:endParaRPr lang="en-US" altLang="en-US"/>
          </a:p>
        </p:txBody>
      </p:sp>
      <p:sp>
        <p:nvSpPr>
          <p:cNvPr id="99330" name="Rectangle 2">
            <a:extLst>
              <a:ext uri="{FF2B5EF4-FFF2-40B4-BE49-F238E27FC236}">
                <a16:creationId xmlns:a16="http://schemas.microsoft.com/office/drawing/2014/main" id="{20A2282E-0C8C-B321-6287-EECF5FA1C643}"/>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468A8AF5-9E9C-60B4-D080-B4129A269A77}"/>
              </a:ext>
            </a:extLst>
          </p:cNvPr>
          <p:cNvSpPr>
            <a:spLocks noGrp="1" noChangeArrowheads="1"/>
          </p:cNvSpPr>
          <p:nvPr>
            <p:ph type="body" idx="1"/>
          </p:nvPr>
        </p:nvSpPr>
        <p:spPr/>
        <p:txBody>
          <a:bodyPr/>
          <a:lstStyle/>
          <a:p>
            <a:r>
              <a:rPr lang="en-US" altLang="en-US"/>
              <a:t>Another group-related concept that affects consumption behavior</a:t>
            </a:r>
          </a:p>
          <a:p>
            <a:endParaRPr lang="en-US" altLang="en-US"/>
          </a:p>
          <a:p>
            <a:r>
              <a:rPr lang="en-US" altLang="en-US"/>
              <a:t>How does it affect consumption?</a:t>
            </a:r>
          </a:p>
          <a:p>
            <a:endParaRPr lang="en-US" altLang="en-US"/>
          </a:p>
          <a:p>
            <a:r>
              <a:rPr lang="en-US" altLang="en-US"/>
              <a:t>Examples? </a:t>
            </a:r>
          </a:p>
          <a:p>
            <a:r>
              <a:rPr lang="en-US" altLang="en-US"/>
              <a:t>Buying a bigger car or house to go with the promotion; joining the country club</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5BA95A1-19E2-1350-13A1-7DC786C2FD4B}"/>
              </a:ext>
            </a:extLst>
          </p:cNvPr>
          <p:cNvSpPr>
            <a:spLocks noGrp="1" noChangeArrowheads="1"/>
          </p:cNvSpPr>
          <p:nvPr>
            <p:ph type="sldNum" sz="quarter" idx="5"/>
          </p:nvPr>
        </p:nvSpPr>
        <p:spPr>
          <a:ln/>
        </p:spPr>
        <p:txBody>
          <a:bodyPr/>
          <a:lstStyle/>
          <a:p>
            <a:fld id="{08088390-1787-4DDA-ABC4-C73CBD25FC4C}" type="slidenum">
              <a:rPr lang="en-US" altLang="en-US"/>
              <a:pPr/>
              <a:t>11</a:t>
            </a:fld>
            <a:endParaRPr lang="en-US" altLang="en-US"/>
          </a:p>
        </p:txBody>
      </p:sp>
      <p:sp>
        <p:nvSpPr>
          <p:cNvPr id="101378" name="Rectangle 2">
            <a:extLst>
              <a:ext uri="{FF2B5EF4-FFF2-40B4-BE49-F238E27FC236}">
                <a16:creationId xmlns:a16="http://schemas.microsoft.com/office/drawing/2014/main" id="{66E594F6-0858-681A-BA01-AE29C7408BFF}"/>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F33CF7F4-79D2-72EE-D4E9-C8FA551CDE0A}"/>
              </a:ext>
            </a:extLst>
          </p:cNvPr>
          <p:cNvSpPr>
            <a:spLocks noGrp="1" noChangeArrowheads="1"/>
          </p:cNvSpPr>
          <p:nvPr>
            <p:ph type="body" idx="1"/>
          </p:nvPr>
        </p:nvSpPr>
        <p:spPr/>
        <p:txBody>
          <a:bodyPr/>
          <a:lstStyle/>
          <a:p>
            <a:r>
              <a:rPr lang="en-US" altLang="en-US"/>
              <a:t>What is it?</a:t>
            </a:r>
          </a:p>
          <a:p>
            <a:endParaRPr lang="en-US" altLang="en-US"/>
          </a:p>
          <a:p>
            <a:r>
              <a:rPr lang="en-US" altLang="en-US"/>
              <a:t>For young children, who is their reference group? </a:t>
            </a:r>
          </a:p>
          <a:p>
            <a:r>
              <a:rPr lang="en-US" altLang="en-US"/>
              <a:t>Parents and older siblings</a:t>
            </a:r>
          </a:p>
          <a:p>
            <a:endParaRPr lang="en-US" altLang="en-US"/>
          </a:p>
          <a:p>
            <a:r>
              <a:rPr lang="en-US" altLang="en-US"/>
              <a:t>For teenagers? </a:t>
            </a:r>
          </a:p>
          <a:p>
            <a:r>
              <a:rPr lang="en-US" altLang="en-US"/>
              <a:t>Certainly clothes, hair styles, etc. come from peers</a:t>
            </a:r>
          </a:p>
          <a:p>
            <a:endParaRPr lang="en-US" altLang="en-US"/>
          </a:p>
          <a:p>
            <a:r>
              <a:rPr lang="en-US" altLang="en-US"/>
              <a:t>From a consumer behavior perspective, what does this mean?</a:t>
            </a:r>
          </a:p>
          <a:p>
            <a:endParaRPr lang="en-US" altLang="en-US"/>
          </a:p>
          <a:p>
            <a:r>
              <a:rPr lang="en-US" altLang="en-US"/>
              <a:t>Reference groups thus play a major role in shaping consumers’ purchasing behavior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FF9F81E-B34F-EF65-A0AE-57973F21D23D}"/>
              </a:ext>
            </a:extLst>
          </p:cNvPr>
          <p:cNvSpPr>
            <a:spLocks noGrp="1" noChangeArrowheads="1"/>
          </p:cNvSpPr>
          <p:nvPr>
            <p:ph type="sldNum" sz="quarter" idx="5"/>
          </p:nvPr>
        </p:nvSpPr>
        <p:spPr>
          <a:ln/>
        </p:spPr>
        <p:txBody>
          <a:bodyPr/>
          <a:lstStyle/>
          <a:p>
            <a:fld id="{DACBDFD4-CBA0-4954-8F93-01C0B66300B6}" type="slidenum">
              <a:rPr lang="en-US" altLang="en-US"/>
              <a:pPr/>
              <a:t>12</a:t>
            </a:fld>
            <a:endParaRPr lang="en-US" altLang="en-US"/>
          </a:p>
        </p:txBody>
      </p:sp>
      <p:sp>
        <p:nvSpPr>
          <p:cNvPr id="103426" name="Rectangle 2">
            <a:extLst>
              <a:ext uri="{FF2B5EF4-FFF2-40B4-BE49-F238E27FC236}">
                <a16:creationId xmlns:a16="http://schemas.microsoft.com/office/drawing/2014/main" id="{2869B8A0-CE86-8A7C-6F4D-55A95ABBA7F7}"/>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70D5FDA5-9E3B-2739-9EC9-8548BD9AAFB0}"/>
              </a:ext>
            </a:extLst>
          </p:cNvPr>
          <p:cNvSpPr>
            <a:spLocks noGrp="1" noChangeArrowheads="1"/>
          </p:cNvSpPr>
          <p:nvPr>
            <p:ph type="body" idx="1"/>
          </p:nvPr>
        </p:nvSpPr>
        <p:spPr/>
        <p:txBody>
          <a:bodyPr/>
          <a:lstStyle/>
          <a:p>
            <a:r>
              <a:rPr lang="en-US" altLang="en-US"/>
              <a:t>There are a number of different types of reference groups:</a:t>
            </a:r>
          </a:p>
          <a:p>
            <a:endParaRPr lang="en-US" altLang="en-US"/>
          </a:p>
          <a:p>
            <a:r>
              <a:rPr lang="en-US" altLang="en-US"/>
              <a:t>These first three are not in your book</a:t>
            </a:r>
          </a:p>
          <a:p>
            <a:endParaRPr lang="en-US" altLang="en-US"/>
          </a:p>
          <a:p>
            <a:r>
              <a:rPr lang="en-US" altLang="en-US"/>
              <a:t>Example 1? For a child, the immediate family</a:t>
            </a:r>
          </a:p>
          <a:p>
            <a:endParaRPr lang="en-US" altLang="en-US"/>
          </a:p>
          <a:p>
            <a:r>
              <a:rPr lang="en-US" altLang="en-US"/>
              <a:t>Example 2? A neighboring family whose lifestyle (their house, car, clothing, vacations, etc.) you admire and would like to emulate</a:t>
            </a:r>
          </a:p>
          <a:p>
            <a:endParaRPr lang="en-US" altLang="en-US"/>
          </a:p>
          <a:p>
            <a:r>
              <a:rPr lang="en-US" altLang="en-US"/>
              <a:t>Other examples for 3? Rappers seem to influence buying and other behaviors of adolescent males (in particular)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E15481-B694-6267-54B9-55942B9A9075}"/>
              </a:ext>
            </a:extLst>
          </p:cNvPr>
          <p:cNvSpPr>
            <a:spLocks noGrp="1" noChangeArrowheads="1"/>
          </p:cNvSpPr>
          <p:nvPr>
            <p:ph type="sldNum" sz="quarter" idx="5"/>
          </p:nvPr>
        </p:nvSpPr>
        <p:spPr>
          <a:ln/>
        </p:spPr>
        <p:txBody>
          <a:bodyPr/>
          <a:lstStyle/>
          <a:p>
            <a:fld id="{575C26B5-0C87-421B-8558-6E8B60A0402B}" type="slidenum">
              <a:rPr lang="en-US" altLang="en-US"/>
              <a:pPr/>
              <a:t>13</a:t>
            </a:fld>
            <a:endParaRPr lang="en-US" altLang="en-US"/>
          </a:p>
        </p:txBody>
      </p:sp>
      <p:sp>
        <p:nvSpPr>
          <p:cNvPr id="105474" name="Rectangle 2">
            <a:extLst>
              <a:ext uri="{FF2B5EF4-FFF2-40B4-BE49-F238E27FC236}">
                <a16:creationId xmlns:a16="http://schemas.microsoft.com/office/drawing/2014/main" id="{F564C8B2-5F95-5849-6572-D47DF47453D3}"/>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AC2172C8-09D2-85A6-8DDB-65E8B4824D69}"/>
              </a:ext>
            </a:extLst>
          </p:cNvPr>
          <p:cNvSpPr>
            <a:spLocks noGrp="1" noChangeArrowheads="1"/>
          </p:cNvSpPr>
          <p:nvPr>
            <p:ph type="body" idx="1"/>
          </p:nvPr>
        </p:nvSpPr>
        <p:spPr/>
        <p:txBody>
          <a:bodyPr/>
          <a:lstStyle/>
          <a:p>
            <a:r>
              <a:rPr lang="en-US" altLang="en-US"/>
              <a:t>These are in your book, and defined there, so won’t repeat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FD13905-ECE0-C6D5-3127-CB8A98AC7596}"/>
              </a:ext>
            </a:extLst>
          </p:cNvPr>
          <p:cNvSpPr>
            <a:spLocks noGrp="1" noChangeArrowheads="1"/>
          </p:cNvSpPr>
          <p:nvPr>
            <p:ph type="sldNum" sz="quarter" idx="5"/>
          </p:nvPr>
        </p:nvSpPr>
        <p:spPr>
          <a:ln/>
        </p:spPr>
        <p:txBody>
          <a:bodyPr/>
          <a:lstStyle/>
          <a:p>
            <a:fld id="{7FEB9BDE-5028-4639-A2E2-78338294B209}" type="slidenum">
              <a:rPr lang="en-US" altLang="en-US"/>
              <a:pPr/>
              <a:t>14</a:t>
            </a:fld>
            <a:endParaRPr lang="en-US" altLang="en-US"/>
          </a:p>
        </p:txBody>
      </p:sp>
      <p:sp>
        <p:nvSpPr>
          <p:cNvPr id="150530" name="Rectangle 2">
            <a:extLst>
              <a:ext uri="{FF2B5EF4-FFF2-40B4-BE49-F238E27FC236}">
                <a16:creationId xmlns:a16="http://schemas.microsoft.com/office/drawing/2014/main" id="{5619A2D1-4A2A-3E54-EBE4-95DFC4B6628F}"/>
              </a:ext>
            </a:extLst>
          </p:cNvPr>
          <p:cNvSpPr>
            <a:spLocks noGrp="1" noRot="1" noChangeAspect="1" noChangeArrowheads="1" noTextEdit="1"/>
          </p:cNvSpPr>
          <p:nvPr>
            <p:ph type="sldImg"/>
          </p:nvPr>
        </p:nvSpPr>
        <p:spPr>
          <a:ln/>
        </p:spPr>
      </p:sp>
      <p:sp>
        <p:nvSpPr>
          <p:cNvPr id="150531" name="Rectangle 3">
            <a:extLst>
              <a:ext uri="{FF2B5EF4-FFF2-40B4-BE49-F238E27FC236}">
                <a16:creationId xmlns:a16="http://schemas.microsoft.com/office/drawing/2014/main" id="{40256905-4C3B-1F00-A02A-C5B90157561B}"/>
              </a:ext>
            </a:extLst>
          </p:cNvPr>
          <p:cNvSpPr>
            <a:spLocks noGrp="1" noChangeArrowheads="1"/>
          </p:cNvSpPr>
          <p:nvPr>
            <p:ph type="body" idx="1"/>
          </p:nvPr>
        </p:nvSpPr>
        <p:spPr/>
        <p:txBody>
          <a:bodyPr/>
          <a:lstStyle/>
          <a:p>
            <a:r>
              <a:rPr lang="en-US" altLang="en-US"/>
              <a:t>Reference group influence does not affect all consumers in the same way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E8DD0F4-B14A-9A1F-5190-A89D51011086}"/>
              </a:ext>
            </a:extLst>
          </p:cNvPr>
          <p:cNvSpPr>
            <a:spLocks noGrp="1" noChangeArrowheads="1"/>
          </p:cNvSpPr>
          <p:nvPr>
            <p:ph type="sldNum" sz="quarter" idx="5"/>
          </p:nvPr>
        </p:nvSpPr>
        <p:spPr>
          <a:ln/>
        </p:spPr>
        <p:txBody>
          <a:bodyPr/>
          <a:lstStyle/>
          <a:p>
            <a:fld id="{AEDE8FAA-F2E9-4B05-A78D-B7B817626C6A}" type="slidenum">
              <a:rPr lang="en-US" altLang="en-US"/>
              <a:pPr/>
              <a:t>15</a:t>
            </a:fld>
            <a:endParaRPr lang="en-US" altLang="en-US"/>
          </a:p>
        </p:txBody>
      </p:sp>
      <p:sp>
        <p:nvSpPr>
          <p:cNvPr id="110594" name="Rectangle 2">
            <a:extLst>
              <a:ext uri="{FF2B5EF4-FFF2-40B4-BE49-F238E27FC236}">
                <a16:creationId xmlns:a16="http://schemas.microsoft.com/office/drawing/2014/main" id="{4779B660-109A-D217-1E0D-FE829C2F83A6}"/>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2BB64583-9C49-AD4D-7480-B0217D54B0A8}"/>
              </a:ext>
            </a:extLst>
          </p:cNvPr>
          <p:cNvSpPr>
            <a:spLocks noGrp="1" noChangeArrowheads="1"/>
          </p:cNvSpPr>
          <p:nvPr>
            <p:ph type="body" idx="1"/>
          </p:nvPr>
        </p:nvSpPr>
        <p:spPr/>
        <p:txBody>
          <a:bodyPr/>
          <a:lstStyle/>
          <a:p>
            <a:r>
              <a:rPr lang="en-US" altLang="en-US"/>
              <a:t>What would you guess the relationship is?</a:t>
            </a:r>
          </a:p>
          <a:p>
            <a:endParaRPr lang="en-US" altLang="en-US"/>
          </a:p>
          <a:p>
            <a:r>
              <a:rPr lang="en-US" altLang="en-US"/>
              <a:t>Conversely?</a:t>
            </a:r>
          </a:p>
          <a:p>
            <a:endParaRPr lang="en-US" altLang="en-US"/>
          </a:p>
          <a:p>
            <a:r>
              <a:rPr lang="en-US" altLang="en-US"/>
              <a:t>Example? </a:t>
            </a:r>
          </a:p>
          <a:p>
            <a:r>
              <a:rPr lang="en-US" altLang="en-US"/>
              <a:t>Buying a car: access to information in Consumer Reports, previous driving experience, means less likely to be influenced by, e.g., parent or family member (as opposed to first car)</a:t>
            </a:r>
          </a:p>
          <a:p>
            <a:endParaRPr lang="en-US" altLang="en-US"/>
          </a:p>
          <a:p>
            <a:r>
              <a:rPr lang="en-US" altLang="en-US"/>
              <a:t>When you buy your first computer…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82ADD00-7A05-9138-2A00-6B204CA03C02}"/>
              </a:ext>
            </a:extLst>
          </p:cNvPr>
          <p:cNvSpPr>
            <a:spLocks noGrp="1" noChangeArrowheads="1"/>
          </p:cNvSpPr>
          <p:nvPr>
            <p:ph type="sldNum" sz="quarter" idx="5"/>
          </p:nvPr>
        </p:nvSpPr>
        <p:spPr>
          <a:ln/>
        </p:spPr>
        <p:txBody>
          <a:bodyPr/>
          <a:lstStyle/>
          <a:p>
            <a:fld id="{17D93953-2CD1-4770-8EFD-796C2DA914B8}" type="slidenum">
              <a:rPr lang="en-US" altLang="en-US"/>
              <a:pPr/>
              <a:t>16</a:t>
            </a:fld>
            <a:endParaRPr lang="en-US" altLang="en-US"/>
          </a:p>
        </p:txBody>
      </p:sp>
      <p:sp>
        <p:nvSpPr>
          <p:cNvPr id="112642" name="Rectangle 2">
            <a:extLst>
              <a:ext uri="{FF2B5EF4-FFF2-40B4-BE49-F238E27FC236}">
                <a16:creationId xmlns:a16="http://schemas.microsoft.com/office/drawing/2014/main" id="{7AB77A65-5264-0938-B5AB-CDEE3C824A6A}"/>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77BF9B68-8613-35CD-C621-3710E752BC58}"/>
              </a:ext>
            </a:extLst>
          </p:cNvPr>
          <p:cNvSpPr>
            <a:spLocks noGrp="1" noChangeArrowheads="1"/>
          </p:cNvSpPr>
          <p:nvPr>
            <p:ph type="body" idx="1"/>
          </p:nvPr>
        </p:nvSpPr>
        <p:spPr/>
        <p:txBody>
          <a:bodyPr/>
          <a:lstStyle/>
          <a:p>
            <a:r>
              <a:rPr lang="en-US" altLang="en-US"/>
              <a:t>Can you guess the relationship here?</a:t>
            </a:r>
          </a:p>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B5FD91-C2E3-89CB-360B-D4FCE95753A4}"/>
              </a:ext>
            </a:extLst>
          </p:cNvPr>
          <p:cNvSpPr>
            <a:spLocks noGrp="1" noChangeArrowheads="1"/>
          </p:cNvSpPr>
          <p:nvPr>
            <p:ph type="sldNum" sz="quarter" idx="5"/>
          </p:nvPr>
        </p:nvSpPr>
        <p:spPr>
          <a:ln/>
        </p:spPr>
        <p:txBody>
          <a:bodyPr/>
          <a:lstStyle/>
          <a:p>
            <a:fld id="{7B03C3DB-C6AF-4499-9B1A-E372770BE2F0}" type="slidenum">
              <a:rPr lang="en-US" altLang="en-US"/>
              <a:pPr/>
              <a:t>17</a:t>
            </a:fld>
            <a:endParaRPr lang="en-US" altLang="en-US"/>
          </a:p>
        </p:txBody>
      </p:sp>
      <p:sp>
        <p:nvSpPr>
          <p:cNvPr id="114690" name="Rectangle 2">
            <a:extLst>
              <a:ext uri="{FF2B5EF4-FFF2-40B4-BE49-F238E27FC236}">
                <a16:creationId xmlns:a16="http://schemas.microsoft.com/office/drawing/2014/main" id="{D0879ADE-E536-6705-9955-683BD929D4A4}"/>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6FF48CE5-7317-2EBC-8193-C74F1BAC9786}"/>
              </a:ext>
            </a:extLst>
          </p:cNvPr>
          <p:cNvSpPr>
            <a:spLocks noGrp="1" noChangeArrowheads="1"/>
          </p:cNvSpPr>
          <p:nvPr>
            <p:ph type="body" idx="1"/>
          </p:nvPr>
        </p:nvSpPr>
        <p:spPr/>
        <p:txBody>
          <a:bodyPr/>
          <a:lstStyle/>
          <a:p>
            <a:r>
              <a:rPr lang="en-US" altLang="en-US"/>
              <a:t>Again, what do you think the relationship is here?</a:t>
            </a:r>
          </a:p>
          <a:p>
            <a:endParaRPr lang="en-US" altLang="en-US"/>
          </a:p>
          <a:p>
            <a:r>
              <a:rPr lang="en-US" altLang="en-US"/>
              <a:t>Examples? </a:t>
            </a:r>
          </a:p>
          <a:p>
            <a:r>
              <a:rPr lang="en-US" altLang="en-US"/>
              <a:t>See ad in Kanuk p. 267</a:t>
            </a:r>
          </a:p>
          <a:p>
            <a:endParaRPr lang="en-US" altLang="en-US"/>
          </a:p>
          <a:p>
            <a:r>
              <a:rPr lang="en-US" altLang="en-US"/>
              <a:t>Of course, as book points out, it might apply to more mundane items—like beer--as well (study found that group influence was important when beer was served to friends but not when consumed privately)</a:t>
            </a:r>
          </a:p>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E70D0D9-A364-3461-8C41-13BCD1D2F792}"/>
              </a:ext>
            </a:extLst>
          </p:cNvPr>
          <p:cNvSpPr>
            <a:spLocks noGrp="1" noChangeArrowheads="1"/>
          </p:cNvSpPr>
          <p:nvPr>
            <p:ph type="sldNum" sz="quarter" idx="5"/>
          </p:nvPr>
        </p:nvSpPr>
        <p:spPr>
          <a:ln/>
        </p:spPr>
        <p:txBody>
          <a:bodyPr/>
          <a:lstStyle/>
          <a:p>
            <a:fld id="{19A80242-0F53-4855-8028-AE3C19A5513F}" type="slidenum">
              <a:rPr lang="en-US" altLang="en-US"/>
              <a:pPr/>
              <a:t>18</a:t>
            </a:fld>
            <a:endParaRPr lang="en-US" altLang="en-US"/>
          </a:p>
        </p:txBody>
      </p:sp>
      <p:sp>
        <p:nvSpPr>
          <p:cNvPr id="122882" name="Rectangle 2">
            <a:extLst>
              <a:ext uri="{FF2B5EF4-FFF2-40B4-BE49-F238E27FC236}">
                <a16:creationId xmlns:a16="http://schemas.microsoft.com/office/drawing/2014/main" id="{883810A1-B8D8-3EE0-6F58-875EC283D78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BB9AAD97-C5A8-E2C2-EC06-2D125C17668A}"/>
              </a:ext>
            </a:extLst>
          </p:cNvPr>
          <p:cNvSpPr>
            <a:spLocks noGrp="1" noChangeArrowheads="1"/>
          </p:cNvSpPr>
          <p:nvPr>
            <p:ph type="body" idx="1"/>
          </p:nvPr>
        </p:nvSpPr>
        <p:spPr/>
        <p:txBody>
          <a:bodyPr/>
          <a:lstStyle/>
          <a:p>
            <a:r>
              <a:rPr lang="en-US" altLang="en-US"/>
              <a:t>Examples?</a:t>
            </a:r>
          </a:p>
          <a:p>
            <a:r>
              <a:rPr lang="en-US" altLang="en-US"/>
              <a:t>Mountain Dew ads, showing a bunch of snowboarder types</a:t>
            </a:r>
          </a:p>
          <a:p>
            <a:r>
              <a:rPr lang="en-US" altLang="en-US"/>
              <a:t>Lorne Green (“Pa” on Bonanza) pitching life insurance to older folks; Ed McMahon</a:t>
            </a:r>
          </a:p>
          <a:p>
            <a:r>
              <a:rPr lang="en-US" altLang="en-US"/>
              <a:t>People dressed in Dr.’s coat to influence mainly older folks, because in their generation doctors were revered</a:t>
            </a:r>
          </a:p>
          <a:p>
            <a:endParaRPr lang="en-US" altLang="en-US"/>
          </a:p>
          <a:p>
            <a:endParaRPr lang="en-US" altLang="en-US"/>
          </a:p>
          <a:p>
            <a:r>
              <a:rPr lang="en-US" altLang="en-US"/>
              <a:t>Include?</a:t>
            </a:r>
          </a:p>
          <a:p>
            <a:r>
              <a:rPr lang="en-US" altLang="en-US"/>
              <a:t>“Buzz marketing” uses other kids to sell products to kids; nice-looking young women to interest young men in beer, wine, etc.</a:t>
            </a:r>
          </a:p>
          <a:p>
            <a:r>
              <a:rPr lang="en-US" altLang="en-US"/>
              <a:t>Affinity Marketing (book p. 410)--project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94FF190-A85F-2405-F843-19D08A45CCDB}"/>
              </a:ext>
            </a:extLst>
          </p:cNvPr>
          <p:cNvSpPr>
            <a:spLocks noGrp="1" noChangeArrowheads="1"/>
          </p:cNvSpPr>
          <p:nvPr>
            <p:ph type="sldNum" sz="quarter" idx="5"/>
          </p:nvPr>
        </p:nvSpPr>
        <p:spPr>
          <a:ln/>
        </p:spPr>
        <p:txBody>
          <a:bodyPr/>
          <a:lstStyle/>
          <a:p>
            <a:fld id="{F6D77A42-1FE9-4152-9A65-0327E1F881CA}" type="slidenum">
              <a:rPr lang="en-US" altLang="en-US"/>
              <a:pPr/>
              <a:t>19</a:t>
            </a:fld>
            <a:endParaRPr lang="en-US" altLang="en-US"/>
          </a:p>
        </p:txBody>
      </p:sp>
      <p:sp>
        <p:nvSpPr>
          <p:cNvPr id="124930" name="Rectangle 2">
            <a:extLst>
              <a:ext uri="{FF2B5EF4-FFF2-40B4-BE49-F238E27FC236}">
                <a16:creationId xmlns:a16="http://schemas.microsoft.com/office/drawing/2014/main" id="{219F999F-1591-20D8-DB0B-72824974E20F}"/>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2F5F9382-0989-4C22-0395-74F055DEDA90}"/>
              </a:ext>
            </a:extLst>
          </p:cNvPr>
          <p:cNvSpPr>
            <a:spLocks noGrp="1" noChangeArrowheads="1"/>
          </p:cNvSpPr>
          <p:nvPr>
            <p:ph type="body" idx="1"/>
          </p:nvPr>
        </p:nvSpPr>
        <p:spPr/>
        <p:txBody>
          <a:bodyPr/>
          <a:lstStyle/>
          <a:p>
            <a:r>
              <a:rPr lang="en-US" altLang="en-US"/>
              <a:t>Note that families could be put in this group, but we will address families in a different chapter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0258F46-3A17-B7CF-37A5-59FB44E15E20}"/>
              </a:ext>
            </a:extLst>
          </p:cNvPr>
          <p:cNvSpPr>
            <a:spLocks noGrp="1" noChangeArrowheads="1"/>
          </p:cNvSpPr>
          <p:nvPr>
            <p:ph type="sldNum" sz="quarter" idx="5"/>
          </p:nvPr>
        </p:nvSpPr>
        <p:spPr>
          <a:ln/>
        </p:spPr>
        <p:txBody>
          <a:bodyPr/>
          <a:lstStyle/>
          <a:p>
            <a:fld id="{F7CCA478-41CA-4C89-8084-0AB30953564A}" type="slidenum">
              <a:rPr lang="en-US" altLang="en-US"/>
              <a:pPr/>
              <a:t>20</a:t>
            </a:fld>
            <a:endParaRPr lang="en-US" altLang="en-US"/>
          </a:p>
        </p:txBody>
      </p:sp>
      <p:sp>
        <p:nvSpPr>
          <p:cNvPr id="126978" name="Rectangle 2">
            <a:extLst>
              <a:ext uri="{FF2B5EF4-FFF2-40B4-BE49-F238E27FC236}">
                <a16:creationId xmlns:a16="http://schemas.microsoft.com/office/drawing/2014/main" id="{E25A35A8-643A-DB83-8689-151C644EE405}"/>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E7A7FA22-77A5-EBA1-0567-77B46DFC2D82}"/>
              </a:ext>
            </a:extLst>
          </p:cNvPr>
          <p:cNvSpPr>
            <a:spLocks noGrp="1" noChangeArrowheads="1"/>
          </p:cNvSpPr>
          <p:nvPr>
            <p:ph type="body" idx="1"/>
          </p:nvPr>
        </p:nvSpPr>
        <p:spPr/>
        <p:txBody>
          <a:bodyPr/>
          <a:lstStyle/>
          <a:p>
            <a:r>
              <a:rPr lang="en-US" altLang="en-US"/>
              <a:t>Relatively speaking, how likely to influence a consumer’s decision?</a:t>
            </a:r>
          </a:p>
          <a:p>
            <a:endParaRPr lang="en-US" altLang="en-US"/>
          </a:p>
          <a:p>
            <a:r>
              <a:rPr lang="en-US" altLang="en-US"/>
              <a:t>Why?</a:t>
            </a:r>
          </a:p>
          <a:p>
            <a:endParaRPr lang="en-US" altLang="en-US"/>
          </a:p>
          <a:p>
            <a:r>
              <a:rPr lang="en-US" altLang="en-US"/>
              <a:t>Think, e.g., of some beer ads you’ve seen—always show groups of people having a good time (“Miller time”)</a:t>
            </a:r>
          </a:p>
          <a:p>
            <a:r>
              <a:rPr lang="en-US" altLang="en-US"/>
              <a:t>Do they ever depict someone drinking alone?</a:t>
            </a:r>
          </a:p>
          <a:p>
            <a:endParaRPr lang="en-US" altLang="en-US"/>
          </a:p>
          <a:p>
            <a:r>
              <a:rPr lang="en-US" altLang="en-US"/>
              <a:t>Recent ads for coke, chips, etc.</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3E01F1-5B7D-5563-B8C6-1C64336D0A1F}"/>
              </a:ext>
            </a:extLst>
          </p:cNvPr>
          <p:cNvSpPr>
            <a:spLocks noGrp="1" noChangeArrowheads="1"/>
          </p:cNvSpPr>
          <p:nvPr>
            <p:ph type="sldNum" sz="quarter" idx="5"/>
          </p:nvPr>
        </p:nvSpPr>
        <p:spPr>
          <a:ln/>
        </p:spPr>
        <p:txBody>
          <a:bodyPr/>
          <a:lstStyle/>
          <a:p>
            <a:fld id="{07063CC2-A203-40C3-A928-75F3F0A83A6F}" type="slidenum">
              <a:rPr lang="en-US" altLang="en-US"/>
              <a:pPr/>
              <a:t>21</a:t>
            </a:fld>
            <a:endParaRPr lang="en-US" altLang="en-US"/>
          </a:p>
        </p:txBody>
      </p:sp>
      <p:sp>
        <p:nvSpPr>
          <p:cNvPr id="129026" name="Rectangle 2">
            <a:extLst>
              <a:ext uri="{FF2B5EF4-FFF2-40B4-BE49-F238E27FC236}">
                <a16:creationId xmlns:a16="http://schemas.microsoft.com/office/drawing/2014/main" id="{5A374FAE-CF83-8D8D-8DDB-ADCF76601CBE}"/>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D4EB2510-E981-C54D-7F8E-938F3A9976EC}"/>
              </a:ext>
            </a:extLst>
          </p:cNvPr>
          <p:cNvSpPr>
            <a:spLocks noGrp="1" noChangeArrowheads="1"/>
          </p:cNvSpPr>
          <p:nvPr>
            <p:ph type="body" idx="1"/>
          </p:nvPr>
        </p:nvSpPr>
        <p:spPr/>
        <p:txBody>
          <a:bodyPr/>
          <a:lstStyle/>
          <a:p>
            <a:r>
              <a:rPr lang="en-US" altLang="en-US"/>
              <a:t>What is it?</a:t>
            </a:r>
          </a:p>
          <a:p>
            <a:endParaRPr lang="en-US" altLang="en-US"/>
          </a:p>
          <a:p>
            <a:r>
              <a:rPr lang="en-US" altLang="en-US"/>
              <a:t>Why do people shop together?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A951B38-EEFB-17C5-8BC1-447D875A6E34}"/>
              </a:ext>
            </a:extLst>
          </p:cNvPr>
          <p:cNvSpPr>
            <a:spLocks noGrp="1" noChangeArrowheads="1"/>
          </p:cNvSpPr>
          <p:nvPr>
            <p:ph type="sldNum" sz="quarter" idx="5"/>
          </p:nvPr>
        </p:nvSpPr>
        <p:spPr>
          <a:ln/>
        </p:spPr>
        <p:txBody>
          <a:bodyPr/>
          <a:lstStyle/>
          <a:p>
            <a:fld id="{AAF05D49-E3B9-40A7-8306-75880C9B18B6}" type="slidenum">
              <a:rPr lang="en-US" altLang="en-US"/>
              <a:pPr/>
              <a:t>22</a:t>
            </a:fld>
            <a:endParaRPr lang="en-US" altLang="en-US"/>
          </a:p>
        </p:txBody>
      </p:sp>
      <p:sp>
        <p:nvSpPr>
          <p:cNvPr id="131074" name="Rectangle 2">
            <a:extLst>
              <a:ext uri="{FF2B5EF4-FFF2-40B4-BE49-F238E27FC236}">
                <a16:creationId xmlns:a16="http://schemas.microsoft.com/office/drawing/2014/main" id="{B85FB9DE-2D58-692E-A443-9B7672381EF7}"/>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34789046-D4ED-8240-C493-10D685CB3C35}"/>
              </a:ext>
            </a:extLst>
          </p:cNvPr>
          <p:cNvSpPr>
            <a:spLocks noGrp="1" noChangeArrowheads="1"/>
          </p:cNvSpPr>
          <p:nvPr>
            <p:ph type="body" idx="1"/>
          </p:nvPr>
        </p:nvSpPr>
        <p:spPr/>
        <p:txBody>
          <a:bodyPr/>
          <a:lstStyle/>
          <a:p>
            <a:r>
              <a:rPr lang="en-US" altLang="en-US"/>
              <a:t>A third category of reference group is…</a:t>
            </a:r>
          </a:p>
          <a:p>
            <a:endParaRPr lang="en-US" altLang="en-US"/>
          </a:p>
          <a:p>
            <a:r>
              <a:rPr lang="en-US" altLang="en-US"/>
              <a:t>…and thus hold the same influence as other friends</a:t>
            </a:r>
          </a:p>
          <a:p>
            <a:endParaRPr lang="en-US" altLang="en-US"/>
          </a:p>
          <a:p>
            <a:r>
              <a:rPr lang="en-US" altLang="en-US"/>
              <a:t>In recognition of the importance of workplace groups, some companies that traditionally sold at home (e.g., Avon and Tupperware) now encourage sales reps to reach working women at their places of employment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6D9FFFC-B21C-ECA0-38DC-6EAFDD3B8B4D}"/>
              </a:ext>
            </a:extLst>
          </p:cNvPr>
          <p:cNvSpPr>
            <a:spLocks noGrp="1" noChangeArrowheads="1"/>
          </p:cNvSpPr>
          <p:nvPr>
            <p:ph type="sldNum" sz="quarter" idx="5"/>
          </p:nvPr>
        </p:nvSpPr>
        <p:spPr>
          <a:ln/>
        </p:spPr>
        <p:txBody>
          <a:bodyPr/>
          <a:lstStyle/>
          <a:p>
            <a:fld id="{4AE8B6A6-E503-440F-B64D-6285E1F81D40}" type="slidenum">
              <a:rPr lang="en-US" altLang="en-US"/>
              <a:pPr/>
              <a:t>23</a:t>
            </a:fld>
            <a:endParaRPr lang="en-US" altLang="en-US"/>
          </a:p>
        </p:txBody>
      </p:sp>
      <p:sp>
        <p:nvSpPr>
          <p:cNvPr id="133122" name="Rectangle 2">
            <a:extLst>
              <a:ext uri="{FF2B5EF4-FFF2-40B4-BE49-F238E27FC236}">
                <a16:creationId xmlns:a16="http://schemas.microsoft.com/office/drawing/2014/main" id="{B7CE677F-2C28-05B6-5312-CFA95C26CD19}"/>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082CE203-9795-0544-D9D5-9E62712C8F2F}"/>
              </a:ext>
            </a:extLst>
          </p:cNvPr>
          <p:cNvSpPr>
            <a:spLocks noGrp="1" noChangeArrowheads="1"/>
          </p:cNvSpPr>
          <p:nvPr>
            <p:ph type="body" idx="1"/>
          </p:nvPr>
        </p:nvSpPr>
        <p:spPr/>
        <p:txBody>
          <a:bodyPr/>
          <a:lstStyle/>
          <a:p>
            <a:r>
              <a:rPr lang="en-US" altLang="en-US"/>
              <a:t>Public vs. private?</a:t>
            </a:r>
          </a:p>
          <a:p>
            <a:r>
              <a:rPr lang="en-US" altLang="en-US"/>
              <a:t>FTC vs. BBB</a:t>
            </a:r>
          </a:p>
          <a:p>
            <a:endParaRPr lang="en-US" altLang="en-US"/>
          </a:p>
          <a:p>
            <a:r>
              <a:rPr lang="en-US" altLang="en-US"/>
              <a:t>Single-issue vs. broad-based: </a:t>
            </a:r>
          </a:p>
          <a:p>
            <a:r>
              <a:rPr lang="en-US" altLang="en-US"/>
              <a:t>Center for Auto Safety vs. VPIRG</a:t>
            </a:r>
          </a:p>
          <a:p>
            <a:endParaRPr lang="en-US" altLang="en-US"/>
          </a:p>
          <a:p>
            <a:r>
              <a:rPr lang="en-US" altLang="en-US"/>
              <a:t>Temporary vs. permanent:</a:t>
            </a:r>
          </a:p>
          <a:p>
            <a:r>
              <a:rPr lang="en-US" altLang="en-US"/>
              <a:t>Group that organizes to boycott a particular company or specific product until change is made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AF7DC8-3D15-21EB-1B82-6D166DB6E069}"/>
              </a:ext>
            </a:extLst>
          </p:cNvPr>
          <p:cNvSpPr>
            <a:spLocks noGrp="1" noChangeArrowheads="1"/>
          </p:cNvSpPr>
          <p:nvPr>
            <p:ph type="sldNum" sz="quarter" idx="5"/>
          </p:nvPr>
        </p:nvSpPr>
        <p:spPr>
          <a:ln/>
        </p:spPr>
        <p:txBody>
          <a:bodyPr/>
          <a:lstStyle/>
          <a:p>
            <a:fld id="{FF32870D-2B9B-462A-AB56-925AB49771A4}" type="slidenum">
              <a:rPr lang="en-US" altLang="en-US"/>
              <a:pPr/>
              <a:t>25</a:t>
            </a:fld>
            <a:endParaRPr lang="en-US" altLang="en-US"/>
          </a:p>
        </p:txBody>
      </p:sp>
      <p:sp>
        <p:nvSpPr>
          <p:cNvPr id="136194" name="Rectangle 2">
            <a:extLst>
              <a:ext uri="{FF2B5EF4-FFF2-40B4-BE49-F238E27FC236}">
                <a16:creationId xmlns:a16="http://schemas.microsoft.com/office/drawing/2014/main" id="{81B64B05-ED73-C0B4-3E75-6C00FD7A4A24}"/>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5262569F-DAF9-4434-6F9B-40BF17907747}"/>
              </a:ext>
            </a:extLst>
          </p:cNvPr>
          <p:cNvSpPr>
            <a:spLocks noGrp="1" noChangeArrowheads="1"/>
          </p:cNvSpPr>
          <p:nvPr>
            <p:ph type="body" idx="1"/>
          </p:nvPr>
        </p:nvSpPr>
        <p:spPr/>
        <p:txBody>
          <a:bodyPr/>
          <a:lstStyle/>
          <a:p>
            <a:pPr marL="228600" indent="-228600"/>
            <a:r>
              <a:rPr lang="en-US" altLang="en-US"/>
              <a:t>What’s the theory behind having a movie star or famous jock behind a product?</a:t>
            </a:r>
          </a:p>
          <a:p>
            <a:pPr marL="228600" indent="-228600"/>
            <a:r>
              <a:rPr lang="en-US" altLang="en-US"/>
              <a:t>In other words, if it’s good enough for him, it’s good enough for me.</a:t>
            </a:r>
          </a:p>
          <a:p>
            <a:pPr marL="228600" indent="-228600"/>
            <a:endParaRPr lang="en-US" altLang="en-US"/>
          </a:p>
          <a:p>
            <a:pPr marL="228600" indent="-228600"/>
            <a:r>
              <a:rPr lang="en-US" altLang="en-US"/>
              <a:t>Do celebrity appeals work?</a:t>
            </a:r>
          </a:p>
          <a:p>
            <a:pPr marL="228600" indent="-228600"/>
            <a:r>
              <a:rPr lang="en-US" altLang="en-US"/>
              <a:t>According to one source, the companies whose products Michael Jordan represents saw their stock value increase by a combined $1 billion the first time he un-retired from basketball</a:t>
            </a:r>
          </a:p>
          <a:p>
            <a:pPr marL="228600" indent="-228600"/>
            <a:endParaRPr lang="en-US" altLang="en-US"/>
          </a:p>
          <a:p>
            <a:pPr marL="228600" indent="-228600"/>
            <a:r>
              <a:rPr lang="en-US" altLang="en-US"/>
              <a:t>Examples of all four?</a:t>
            </a:r>
          </a:p>
          <a:p>
            <a:pPr marL="228600" indent="-228600">
              <a:buFontTx/>
              <a:buAutoNum type="arabicPeriod"/>
            </a:pPr>
            <a:r>
              <a:rPr lang="en-US" altLang="en-US"/>
              <a:t>Tiger Woods and golf balls</a:t>
            </a:r>
          </a:p>
          <a:p>
            <a:pPr marL="228600" indent="-228600">
              <a:buFontTx/>
              <a:buAutoNum type="arabicPeriod"/>
            </a:pPr>
            <a:r>
              <a:rPr lang="en-US" altLang="en-US"/>
              <a:t>Tiger Woods and Buicks</a:t>
            </a:r>
          </a:p>
          <a:p>
            <a:pPr marL="228600" indent="-228600">
              <a:buFontTx/>
              <a:buAutoNum type="arabicPeriod"/>
            </a:pPr>
            <a:r>
              <a:rPr lang="en-US" altLang="en-US"/>
              <a:t>Jason Alexander (George) for KFC; Seinfeld for American Express; others?</a:t>
            </a:r>
          </a:p>
          <a:p>
            <a:pPr marL="228600" indent="-228600">
              <a:buFontTx/>
              <a:buAutoNum type="arabicPeriod"/>
            </a:pPr>
            <a:r>
              <a:rPr lang="en-US" altLang="en-US"/>
              <a:t>Bill Cosby and Jello</a:t>
            </a:r>
          </a:p>
          <a:p>
            <a:pPr marL="228600" indent="-228600"/>
            <a:endParaRPr lang="en-US" altLang="en-US"/>
          </a:p>
          <a:p>
            <a:pPr marL="228600" indent="-228600"/>
            <a:r>
              <a:rPr lang="en-US" altLang="en-US"/>
              <a:t>Note that a </a:t>
            </a:r>
            <a:r>
              <a:rPr lang="en-US" altLang="en-US" b="1" i="1"/>
              <a:t>testimonial</a:t>
            </a:r>
            <a:r>
              <a:rPr lang="en-US" altLang="en-US"/>
              <a:t> implies the celebrity uses the product, so if he or she doesn’t, it would be illegal (see FTC guide)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11240F-67D8-2FEE-3A2C-15A563040B1B}"/>
              </a:ext>
            </a:extLst>
          </p:cNvPr>
          <p:cNvSpPr>
            <a:spLocks noGrp="1" noChangeArrowheads="1"/>
          </p:cNvSpPr>
          <p:nvPr>
            <p:ph type="sldNum" sz="quarter" idx="5"/>
          </p:nvPr>
        </p:nvSpPr>
        <p:spPr>
          <a:ln/>
        </p:spPr>
        <p:txBody>
          <a:bodyPr/>
          <a:lstStyle/>
          <a:p>
            <a:fld id="{E6EBA0A5-1DBD-463E-9EBB-867C3D84FF40}" type="slidenum">
              <a:rPr lang="en-US" altLang="en-US"/>
              <a:pPr/>
              <a:t>26</a:t>
            </a:fld>
            <a:endParaRPr lang="en-US" altLang="en-US"/>
          </a:p>
        </p:txBody>
      </p:sp>
      <p:sp>
        <p:nvSpPr>
          <p:cNvPr id="138242" name="Rectangle 2">
            <a:extLst>
              <a:ext uri="{FF2B5EF4-FFF2-40B4-BE49-F238E27FC236}">
                <a16:creationId xmlns:a16="http://schemas.microsoft.com/office/drawing/2014/main" id="{93DE3B86-3CAA-68F9-1483-676982C2140F}"/>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606AC080-D45F-2F92-3356-552C0BB2A595}"/>
              </a:ext>
            </a:extLst>
          </p:cNvPr>
          <p:cNvSpPr>
            <a:spLocks noGrp="1" noChangeArrowheads="1"/>
          </p:cNvSpPr>
          <p:nvPr>
            <p:ph type="body" idx="1"/>
          </p:nvPr>
        </p:nvSpPr>
        <p:spPr/>
        <p:txBody>
          <a:bodyPr/>
          <a:lstStyle/>
          <a:p>
            <a:r>
              <a:rPr lang="en-US" altLang="en-US"/>
              <a:t>Why?</a:t>
            </a:r>
          </a:p>
          <a:p>
            <a:r>
              <a:rPr lang="en-US" altLang="en-US"/>
              <a:t>Because motivation appears to have more to do with making money</a:t>
            </a:r>
          </a:p>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6065AEA-9216-3329-0F10-40701A497125}"/>
              </a:ext>
            </a:extLst>
          </p:cNvPr>
          <p:cNvSpPr>
            <a:spLocks noGrp="1" noChangeArrowheads="1"/>
          </p:cNvSpPr>
          <p:nvPr>
            <p:ph type="sldNum" sz="quarter" idx="5"/>
          </p:nvPr>
        </p:nvSpPr>
        <p:spPr>
          <a:ln/>
        </p:spPr>
        <p:txBody>
          <a:bodyPr/>
          <a:lstStyle/>
          <a:p>
            <a:fld id="{6E6FD15D-368D-491E-89B0-19545E45A5B5}" type="slidenum">
              <a:rPr lang="en-US" altLang="en-US"/>
              <a:pPr/>
              <a:t>27</a:t>
            </a:fld>
            <a:endParaRPr lang="en-US" altLang="en-US"/>
          </a:p>
        </p:txBody>
      </p:sp>
      <p:sp>
        <p:nvSpPr>
          <p:cNvPr id="140290" name="Rectangle 2">
            <a:extLst>
              <a:ext uri="{FF2B5EF4-FFF2-40B4-BE49-F238E27FC236}">
                <a16:creationId xmlns:a16="http://schemas.microsoft.com/office/drawing/2014/main" id="{1A488AB3-EE1D-7633-144F-D0B42ADFCCEC}"/>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457ED525-BE33-D1D9-D6F8-EAEAC18EC698}"/>
              </a:ext>
            </a:extLst>
          </p:cNvPr>
          <p:cNvSpPr>
            <a:spLocks noGrp="1" noChangeArrowheads="1"/>
          </p:cNvSpPr>
          <p:nvPr>
            <p:ph type="body" idx="1"/>
          </p:nvPr>
        </p:nvSpPr>
        <p:spPr/>
        <p:txBody>
          <a:bodyPr/>
          <a:lstStyle/>
          <a:p>
            <a:r>
              <a:rPr lang="en-US" altLang="en-US"/>
              <a:t>What’s this?</a:t>
            </a:r>
          </a:p>
          <a:p>
            <a:endParaRPr lang="en-US" altLang="en-US"/>
          </a:p>
          <a:p>
            <a:r>
              <a:rPr lang="en-US" altLang="en-US"/>
              <a:t>Examples?</a:t>
            </a:r>
          </a:p>
          <a:p>
            <a:r>
              <a:rPr lang="en-US" altLang="en-US"/>
              <a:t>Doctors recommending OTC or prescription medications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0881A3-C8FE-DA6C-7BC8-7BA40FD430F5}"/>
              </a:ext>
            </a:extLst>
          </p:cNvPr>
          <p:cNvSpPr>
            <a:spLocks noGrp="1" noChangeArrowheads="1"/>
          </p:cNvSpPr>
          <p:nvPr>
            <p:ph type="sldNum" sz="quarter" idx="5"/>
          </p:nvPr>
        </p:nvSpPr>
        <p:spPr>
          <a:ln/>
        </p:spPr>
        <p:txBody>
          <a:bodyPr/>
          <a:lstStyle/>
          <a:p>
            <a:fld id="{E7FB9611-8270-4D93-A79B-B2538EFD55AE}" type="slidenum">
              <a:rPr lang="en-US" altLang="en-US"/>
              <a:pPr/>
              <a:t>28</a:t>
            </a:fld>
            <a:endParaRPr lang="en-US" altLang="en-US"/>
          </a:p>
        </p:txBody>
      </p:sp>
      <p:sp>
        <p:nvSpPr>
          <p:cNvPr id="142338" name="Rectangle 2">
            <a:extLst>
              <a:ext uri="{FF2B5EF4-FFF2-40B4-BE49-F238E27FC236}">
                <a16:creationId xmlns:a16="http://schemas.microsoft.com/office/drawing/2014/main" id="{7D9067EB-B405-B7EF-31DB-1F51F1BFAE0E}"/>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32759839-AFC3-7E77-6042-B335AA7402E7}"/>
              </a:ext>
            </a:extLst>
          </p:cNvPr>
          <p:cNvSpPr>
            <a:spLocks noGrp="1" noChangeArrowheads="1"/>
          </p:cNvSpPr>
          <p:nvPr>
            <p:ph type="body" idx="1"/>
          </p:nvPr>
        </p:nvSpPr>
        <p:spPr/>
        <p:txBody>
          <a:bodyPr/>
          <a:lstStyle/>
          <a:p>
            <a:r>
              <a:rPr lang="en-US" altLang="en-US"/>
              <a:t>Why is it effective?</a:t>
            </a:r>
          </a:p>
          <a:p>
            <a:endParaRPr lang="en-US" altLang="en-US"/>
          </a:p>
          <a:p>
            <a:r>
              <a:rPr lang="en-US" altLang="en-US"/>
              <a:t>E.g., anti-smoking, anti-alcohol campaigns</a:t>
            </a:r>
          </a:p>
          <a:p>
            <a:endParaRPr lang="en-US" altLang="en-US"/>
          </a:p>
          <a:p>
            <a:r>
              <a:rPr lang="en-US" altLang="en-US"/>
              <a:t>Other companies successfully using them include Saturn and (very recently) Apple Computer</a:t>
            </a:r>
          </a:p>
          <a:p>
            <a:endParaRPr lang="en-US" altLang="en-US"/>
          </a:p>
          <a:p>
            <a:r>
              <a:rPr lang="en-US" altLang="en-US"/>
              <a:t>Example of slice-of-life</a:t>
            </a:r>
          </a:p>
          <a:p>
            <a:r>
              <a:rPr lang="en-US" altLang="en-US"/>
              <a:t>Mom comes home from work and is too tired to cook so they order pizza or pop something healthy into the microwave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A4728C0-4335-FE04-E1CE-8D5095A5DD5B}"/>
              </a:ext>
            </a:extLst>
          </p:cNvPr>
          <p:cNvSpPr>
            <a:spLocks noGrp="1" noChangeArrowheads="1"/>
          </p:cNvSpPr>
          <p:nvPr>
            <p:ph type="sldNum" sz="quarter" idx="5"/>
          </p:nvPr>
        </p:nvSpPr>
        <p:spPr>
          <a:ln/>
        </p:spPr>
        <p:txBody>
          <a:bodyPr/>
          <a:lstStyle/>
          <a:p>
            <a:fld id="{5347A06B-862D-4BF5-B520-73C03238385D}" type="slidenum">
              <a:rPr lang="en-US" altLang="en-US"/>
              <a:pPr/>
              <a:t>29</a:t>
            </a:fld>
            <a:endParaRPr lang="en-US" altLang="en-US"/>
          </a:p>
        </p:txBody>
      </p:sp>
      <p:sp>
        <p:nvSpPr>
          <p:cNvPr id="144386" name="Rectangle 2">
            <a:extLst>
              <a:ext uri="{FF2B5EF4-FFF2-40B4-BE49-F238E27FC236}">
                <a16:creationId xmlns:a16="http://schemas.microsoft.com/office/drawing/2014/main" id="{9BF9FACE-DA5F-4C0B-9AD7-AA6595A35053}"/>
              </a:ext>
            </a:extLst>
          </p:cNvPr>
          <p:cNvSpPr>
            <a:spLocks noGrp="1" noRot="1" noChangeAspect="1" noChangeArrowheads="1" noTextEdit="1"/>
          </p:cNvSpPr>
          <p:nvPr>
            <p:ph type="sldImg"/>
          </p:nvPr>
        </p:nvSpPr>
        <p:spPr>
          <a:ln/>
        </p:spPr>
      </p:sp>
      <p:sp>
        <p:nvSpPr>
          <p:cNvPr id="144387" name="Rectangle 3">
            <a:extLst>
              <a:ext uri="{FF2B5EF4-FFF2-40B4-BE49-F238E27FC236}">
                <a16:creationId xmlns:a16="http://schemas.microsoft.com/office/drawing/2014/main" id="{005E22AF-A723-2828-84C6-8FE0F3019C9F}"/>
              </a:ext>
            </a:extLst>
          </p:cNvPr>
          <p:cNvSpPr>
            <a:spLocks noGrp="1" noChangeArrowheads="1"/>
          </p:cNvSpPr>
          <p:nvPr>
            <p:ph type="body" idx="1"/>
          </p:nvPr>
        </p:nvSpPr>
        <p:spPr/>
        <p:txBody>
          <a:bodyPr/>
          <a:lstStyle/>
          <a:p>
            <a:r>
              <a:rPr lang="en-US" altLang="en-US"/>
              <a:t>Some, in fact, became celebrities:</a:t>
            </a:r>
          </a:p>
          <a:p>
            <a:r>
              <a:rPr lang="en-US" altLang="en-US"/>
              <a:t>Lee Iacocca at Chrysler; </a:t>
            </a:r>
          </a:p>
          <a:p>
            <a:r>
              <a:rPr lang="en-US" altLang="en-US"/>
              <a:t>Frank Perdue of Perdue chicken fame; </a:t>
            </a:r>
          </a:p>
          <a:p>
            <a:r>
              <a:rPr lang="en-US" altLang="en-US"/>
              <a:t>Dave Thomas of Wendy’s; </a:t>
            </a:r>
          </a:p>
          <a:p>
            <a:r>
              <a:rPr lang="en-US" altLang="en-US"/>
              <a:t>Bill Gates of Microsoft</a:t>
            </a:r>
          </a:p>
          <a:p>
            <a:r>
              <a:rPr lang="en-US" altLang="en-US"/>
              <a:t>Ben &amp; Jerry</a:t>
            </a:r>
          </a:p>
          <a:p>
            <a:endParaRPr lang="en-US" altLang="en-US"/>
          </a:p>
          <a:p>
            <a:r>
              <a:rPr lang="en-US" altLang="en-US"/>
              <a:t>Of course, in the next decade we may see just the opposite, given current climate for CEO’s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Rectangle 21"/>
          <p:cNvSpPr/>
          <p:nvPr userDrawn="1"/>
        </p:nvSpPr>
        <p:spPr>
          <a:xfrm>
            <a:off x="-39753" y="-51683"/>
            <a:ext cx="12235732" cy="6909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7180729" y="269109"/>
            <a:ext cx="6320118" cy="6333565"/>
          </a:xfrm>
          <a:prstGeom prst="rect">
            <a:avLst/>
          </a:prstGeom>
          <a:blipFill dpi="0" rotWithShape="1">
            <a:blip r:embed="rId2">
              <a:alphaModFix amt="6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8CF8120-5D43-445C-81DE-BB63D27CD451}"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76395-65C6-40C6-B0F2-3F72B3156A66}" type="slidenum">
              <a:rPr lang="en-US" smtClean="0"/>
              <a:t>‹#›</a:t>
            </a:fld>
            <a:endParaRPr lang="en-US"/>
          </a:p>
        </p:txBody>
      </p:sp>
      <p:pic>
        <p:nvPicPr>
          <p:cNvPr id="23" name="Picture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0890" y="483244"/>
            <a:ext cx="2684166" cy="680012"/>
          </a:xfrm>
          <a:prstGeom prst="rect">
            <a:avLst/>
          </a:prstGeom>
        </p:spPr>
      </p:pic>
    </p:spTree>
    <p:extLst>
      <p:ext uri="{BB962C8B-B14F-4D97-AF65-F5344CB8AC3E}">
        <p14:creationId xmlns:p14="http://schemas.microsoft.com/office/powerpoint/2010/main" val="205332169"/>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144" userDrawn="1">
          <p15:clr>
            <a:srgbClr val="FBAE40"/>
          </p15:clr>
        </p15:guide>
        <p15:guide id="3" pos="7536" userDrawn="1">
          <p15:clr>
            <a:srgbClr val="FBAE40"/>
          </p15:clr>
        </p15:guide>
        <p15:guide id="4" orient="horz" pos="144" userDrawn="1">
          <p15:clr>
            <a:srgbClr val="FBAE40"/>
          </p15:clr>
        </p15:guide>
        <p15:guide id="5" orient="horz" pos="576" userDrawn="1">
          <p15:clr>
            <a:srgbClr val="FBAE40"/>
          </p15:clr>
        </p15:guide>
        <p15:guide id="6" pos="3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230" y="1392751"/>
            <a:ext cx="5641606" cy="4734065"/>
          </a:xfrm>
        </p:spPr>
        <p:txBody>
          <a:bodyPr/>
          <a:lstStyle>
            <a:lvl1pPr marL="0" indent="0">
              <a:buNone/>
              <a:defRPr/>
            </a:lvl1pPr>
          </a:lstStyle>
          <a:p>
            <a:pPr lvl="0"/>
            <a:endParaRPr lang="en-US" dirty="0"/>
          </a:p>
        </p:txBody>
      </p:sp>
      <p:sp>
        <p:nvSpPr>
          <p:cNvPr id="4" name="Date Placeholder 3"/>
          <p:cNvSpPr>
            <a:spLocks noGrp="1"/>
          </p:cNvSpPr>
          <p:nvPr>
            <p:ph type="dt" sz="half" idx="10"/>
          </p:nvPr>
        </p:nvSpPr>
        <p:spPr/>
        <p:txBody>
          <a:bodyPr/>
          <a:lstStyle/>
          <a:p>
            <a:fld id="{C8CF8120-5D43-445C-81DE-BB63D27CD451}" type="datetimeFigureOut">
              <a:rPr lang="en-US" smtClean="0"/>
              <a:t>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76395-65C6-40C6-B0F2-3F72B3156A66}" type="slidenum">
              <a:rPr lang="en-US" smtClean="0"/>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03756" y="4335371"/>
            <a:ext cx="3159890" cy="3159890"/>
          </a:xfrm>
          <a:prstGeom prst="rect">
            <a:avLst/>
          </a:prstGeom>
          <a:blipFill>
            <a:blip r:embed="rId3">
              <a:alphaModFix amt="0"/>
            </a:blip>
            <a:stretch>
              <a:fillRect/>
            </a:stretch>
          </a:blipFill>
        </p:spPr>
      </p:pic>
      <p:sp>
        <p:nvSpPr>
          <p:cNvPr id="12" name="Content Placeholder 3"/>
          <p:cNvSpPr>
            <a:spLocks noGrp="1"/>
          </p:cNvSpPr>
          <p:nvPr>
            <p:ph sz="half" idx="2" hasCustomPrompt="1"/>
          </p:nvPr>
        </p:nvSpPr>
        <p:spPr>
          <a:xfrm>
            <a:off x="6540660" y="1775478"/>
            <a:ext cx="5181600" cy="4351338"/>
          </a:xfrm>
        </p:spPr>
        <p:txBody>
          <a:bodyPr/>
          <a:lstStyle>
            <a:lvl1pPr>
              <a:defRPr sz="2800" b="1" baseline="0"/>
            </a:lvl1pPr>
            <a:lvl2pPr marL="4572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lvl2pPr>
          </a:lstStyle>
          <a:p>
            <a:pPr lvl="0"/>
            <a:r>
              <a:rPr lang="en-US" dirty="0"/>
              <a:t>Table of Contents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dirty="0"/>
              <a:t>Topic 1</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dirty="0"/>
              <a:t>Topic 2</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dirty="0"/>
              <a:t>Topic 3</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dirty="0"/>
              <a:t>Topic 4</a:t>
            </a:r>
          </a:p>
          <a:p>
            <a:pPr lvl="1"/>
            <a:endParaRPr lang="en-US" dirty="0"/>
          </a:p>
        </p:txBody>
      </p:sp>
      <p:grpSp>
        <p:nvGrpSpPr>
          <p:cNvPr id="16" name="Group 15"/>
          <p:cNvGrpSpPr/>
          <p:nvPr userDrawn="1"/>
        </p:nvGrpSpPr>
        <p:grpSpPr>
          <a:xfrm>
            <a:off x="-39753" y="-51682"/>
            <a:ext cx="12235732" cy="1203364"/>
            <a:chOff x="-39753" y="-51682"/>
            <a:chExt cx="12235732" cy="1203364"/>
          </a:xfrm>
        </p:grpSpPr>
        <p:sp>
          <p:nvSpPr>
            <p:cNvPr id="9" name="Rectangle 8"/>
            <p:cNvSpPr/>
            <p:nvPr userDrawn="1"/>
          </p:nvSpPr>
          <p:spPr>
            <a:xfrm>
              <a:off x="-39753" y="-51682"/>
              <a:ext cx="12235732" cy="120336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7229" y="221358"/>
              <a:ext cx="2684166" cy="680012"/>
            </a:xfrm>
            <a:prstGeom prst="rect">
              <a:avLst/>
            </a:prstGeom>
          </p:spPr>
        </p:pic>
        <p:sp>
          <p:nvSpPr>
            <p:cNvPr id="13" name="TextBox 12"/>
            <p:cNvSpPr txBox="1"/>
            <p:nvPr userDrawn="1"/>
          </p:nvSpPr>
          <p:spPr>
            <a:xfrm>
              <a:off x="7802880" y="411500"/>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cxnSp>
          <p:nvCxnSpPr>
            <p:cNvPr id="7" name="Straight Connector 6"/>
            <p:cNvCxnSpPr/>
            <p:nvPr userDrawn="1"/>
          </p:nvCxnSpPr>
          <p:spPr>
            <a:xfrm>
              <a:off x="901337" y="722811"/>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8609870" y="470310"/>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9748239" y="470310"/>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0668414" y="470310"/>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10155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1687595"/>
            <a:ext cx="10515600" cy="440205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8" name="Rectangle 7"/>
          <p:cNvSpPr/>
          <p:nvPr userDrawn="1"/>
        </p:nvSpPr>
        <p:spPr>
          <a:xfrm>
            <a:off x="-39753" y="6303003"/>
            <a:ext cx="12235732" cy="7240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userDrawn="1"/>
        </p:nvGrpSpPr>
        <p:grpSpPr>
          <a:xfrm>
            <a:off x="679568" y="6365200"/>
            <a:ext cx="10820163" cy="487908"/>
            <a:chOff x="528814" y="6238068"/>
            <a:chExt cx="10820163" cy="487908"/>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1" name="Straight Connector 10"/>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a:xfrm>
              <a:off x="7802880" y="6286832"/>
              <a:ext cx="3546097" cy="230832"/>
              <a:chOff x="7802880" y="6286832"/>
              <a:chExt cx="3546097" cy="230832"/>
            </a:xfrm>
          </p:grpSpPr>
          <p:sp>
            <p:nvSpPr>
              <p:cNvPr id="10" name="TextBox 9"/>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12" name="Rectangle 11"/>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 name="Group 26"/>
          <p:cNvGrpSpPr/>
          <p:nvPr userDrawn="1"/>
        </p:nvGrpSpPr>
        <p:grpSpPr>
          <a:xfrm>
            <a:off x="0" y="149580"/>
            <a:ext cx="12414000" cy="77361"/>
            <a:chOff x="0" y="149580"/>
            <a:chExt cx="12414000" cy="77361"/>
          </a:xfrm>
        </p:grpSpPr>
        <p:sp>
          <p:nvSpPr>
            <p:cNvPr id="20" name="Rectangle 19"/>
            <p:cNvSpPr/>
            <p:nvPr userDrawn="1"/>
          </p:nvSpPr>
          <p:spPr>
            <a:xfrm>
              <a:off x="0" y="149580"/>
              <a:ext cx="4076822" cy="773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4166144" y="149580"/>
              <a:ext cx="4076822" cy="773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8337178" y="149580"/>
              <a:ext cx="4076822" cy="773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p:cNvSpPr/>
          <p:nvPr userDrawn="1"/>
        </p:nvSpPr>
        <p:spPr>
          <a:xfrm>
            <a:off x="-39753" y="270922"/>
            <a:ext cx="12235732" cy="105659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837317" y="400967"/>
            <a:ext cx="10515600" cy="754833"/>
          </a:xfrm>
        </p:spPr>
        <p:txBody>
          <a:bodyPr anchor="b">
            <a:normAutofit/>
          </a:bodyPr>
          <a:lstStyle>
            <a:lvl1pP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692360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566272"/>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8CF8120-5D43-445C-81DE-BB63D27CD451}"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76395-65C6-40C6-B0F2-3F72B3156A66}" type="slidenum">
              <a:rPr lang="en-US" smtClean="0"/>
              <a:t>‹#›</a:t>
            </a:fld>
            <a:endParaRPr lang="en-US"/>
          </a:p>
        </p:txBody>
      </p:sp>
      <p:sp>
        <p:nvSpPr>
          <p:cNvPr id="10" name="Rectangle 9"/>
          <p:cNvSpPr/>
          <p:nvPr userDrawn="1"/>
        </p:nvSpPr>
        <p:spPr>
          <a:xfrm>
            <a:off x="0" y="149580"/>
            <a:ext cx="1897258" cy="77361"/>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1897258" y="149580"/>
            <a:ext cx="6345708" cy="77361"/>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242966" y="149580"/>
            <a:ext cx="1874112" cy="7736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userDrawn="1">
            <p:ph type="title" hasCustomPrompt="1"/>
          </p:nvPr>
        </p:nvSpPr>
        <p:spPr>
          <a:xfrm>
            <a:off x="837317" y="-1696937"/>
            <a:ext cx="10515600" cy="2852737"/>
          </a:xfrm>
        </p:spPr>
        <p:txBody>
          <a:bodyPr anchor="b">
            <a:normAutofit/>
          </a:bodyPr>
          <a:lstStyle>
            <a:lvl1pPr>
              <a:defRPr sz="4000" b="1">
                <a:solidFill>
                  <a:srgbClr val="0A688E"/>
                </a:solidFill>
              </a:defRPr>
            </a:lvl1pPr>
          </a:lstStyle>
          <a:p>
            <a:r>
              <a:rPr lang="en-US" dirty="0"/>
              <a:t>CLICK TO ADD TITLE</a:t>
            </a:r>
          </a:p>
        </p:txBody>
      </p:sp>
      <p:sp>
        <p:nvSpPr>
          <p:cNvPr id="16" name="Rectangle 15"/>
          <p:cNvSpPr/>
          <p:nvPr userDrawn="1"/>
        </p:nvSpPr>
        <p:spPr>
          <a:xfrm>
            <a:off x="-39753" y="6303003"/>
            <a:ext cx="12235732" cy="7240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userDrawn="1"/>
        </p:nvGrpSpPr>
        <p:grpSpPr>
          <a:xfrm>
            <a:off x="679568" y="6365200"/>
            <a:ext cx="10820163" cy="487908"/>
            <a:chOff x="528814" y="6238068"/>
            <a:chExt cx="10820163" cy="487908"/>
          </a:xfrm>
        </p:grpSpPr>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9" name="Straight Connector 18"/>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userDrawn="1"/>
          </p:nvGrpSpPr>
          <p:grpSpPr>
            <a:xfrm>
              <a:off x="7802880" y="6286832"/>
              <a:ext cx="3546097" cy="230832"/>
              <a:chOff x="7802880" y="6286832"/>
              <a:chExt cx="3546097" cy="230832"/>
            </a:xfrm>
          </p:grpSpPr>
          <p:sp>
            <p:nvSpPr>
              <p:cNvPr id="21" name="TextBox 20"/>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22" name="Rectangle 21"/>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Content Placeholder 2"/>
          <p:cNvSpPr>
            <a:spLocks noGrp="1"/>
          </p:cNvSpPr>
          <p:nvPr userDrawn="1">
            <p:ph sz="half" idx="13"/>
          </p:nvPr>
        </p:nvSpPr>
        <p:spPr>
          <a:xfrm>
            <a:off x="6441956" y="1566272"/>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Rectangle 25"/>
          <p:cNvSpPr/>
          <p:nvPr userDrawn="1"/>
        </p:nvSpPr>
        <p:spPr>
          <a:xfrm>
            <a:off x="10117078" y="149580"/>
            <a:ext cx="2073156" cy="7736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5865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C8CF8120-5D43-445C-81DE-BB63D27CD451}" type="datetimeFigureOut">
              <a:rPr lang="en-US" smtClean="0"/>
              <a:t>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76395-65C6-40C6-B0F2-3F72B3156A66}" type="slidenum">
              <a:rPr lang="en-US" smtClean="0"/>
              <a:t>‹#›</a:t>
            </a:fld>
            <a:endParaRPr lang="en-US"/>
          </a:p>
        </p:txBody>
      </p:sp>
      <p:grpSp>
        <p:nvGrpSpPr>
          <p:cNvPr id="23" name="Group 22"/>
          <p:cNvGrpSpPr/>
          <p:nvPr userDrawn="1"/>
        </p:nvGrpSpPr>
        <p:grpSpPr>
          <a:xfrm>
            <a:off x="1505874" y="802630"/>
            <a:ext cx="9144477" cy="77100"/>
            <a:chOff x="1457173" y="851529"/>
            <a:chExt cx="9144477" cy="77100"/>
          </a:xfrm>
        </p:grpSpPr>
        <p:sp>
          <p:nvSpPr>
            <p:cNvPr id="10" name="Google Shape;26;p4"/>
            <p:cNvSpPr/>
            <p:nvPr userDrawn="1"/>
          </p:nvSpPr>
          <p:spPr>
            <a:xfrm>
              <a:off x="7180456" y="851529"/>
              <a:ext cx="17103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7;p4"/>
            <p:cNvSpPr/>
            <p:nvPr userDrawn="1"/>
          </p:nvSpPr>
          <p:spPr>
            <a:xfrm>
              <a:off x="8891350" y="851529"/>
              <a:ext cx="1710300" cy="77100"/>
            </a:xfrm>
            <a:prstGeom prst="rect">
              <a:avLst/>
            </a:prstGeom>
            <a:solidFill>
              <a:srgbClr val="6505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8;p4"/>
            <p:cNvSpPr/>
            <p:nvPr userDrawn="1"/>
          </p:nvSpPr>
          <p:spPr>
            <a:xfrm>
              <a:off x="1457173" y="851529"/>
              <a:ext cx="17103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9;p4"/>
            <p:cNvSpPr/>
            <p:nvPr userDrawn="1"/>
          </p:nvSpPr>
          <p:spPr>
            <a:xfrm>
              <a:off x="3167598" y="851529"/>
              <a:ext cx="17103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Rectangle 13"/>
          <p:cNvSpPr/>
          <p:nvPr userDrawn="1"/>
        </p:nvSpPr>
        <p:spPr>
          <a:xfrm>
            <a:off x="-1" y="6303003"/>
            <a:ext cx="12195979" cy="55499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userDrawn="1"/>
        </p:nvGrpSpPr>
        <p:grpSpPr>
          <a:xfrm>
            <a:off x="679568" y="6365200"/>
            <a:ext cx="10820163" cy="487908"/>
            <a:chOff x="528814" y="6238068"/>
            <a:chExt cx="10820163" cy="487908"/>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7" name="Straight Connector 16"/>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userDrawn="1"/>
          </p:nvGrpSpPr>
          <p:grpSpPr>
            <a:xfrm>
              <a:off x="7802880" y="6286832"/>
              <a:ext cx="3546097" cy="230832"/>
              <a:chOff x="7802880" y="6286832"/>
              <a:chExt cx="3546097" cy="230832"/>
            </a:xfrm>
          </p:grpSpPr>
          <p:sp>
            <p:nvSpPr>
              <p:cNvPr id="19" name="TextBox 18"/>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20" name="Rectangle 19"/>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66177" y="-2847804"/>
            <a:ext cx="4423402" cy="4423402"/>
          </a:xfrm>
          <a:prstGeom prst="rect">
            <a:avLst/>
          </a:prstGeom>
          <a:blipFill>
            <a:blip r:embed="rId4">
              <a:alphaModFix amt="0"/>
            </a:blip>
            <a:stretch>
              <a:fillRect/>
            </a:stretch>
          </a:blipFill>
        </p:spPr>
      </p:pic>
      <p:sp>
        <p:nvSpPr>
          <p:cNvPr id="25" name="Rectangle 24"/>
          <p:cNvSpPr/>
          <p:nvPr userDrawn="1"/>
        </p:nvSpPr>
        <p:spPr>
          <a:xfrm>
            <a:off x="0" y="-2537827"/>
            <a:ext cx="12195978" cy="253782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7991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6" name="Rectangle 5"/>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1897258" y="6701970"/>
            <a:ext cx="6345708"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242966" y="6701970"/>
            <a:ext cx="1874112"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10117078"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p:cNvSpPr>
            <a:spLocks noGrp="1"/>
          </p:cNvSpPr>
          <p:nvPr>
            <p:ph idx="1"/>
          </p:nvPr>
        </p:nvSpPr>
        <p:spPr>
          <a:xfrm>
            <a:off x="10518045" y="0"/>
            <a:ext cx="1672189" cy="6858000"/>
          </a:xfrm>
        </p:spPr>
        <p:txBody>
          <a:bodyPr/>
          <a:lstStyle>
            <a:lvl1pPr marL="0" indent="0">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endParaRPr lang="en-US" dirty="0"/>
          </a:p>
        </p:txBody>
      </p:sp>
      <p:sp>
        <p:nvSpPr>
          <p:cNvPr id="11" name="Title 1"/>
          <p:cNvSpPr>
            <a:spLocks noGrp="1"/>
          </p:cNvSpPr>
          <p:nvPr>
            <p:ph type="title"/>
          </p:nvPr>
        </p:nvSpPr>
        <p:spPr>
          <a:xfrm>
            <a:off x="410748" y="673352"/>
            <a:ext cx="9794348" cy="779930"/>
          </a:xfrm>
        </p:spPr>
        <p:txBody>
          <a:bodyPr anchor="b">
            <a:normAutofit/>
          </a:bodyPr>
          <a:lstStyle>
            <a:lvl1pPr>
              <a:defRPr sz="3600" b="1">
                <a:solidFill>
                  <a:srgbClr val="0A688E"/>
                </a:solidFill>
              </a:defRPr>
            </a:lvl1pPr>
          </a:lstStyle>
          <a:p>
            <a:r>
              <a:rPr lang="en-US" dirty="0"/>
              <a:t>Click to edit Master title style</a:t>
            </a:r>
          </a:p>
        </p:txBody>
      </p:sp>
      <p:sp>
        <p:nvSpPr>
          <p:cNvPr id="12" name="Text Placeholder 3"/>
          <p:cNvSpPr>
            <a:spLocks noGrp="1"/>
          </p:cNvSpPr>
          <p:nvPr>
            <p:ph type="body" sz="half" idx="2"/>
          </p:nvPr>
        </p:nvSpPr>
        <p:spPr>
          <a:xfrm>
            <a:off x="410748" y="1662545"/>
            <a:ext cx="9794348" cy="4611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50" y="5979818"/>
            <a:ext cx="722152" cy="722152"/>
          </a:xfrm>
          <a:prstGeom prst="rect">
            <a:avLst/>
          </a:prstGeom>
          <a:blipFill>
            <a:blip r:embed="rId3">
              <a:alphaModFix amt="0"/>
            </a:blip>
            <a:stretch>
              <a:fillRect/>
            </a:stretch>
          </a:blipFill>
        </p:spPr>
      </p:pic>
    </p:spTree>
    <p:extLst>
      <p:ext uri="{BB962C8B-B14F-4D97-AF65-F5344CB8AC3E}">
        <p14:creationId xmlns:p14="http://schemas.microsoft.com/office/powerpoint/2010/main" val="653611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p:cNvSpPr>
            <a:spLocks noGrp="1"/>
          </p:cNvSpPr>
          <p:nvPr>
            <p:ph sz="half" idx="13"/>
          </p:nvPr>
        </p:nvSpPr>
        <p:spPr>
          <a:xfrm>
            <a:off x="0" y="0"/>
            <a:ext cx="12192000" cy="6701970"/>
          </a:xfrm>
        </p:spPr>
        <p:txBody>
          <a:bodyPr/>
          <a:lstStyle>
            <a:lvl1pPr marL="0" indent="0">
              <a:buNone/>
              <a:defRPr/>
            </a:lvl1pPr>
          </a:lstStyle>
          <a:p>
            <a:pPr lvl="0"/>
            <a:endParaRPr lang="en-US" dirty="0"/>
          </a:p>
        </p:txBody>
      </p:sp>
    </p:spTree>
    <p:extLst>
      <p:ext uri="{BB962C8B-B14F-4D97-AF65-F5344CB8AC3E}">
        <p14:creationId xmlns:p14="http://schemas.microsoft.com/office/powerpoint/2010/main" val="2789971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9" name="Rectangle 8"/>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2"/>
          <p:cNvSpPr>
            <a:spLocks noGrp="1"/>
          </p:cNvSpPr>
          <p:nvPr>
            <p:ph type="pic" idx="1"/>
          </p:nvPr>
        </p:nvSpPr>
        <p:spPr>
          <a:xfrm>
            <a:off x="6038952" y="0"/>
            <a:ext cx="6153048" cy="67019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7" name="Text Placeholder 3"/>
          <p:cNvSpPr>
            <a:spLocks noGrp="1"/>
          </p:cNvSpPr>
          <p:nvPr>
            <p:ph type="body" sz="half" idx="2"/>
          </p:nvPr>
        </p:nvSpPr>
        <p:spPr>
          <a:xfrm>
            <a:off x="839788" y="1445190"/>
            <a:ext cx="447234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4005777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p:cNvSpPr/>
          <p:nvPr userDrawn="1"/>
        </p:nvSpPr>
        <p:spPr>
          <a:xfrm>
            <a:off x="-1" y="-1"/>
            <a:ext cx="12195979" cy="5111931"/>
          </a:xfrm>
          <a:prstGeom prst="rect">
            <a:avLst/>
          </a:prstGeom>
          <a:solidFill>
            <a:srgbClr val="0E8C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userDrawn="1"/>
        </p:nvGrpSpPr>
        <p:grpSpPr>
          <a:xfrm>
            <a:off x="0" y="4958297"/>
            <a:ext cx="12195979" cy="153634"/>
            <a:chOff x="0" y="6701970"/>
            <a:chExt cx="12918820" cy="153590"/>
          </a:xfrm>
        </p:grpSpPr>
        <p:sp>
          <p:nvSpPr>
            <p:cNvPr id="9" name="Rectangle 8"/>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63564" y="5569074"/>
            <a:ext cx="856176" cy="856176"/>
          </a:xfrm>
          <a:prstGeom prst="rect">
            <a:avLst/>
          </a:prstGeom>
          <a:blipFill>
            <a:blip r:embed="rId3">
              <a:alphaModFix amt="0"/>
            </a:blip>
            <a:stretch>
              <a:fillRect/>
            </a:stretch>
          </a:blipFill>
        </p:spPr>
      </p:pic>
    </p:spTree>
    <p:extLst>
      <p:ext uri="{BB962C8B-B14F-4D97-AF65-F5344CB8AC3E}">
        <p14:creationId xmlns:p14="http://schemas.microsoft.com/office/powerpoint/2010/main" val="255784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Vertical Text">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838200" y="6356350"/>
            <a:ext cx="2743200" cy="365125"/>
          </a:xfrm>
        </p:spPr>
        <p:txBody>
          <a:bodyPr/>
          <a:lstStyle/>
          <a:p>
            <a:fld id="{C8CF8120-5D43-445C-81DE-BB63D27CD451}" type="datetimeFigureOut">
              <a:rPr lang="en-US" smtClean="0"/>
              <a:t>2/9/2025</a:t>
            </a:fld>
            <a:endParaRPr lang="en-US"/>
          </a:p>
        </p:txBody>
      </p:sp>
      <p:sp>
        <p:nvSpPr>
          <p:cNvPr id="8" name="Footer Placeholder 7"/>
          <p:cNvSpPr>
            <a:spLocks noGrp="1"/>
          </p:cNvSpPr>
          <p:nvPr>
            <p:ph type="ftr" sz="quarter" idx="11"/>
          </p:nvPr>
        </p:nvSpPr>
        <p:spPr>
          <a:xfrm>
            <a:off x="4038600" y="6356350"/>
            <a:ext cx="4114800" cy="365125"/>
          </a:xfrm>
        </p:spPr>
        <p:txBody>
          <a:bodyPr/>
          <a:lstStyle/>
          <a:p>
            <a:endParaRPr lang="en-US"/>
          </a:p>
        </p:txBody>
      </p:sp>
      <p:sp>
        <p:nvSpPr>
          <p:cNvPr id="9" name="Slide Number Placeholder 8"/>
          <p:cNvSpPr>
            <a:spLocks noGrp="1"/>
          </p:cNvSpPr>
          <p:nvPr>
            <p:ph type="sldNum" sz="quarter" idx="12"/>
          </p:nvPr>
        </p:nvSpPr>
        <p:spPr>
          <a:xfrm>
            <a:off x="8610600" y="6356350"/>
            <a:ext cx="2743200" cy="365125"/>
          </a:xfrm>
        </p:spPr>
        <p:txBody>
          <a:bodyPr/>
          <a:lstStyle/>
          <a:p>
            <a:fld id="{C6A76395-65C6-40C6-B0F2-3F72B3156A66}" type="slidenum">
              <a:rPr lang="en-US" smtClean="0"/>
              <a:t>‹#›</a:t>
            </a:fld>
            <a:endParaRPr lang="en-US"/>
          </a:p>
        </p:txBody>
      </p:sp>
      <p:grpSp>
        <p:nvGrpSpPr>
          <p:cNvPr id="10" name="Group 9"/>
          <p:cNvGrpSpPr/>
          <p:nvPr userDrawn="1"/>
        </p:nvGrpSpPr>
        <p:grpSpPr>
          <a:xfrm>
            <a:off x="1505874" y="1478705"/>
            <a:ext cx="9144477" cy="77100"/>
            <a:chOff x="1457173" y="851529"/>
            <a:chExt cx="9144477" cy="77100"/>
          </a:xfrm>
        </p:grpSpPr>
        <p:sp>
          <p:nvSpPr>
            <p:cNvPr id="11" name="Google Shape;26;p4"/>
            <p:cNvSpPr/>
            <p:nvPr userDrawn="1"/>
          </p:nvSpPr>
          <p:spPr>
            <a:xfrm>
              <a:off x="7180456" y="851529"/>
              <a:ext cx="17103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7;p4"/>
            <p:cNvSpPr/>
            <p:nvPr userDrawn="1"/>
          </p:nvSpPr>
          <p:spPr>
            <a:xfrm>
              <a:off x="8891350" y="851529"/>
              <a:ext cx="1710300" cy="77100"/>
            </a:xfrm>
            <a:prstGeom prst="rect">
              <a:avLst/>
            </a:prstGeom>
            <a:solidFill>
              <a:srgbClr val="6505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8;p4"/>
            <p:cNvSpPr/>
            <p:nvPr userDrawn="1"/>
          </p:nvSpPr>
          <p:spPr>
            <a:xfrm>
              <a:off x="1457173" y="851529"/>
              <a:ext cx="17103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p4"/>
            <p:cNvSpPr/>
            <p:nvPr userDrawn="1"/>
          </p:nvSpPr>
          <p:spPr>
            <a:xfrm>
              <a:off x="3167598" y="851529"/>
              <a:ext cx="17103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Rectangle 14"/>
          <p:cNvSpPr/>
          <p:nvPr userDrawn="1"/>
        </p:nvSpPr>
        <p:spPr>
          <a:xfrm>
            <a:off x="-39753" y="6303003"/>
            <a:ext cx="12235732" cy="7240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userDrawn="1"/>
        </p:nvGrpSpPr>
        <p:grpSpPr>
          <a:xfrm>
            <a:off x="679568" y="6365200"/>
            <a:ext cx="10820163" cy="487908"/>
            <a:chOff x="528814" y="6238068"/>
            <a:chExt cx="10820163" cy="487908"/>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8" name="Straight Connector 17"/>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userDrawn="1"/>
          </p:nvGrpSpPr>
          <p:grpSpPr>
            <a:xfrm>
              <a:off x="7802880" y="6286832"/>
              <a:ext cx="3546097" cy="230832"/>
              <a:chOff x="7802880" y="6286832"/>
              <a:chExt cx="3546097" cy="230832"/>
            </a:xfrm>
          </p:grpSpPr>
          <p:sp>
            <p:nvSpPr>
              <p:cNvPr id="20" name="TextBox 19"/>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21" name="Rectangle 20"/>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TextBox 24"/>
          <p:cNvSpPr txBox="1"/>
          <p:nvPr userDrawn="1"/>
        </p:nvSpPr>
        <p:spPr>
          <a:xfrm>
            <a:off x="5378631" y="1165756"/>
            <a:ext cx="1398494" cy="2215991"/>
          </a:xfrm>
          <a:prstGeom prst="rect">
            <a:avLst/>
          </a:prstGeom>
          <a:noFill/>
        </p:spPr>
        <p:txBody>
          <a:bodyPr wrap="square" rtlCol="0">
            <a:spAutoFit/>
          </a:bodyPr>
          <a:lstStyle/>
          <a:p>
            <a:pPr algn="ctr"/>
            <a:r>
              <a:rPr lang="en-US" sz="13800" b="1" dirty="0">
                <a:solidFill>
                  <a:schemeClr val="accent1">
                    <a:lumMod val="50000"/>
                  </a:schemeClr>
                </a:solidFill>
              </a:rPr>
              <a:t>“</a:t>
            </a:r>
            <a:endParaRPr lang="en-US" sz="23900" b="1" dirty="0">
              <a:solidFill>
                <a:schemeClr val="accent1">
                  <a:lumMod val="50000"/>
                </a:schemeClr>
              </a:solidFill>
            </a:endParaRPr>
          </a:p>
        </p:txBody>
      </p:sp>
      <p:sp>
        <p:nvSpPr>
          <p:cNvPr id="26" name="TextBox 25"/>
          <p:cNvSpPr txBox="1"/>
          <p:nvPr userDrawn="1"/>
        </p:nvSpPr>
        <p:spPr>
          <a:xfrm>
            <a:off x="5378631" y="4469044"/>
            <a:ext cx="1398494" cy="2215991"/>
          </a:xfrm>
          <a:prstGeom prst="rect">
            <a:avLst/>
          </a:prstGeom>
          <a:noFill/>
        </p:spPr>
        <p:txBody>
          <a:bodyPr wrap="square" rtlCol="0">
            <a:spAutoFit/>
          </a:bodyPr>
          <a:lstStyle/>
          <a:p>
            <a:pPr algn="ctr"/>
            <a:r>
              <a:rPr lang="en-US" sz="13800" b="1" dirty="0">
                <a:solidFill>
                  <a:schemeClr val="accent1">
                    <a:lumMod val="50000"/>
                  </a:schemeClr>
                </a:solidFill>
              </a:rPr>
              <a:t>“</a:t>
            </a:r>
            <a:endParaRPr lang="en-US" sz="23900" b="1" dirty="0">
              <a:solidFill>
                <a:schemeClr val="accent1">
                  <a:lumMod val="50000"/>
                </a:schemeClr>
              </a:solidFill>
            </a:endParaRPr>
          </a:p>
        </p:txBody>
      </p:sp>
    </p:spTree>
    <p:extLst>
      <p:ext uri="{BB962C8B-B14F-4D97-AF65-F5344CB8AC3E}">
        <p14:creationId xmlns:p14="http://schemas.microsoft.com/office/powerpoint/2010/main" val="991669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ertical Title and Text">
    <p:spTree>
      <p:nvGrpSpPr>
        <p:cNvPr id="1" name=""/>
        <p:cNvGrpSpPr/>
        <p:nvPr/>
      </p:nvGrpSpPr>
      <p:grpSpPr>
        <a:xfrm>
          <a:off x="0" y="0"/>
          <a:ext cx="0" cy="0"/>
          <a:chOff x="0" y="0"/>
          <a:chExt cx="0" cy="0"/>
        </a:xfrm>
      </p:grpSpPr>
      <p:sp>
        <p:nvSpPr>
          <p:cNvPr id="7" name="Content Placeholder 2"/>
          <p:cNvSpPr>
            <a:spLocks noGrp="1"/>
          </p:cNvSpPr>
          <p:nvPr>
            <p:ph sz="half" idx="1"/>
          </p:nvPr>
        </p:nvSpPr>
        <p:spPr>
          <a:xfrm>
            <a:off x="715954" y="3378881"/>
            <a:ext cx="5181600" cy="3174409"/>
          </a:xfrm>
        </p:spPr>
        <p:txBody>
          <a:bodyPr/>
          <a:lstStyle>
            <a:lvl1pPr marL="0" indent="0">
              <a:buNone/>
              <a:defRPr/>
            </a:lvl1pPr>
          </a:lstStyle>
          <a:p>
            <a:pPr lvl="0"/>
            <a:endParaRPr lang="en-US" dirty="0"/>
          </a:p>
        </p:txBody>
      </p:sp>
      <p:sp>
        <p:nvSpPr>
          <p:cNvPr id="9" name="Content Placeholder 2"/>
          <p:cNvSpPr>
            <a:spLocks noGrp="1"/>
          </p:cNvSpPr>
          <p:nvPr>
            <p:ph sz="half" idx="13"/>
          </p:nvPr>
        </p:nvSpPr>
        <p:spPr>
          <a:xfrm>
            <a:off x="6319710" y="3378881"/>
            <a:ext cx="5181600" cy="3174409"/>
          </a:xfrm>
        </p:spPr>
        <p:txBody>
          <a:bodyPr/>
          <a:lstStyle>
            <a:lvl1pPr marL="0" indent="0">
              <a:buNone/>
              <a:defRPr/>
            </a:lvl1pPr>
          </a:lstStyle>
          <a:p>
            <a:pPr lvl="0"/>
            <a:endParaRPr lang="en-US" dirty="0"/>
          </a:p>
        </p:txBody>
      </p:sp>
      <p:grpSp>
        <p:nvGrpSpPr>
          <p:cNvPr id="14" name="Group 13"/>
          <p:cNvGrpSpPr/>
          <p:nvPr userDrawn="1"/>
        </p:nvGrpSpPr>
        <p:grpSpPr>
          <a:xfrm>
            <a:off x="0" y="6704366"/>
            <a:ext cx="12195979" cy="153634"/>
            <a:chOff x="0" y="6701970"/>
            <a:chExt cx="12918820" cy="153590"/>
          </a:xfrm>
        </p:grpSpPr>
        <p:sp>
          <p:nvSpPr>
            <p:cNvPr id="15" name="Rectangle 14"/>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50" y="5979818"/>
            <a:ext cx="722152" cy="722152"/>
          </a:xfrm>
          <a:prstGeom prst="rect">
            <a:avLst/>
          </a:prstGeom>
          <a:blipFill>
            <a:blip r:embed="rId3">
              <a:alphaModFix amt="0"/>
            </a:blip>
            <a:stretch>
              <a:fillRect/>
            </a:stretch>
          </a:blipFill>
        </p:spPr>
      </p:pic>
    </p:spTree>
    <p:extLst>
      <p:ext uri="{BB962C8B-B14F-4D97-AF65-F5344CB8AC3E}">
        <p14:creationId xmlns:p14="http://schemas.microsoft.com/office/powerpoint/2010/main" val="4262232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Vertical Title and Text">
    <p:spTree>
      <p:nvGrpSpPr>
        <p:cNvPr id="1" name=""/>
        <p:cNvGrpSpPr/>
        <p:nvPr/>
      </p:nvGrpSpPr>
      <p:grpSpPr>
        <a:xfrm>
          <a:off x="0" y="0"/>
          <a:ext cx="0" cy="0"/>
          <a:chOff x="0" y="0"/>
          <a:chExt cx="0" cy="0"/>
        </a:xfrm>
      </p:grpSpPr>
      <p:sp>
        <p:nvSpPr>
          <p:cNvPr id="2" name="Rectangle 1"/>
          <p:cNvSpPr/>
          <p:nvPr userDrawn="1"/>
        </p:nvSpPr>
        <p:spPr>
          <a:xfrm>
            <a:off x="0" y="0"/>
            <a:ext cx="12192000" cy="67019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p:cNvGrpSpPr/>
          <p:nvPr userDrawn="1"/>
        </p:nvGrpSpPr>
        <p:grpSpPr>
          <a:xfrm>
            <a:off x="0" y="6704366"/>
            <a:ext cx="12195979" cy="153634"/>
            <a:chOff x="0" y="6701970"/>
            <a:chExt cx="12918820" cy="153590"/>
          </a:xfrm>
        </p:grpSpPr>
        <p:sp>
          <p:nvSpPr>
            <p:cNvPr id="15" name="Rectangle 14"/>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50" y="5979818"/>
            <a:ext cx="722152" cy="722152"/>
          </a:xfrm>
          <a:prstGeom prst="rect">
            <a:avLst/>
          </a:prstGeom>
          <a:blipFill>
            <a:blip r:embed="rId3">
              <a:alphaModFix amt="0"/>
            </a:blip>
            <a:stretch>
              <a:fillRect/>
            </a:stretch>
          </a:blipFill>
        </p:spPr>
      </p:pic>
    </p:spTree>
    <p:extLst>
      <p:ext uri="{BB962C8B-B14F-4D97-AF65-F5344CB8AC3E}">
        <p14:creationId xmlns:p14="http://schemas.microsoft.com/office/powerpoint/2010/main" val="3816193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Vertical Title and Text">
    <p:spTree>
      <p:nvGrpSpPr>
        <p:cNvPr id="1" name=""/>
        <p:cNvGrpSpPr/>
        <p:nvPr/>
      </p:nvGrpSpPr>
      <p:grpSpPr>
        <a:xfrm>
          <a:off x="0" y="0"/>
          <a:ext cx="0" cy="0"/>
          <a:chOff x="0" y="0"/>
          <a:chExt cx="0" cy="0"/>
        </a:xfrm>
      </p:grpSpPr>
      <p:sp>
        <p:nvSpPr>
          <p:cNvPr id="7" name="Rectangle 6"/>
          <p:cNvSpPr/>
          <p:nvPr userDrawn="1"/>
        </p:nvSpPr>
        <p:spPr>
          <a:xfrm>
            <a:off x="0" y="-56710"/>
            <a:ext cx="12192000" cy="6748131"/>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75000"/>
                </a:schemeClr>
              </a:solidFill>
            </a:endParaRPr>
          </a:p>
        </p:txBody>
      </p:sp>
      <p:sp>
        <p:nvSpPr>
          <p:cNvPr id="8" name="Google Shape;356;p34"/>
          <p:cNvSpPr txBox="1">
            <a:spLocks/>
          </p:cNvSpPr>
          <p:nvPr userDrawn="1"/>
        </p:nvSpPr>
        <p:spPr>
          <a:xfrm>
            <a:off x="1135765" y="2427304"/>
            <a:ext cx="5561100" cy="11598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11500" dirty="0">
                <a:solidFill>
                  <a:schemeClr val="bg1"/>
                </a:solidFill>
              </a:rPr>
              <a:t>Thanks!</a:t>
            </a:r>
          </a:p>
        </p:txBody>
      </p:sp>
      <p:sp>
        <p:nvSpPr>
          <p:cNvPr id="9" name="Google Shape;357;p34"/>
          <p:cNvSpPr txBox="1">
            <a:spLocks/>
          </p:cNvSpPr>
          <p:nvPr userDrawn="1"/>
        </p:nvSpPr>
        <p:spPr>
          <a:xfrm>
            <a:off x="1135765" y="3455423"/>
            <a:ext cx="5561100" cy="7848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 typeface="Arial" panose="020B0604020202020204" pitchFamily="34" charset="0"/>
              <a:buNone/>
            </a:pPr>
            <a:r>
              <a:rPr lang="en-US" sz="4800" b="1">
                <a:solidFill>
                  <a:schemeClr val="lt1"/>
                </a:solidFill>
              </a:rPr>
              <a:t>Any questions?</a:t>
            </a:r>
          </a:p>
        </p:txBody>
      </p:sp>
      <p:grpSp>
        <p:nvGrpSpPr>
          <p:cNvPr id="10" name="Group 9"/>
          <p:cNvGrpSpPr/>
          <p:nvPr userDrawn="1"/>
        </p:nvGrpSpPr>
        <p:grpSpPr>
          <a:xfrm>
            <a:off x="0" y="6704366"/>
            <a:ext cx="12195979" cy="153634"/>
            <a:chOff x="0" y="6701970"/>
            <a:chExt cx="12918820" cy="153590"/>
          </a:xfrm>
        </p:grpSpPr>
        <p:sp>
          <p:nvSpPr>
            <p:cNvPr id="11" name="Rectangle 10"/>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p:cNvSpPr/>
          <p:nvPr userDrawn="1"/>
        </p:nvSpPr>
        <p:spPr>
          <a:xfrm>
            <a:off x="7180729" y="269109"/>
            <a:ext cx="6320118" cy="6333565"/>
          </a:xfrm>
          <a:prstGeom prst="rect">
            <a:avLst/>
          </a:prstGeom>
          <a:blipFill dpi="0" rotWithShape="1">
            <a:blip r:embed="rId2">
              <a:alphaModFix amt="6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5850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F14F44-04BC-67E9-7666-8E4611C07AA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971EAF7-59EE-6FD0-6015-1EADD1D44B8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50F9E1B-BCFB-A0D8-F9B8-FEDD8C5C03CB}"/>
              </a:ext>
            </a:extLst>
          </p:cNvPr>
          <p:cNvSpPr>
            <a:spLocks noGrp="1"/>
          </p:cNvSpPr>
          <p:nvPr>
            <p:ph type="sldNum" sz="quarter" idx="12"/>
          </p:nvPr>
        </p:nvSpPr>
        <p:spPr/>
        <p:txBody>
          <a:bodyPr/>
          <a:lstStyle>
            <a:lvl1pPr>
              <a:defRPr/>
            </a:lvl1pPr>
          </a:lstStyle>
          <a:p>
            <a:fld id="{F36844AD-EB2F-4427-92CF-8BD1C0CA3A7A}" type="slidenum">
              <a:rPr lang="en-US" altLang="en-US"/>
              <a:pPr/>
              <a:t>‹#›</a:t>
            </a:fld>
            <a:endParaRPr lang="en-US" altLang="en-US"/>
          </a:p>
        </p:txBody>
      </p:sp>
    </p:spTree>
    <p:extLst>
      <p:ext uri="{BB962C8B-B14F-4D97-AF65-F5344CB8AC3E}">
        <p14:creationId xmlns:p14="http://schemas.microsoft.com/office/powerpoint/2010/main" val="576581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7512-B576-97DD-FC1B-F8DB4019D5E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57D0D72-020A-5F71-9C29-C690B5807B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E075951-9783-8F60-B295-F06FBD38BB46}"/>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6976528-5983-859E-FD55-7C0B7D7895F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72E31CF-1AE4-2FE6-7386-5ACA9AEE6539}"/>
              </a:ext>
            </a:extLst>
          </p:cNvPr>
          <p:cNvSpPr>
            <a:spLocks noGrp="1"/>
          </p:cNvSpPr>
          <p:nvPr>
            <p:ph type="sldNum" sz="quarter" idx="12"/>
          </p:nvPr>
        </p:nvSpPr>
        <p:spPr/>
        <p:txBody>
          <a:bodyPr/>
          <a:lstStyle>
            <a:lvl1pPr>
              <a:defRPr/>
            </a:lvl1pPr>
          </a:lstStyle>
          <a:p>
            <a:fld id="{7C70F504-825F-4D5E-9C05-D5B93B0DECB9}" type="slidenum">
              <a:rPr lang="en-US" altLang="en-US"/>
              <a:pPr/>
              <a:t>‹#›</a:t>
            </a:fld>
            <a:endParaRPr lang="en-US" altLang="en-US"/>
          </a:p>
        </p:txBody>
      </p:sp>
    </p:spTree>
    <p:extLst>
      <p:ext uri="{BB962C8B-B14F-4D97-AF65-F5344CB8AC3E}">
        <p14:creationId xmlns:p14="http://schemas.microsoft.com/office/powerpoint/2010/main" val="9683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F8120-5D43-445C-81DE-BB63D27CD451}" type="datetimeFigureOut">
              <a:rPr lang="en-US" smtClean="0"/>
              <a:t>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A76395-65C6-40C6-B0F2-3F72B3156A66}" type="slidenum">
              <a:rPr lang="en-US" smtClean="0"/>
              <a:t>‹#›</a:t>
            </a:fld>
            <a:endParaRPr lang="en-US"/>
          </a:p>
        </p:txBody>
      </p:sp>
      <p:sp>
        <p:nvSpPr>
          <p:cNvPr id="7" name="Rectangle 6"/>
          <p:cNvSpPr/>
          <p:nvPr userDrawn="1"/>
        </p:nvSpPr>
        <p:spPr>
          <a:xfrm>
            <a:off x="-39753" y="-51683"/>
            <a:ext cx="12235732" cy="6909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40890" y="483244"/>
            <a:ext cx="2684166" cy="680012"/>
          </a:xfrm>
          <a:prstGeom prst="rect">
            <a:avLst/>
          </a:prstGeom>
        </p:spPr>
      </p:pic>
      <p:sp>
        <p:nvSpPr>
          <p:cNvPr id="11" name="Rectangle 10"/>
          <p:cNvSpPr/>
          <p:nvPr userDrawn="1"/>
        </p:nvSpPr>
        <p:spPr>
          <a:xfrm>
            <a:off x="7180729" y="269109"/>
            <a:ext cx="6320118" cy="6333565"/>
          </a:xfrm>
          <a:prstGeom prst="rect">
            <a:avLst/>
          </a:prstGeom>
          <a:blipFill dpi="0" rotWithShape="1">
            <a:blip r:embed="rId18">
              <a:alphaModFix amt="6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8391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0"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0890" y="2370742"/>
            <a:ext cx="7500395" cy="1446550"/>
          </a:xfrm>
          <a:prstGeom prst="rect">
            <a:avLst/>
          </a:prstGeom>
          <a:noFill/>
        </p:spPr>
        <p:txBody>
          <a:bodyPr wrap="square" rtlCol="0">
            <a:spAutoFit/>
          </a:bodyPr>
          <a:lstStyle/>
          <a:p>
            <a:r>
              <a:rPr lang="en-US" sz="4400" b="1" dirty="0">
                <a:solidFill>
                  <a:schemeClr val="bg1"/>
                </a:solidFill>
              </a:rPr>
              <a:t>SOCIETY &amp; GROUP INFERENCE</a:t>
            </a:r>
          </a:p>
        </p:txBody>
      </p:sp>
      <p:sp>
        <p:nvSpPr>
          <p:cNvPr id="5" name="TextBox 4"/>
          <p:cNvSpPr txBox="1"/>
          <p:nvPr/>
        </p:nvSpPr>
        <p:spPr>
          <a:xfrm>
            <a:off x="440890" y="4910034"/>
            <a:ext cx="8113175" cy="1384995"/>
          </a:xfrm>
          <a:prstGeom prst="rect">
            <a:avLst/>
          </a:prstGeom>
          <a:noFill/>
        </p:spPr>
        <p:txBody>
          <a:bodyPr wrap="square" rtlCol="0">
            <a:spAutoFit/>
          </a:bodyPr>
          <a:lstStyle/>
          <a:p>
            <a:r>
              <a:rPr lang="en-US" sz="2800" b="0" dirty="0">
                <a:solidFill>
                  <a:schemeClr val="bg1"/>
                </a:solidFill>
              </a:rPr>
              <a:t>BY: </a:t>
            </a:r>
            <a:r>
              <a:rPr lang="en-US" sz="2800" b="0" dirty="0" err="1">
                <a:solidFill>
                  <a:schemeClr val="bg1"/>
                </a:solidFill>
              </a:rPr>
              <a:t>Ms</a:t>
            </a:r>
            <a:r>
              <a:rPr lang="en-US" sz="2800" b="0" dirty="0">
                <a:solidFill>
                  <a:schemeClr val="bg1"/>
                </a:solidFill>
              </a:rPr>
              <a:t> Benedicta Nyarko Anin-Acquah</a:t>
            </a:r>
            <a:br>
              <a:rPr lang="en-US" sz="2800" b="0" dirty="0">
                <a:solidFill>
                  <a:schemeClr val="bg1"/>
                </a:solidFill>
              </a:rPr>
            </a:br>
            <a:endParaRPr lang="en-US" sz="2800" b="1" dirty="0">
              <a:solidFill>
                <a:schemeClr val="accent4">
                  <a:lumMod val="60000"/>
                  <a:lumOff val="40000"/>
                </a:schemeClr>
              </a:solidFill>
            </a:endParaRPr>
          </a:p>
          <a:p>
            <a:r>
              <a:rPr lang="en-US" sz="2800" b="0" dirty="0">
                <a:solidFill>
                  <a:schemeClr val="bg1"/>
                </a:solidFill>
              </a:rPr>
              <a:t>Email: </a:t>
            </a:r>
            <a:r>
              <a:rPr lang="en-US" sz="2800" dirty="0">
                <a:solidFill>
                  <a:schemeClr val="bg1"/>
                </a:solidFill>
              </a:rPr>
              <a:t>benedicta</a:t>
            </a:r>
            <a:r>
              <a:rPr lang="en-US" sz="2800" b="0" dirty="0">
                <a:solidFill>
                  <a:schemeClr val="bg1"/>
                </a:solidFill>
              </a:rPr>
              <a:t>.anin-acquah@uenr.edu.gh</a:t>
            </a:r>
            <a:endParaRPr lang="en-US" sz="2800" b="1" dirty="0">
              <a:solidFill>
                <a:schemeClr val="accent4">
                  <a:lumMod val="60000"/>
                  <a:lumOff val="40000"/>
                </a:schemeClr>
              </a:solidFill>
            </a:endParaRPr>
          </a:p>
        </p:txBody>
      </p:sp>
    </p:spTree>
    <p:extLst>
      <p:ext uri="{BB962C8B-B14F-4D97-AF65-F5344CB8AC3E}">
        <p14:creationId xmlns:p14="http://schemas.microsoft.com/office/powerpoint/2010/main" val="132652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797BA7-DBFE-5090-B779-B233B18CB994}"/>
              </a:ext>
            </a:extLst>
          </p:cNvPr>
          <p:cNvSpPr>
            <a:spLocks noGrp="1"/>
          </p:cNvSpPr>
          <p:nvPr>
            <p:ph type="body" idx="1"/>
          </p:nvPr>
        </p:nvSpPr>
        <p:spPr/>
        <p:txBody>
          <a:bodyPr>
            <a:normAutofit/>
          </a:bodyPr>
          <a:lstStyle/>
          <a:p>
            <a:endParaRPr lang="en-GB" sz="4000" dirty="0"/>
          </a:p>
          <a:p>
            <a:r>
              <a:rPr lang="en-GB" sz="4000" dirty="0">
                <a:solidFill>
                  <a:schemeClr val="tx1"/>
                </a:solidFill>
              </a:rPr>
              <a:t>People in general, considered in relation to the laws, organizations, etc. that make it possible for them to live together is termed </a:t>
            </a:r>
            <a:r>
              <a:rPr lang="en-GB" sz="4000" b="1" dirty="0">
                <a:solidFill>
                  <a:schemeClr val="tx1"/>
                </a:solidFill>
              </a:rPr>
              <a:t>Society. </a:t>
            </a:r>
          </a:p>
        </p:txBody>
      </p:sp>
      <p:sp>
        <p:nvSpPr>
          <p:cNvPr id="3" name="Title 2">
            <a:extLst>
              <a:ext uri="{FF2B5EF4-FFF2-40B4-BE49-F238E27FC236}">
                <a16:creationId xmlns:a16="http://schemas.microsoft.com/office/drawing/2014/main" id="{73580C5A-BD66-FF86-C407-A6B6C99A9B02}"/>
              </a:ext>
            </a:extLst>
          </p:cNvPr>
          <p:cNvSpPr>
            <a:spLocks noGrp="1"/>
          </p:cNvSpPr>
          <p:nvPr>
            <p:ph type="title"/>
          </p:nvPr>
        </p:nvSpPr>
        <p:spPr/>
        <p:txBody>
          <a:bodyPr/>
          <a:lstStyle/>
          <a:p>
            <a:r>
              <a:rPr lang="en-GB" dirty="0"/>
              <a:t>WHAT IS SOCIETY </a:t>
            </a:r>
          </a:p>
        </p:txBody>
      </p:sp>
    </p:spTree>
    <p:extLst>
      <p:ext uri="{BB962C8B-B14F-4D97-AF65-F5344CB8AC3E}">
        <p14:creationId xmlns:p14="http://schemas.microsoft.com/office/powerpoint/2010/main" val="12650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B53D8B6-3740-DED8-B953-279093FEFBC6}"/>
              </a:ext>
            </a:extLst>
          </p:cNvPr>
          <p:cNvSpPr>
            <a:spLocks noGrp="1"/>
          </p:cNvSpPr>
          <p:nvPr>
            <p:ph sz="half" idx="1"/>
          </p:nvPr>
        </p:nvSpPr>
        <p:spPr>
          <a:xfrm>
            <a:off x="325324" y="1343568"/>
            <a:ext cx="5696243" cy="4761810"/>
          </a:xfrm>
        </p:spPr>
        <p:txBody>
          <a:bodyPr>
            <a:normAutofit fontScale="92500" lnSpcReduction="10000"/>
          </a:bodyPr>
          <a:lstStyle/>
          <a:p>
            <a:r>
              <a:rPr lang="en-GB" b="1" dirty="0"/>
              <a:t>Hunting and gathering</a:t>
            </a:r>
            <a:r>
              <a:rPr lang="en-GB" dirty="0"/>
              <a:t>: this society was basically for survival by hunting of animals, fishing and gathering of plants.</a:t>
            </a:r>
          </a:p>
          <a:p>
            <a:endParaRPr lang="en-GB" dirty="0"/>
          </a:p>
          <a:p>
            <a:r>
              <a:rPr lang="en-GB" b="1" dirty="0"/>
              <a:t>Pastoral:</a:t>
            </a:r>
            <a:r>
              <a:rPr lang="en-GB" dirty="0"/>
              <a:t> this is where there is pasture of animals for food and transportation.</a:t>
            </a:r>
          </a:p>
          <a:p>
            <a:endParaRPr lang="en-GB" dirty="0"/>
          </a:p>
          <a:p>
            <a:r>
              <a:rPr lang="en-GB" b="1" dirty="0"/>
              <a:t>Horticultural</a:t>
            </a:r>
            <a:r>
              <a:rPr lang="en-GB" dirty="0"/>
              <a:t>: this society relied on cultivating fruits, vegetables and plants.</a:t>
            </a:r>
          </a:p>
        </p:txBody>
      </p:sp>
      <p:sp>
        <p:nvSpPr>
          <p:cNvPr id="4" name="Title 3">
            <a:extLst>
              <a:ext uri="{FF2B5EF4-FFF2-40B4-BE49-F238E27FC236}">
                <a16:creationId xmlns:a16="http://schemas.microsoft.com/office/drawing/2014/main" id="{607662F4-C29F-F56F-ADFC-61CD83CA266C}"/>
              </a:ext>
            </a:extLst>
          </p:cNvPr>
          <p:cNvSpPr>
            <a:spLocks noGrp="1"/>
          </p:cNvSpPr>
          <p:nvPr>
            <p:ph type="title"/>
          </p:nvPr>
        </p:nvSpPr>
        <p:spPr/>
        <p:txBody>
          <a:bodyPr/>
          <a:lstStyle/>
          <a:p>
            <a:r>
              <a:rPr lang="en-GB" dirty="0"/>
              <a:t>TYPES OF SOCIETY </a:t>
            </a:r>
          </a:p>
        </p:txBody>
      </p:sp>
      <p:sp>
        <p:nvSpPr>
          <p:cNvPr id="6" name="Content Placeholder 5">
            <a:extLst>
              <a:ext uri="{FF2B5EF4-FFF2-40B4-BE49-F238E27FC236}">
                <a16:creationId xmlns:a16="http://schemas.microsoft.com/office/drawing/2014/main" id="{A7CA555C-862F-05F1-6C9E-3444A3F169A0}"/>
              </a:ext>
            </a:extLst>
          </p:cNvPr>
          <p:cNvSpPr>
            <a:spLocks noGrp="1"/>
          </p:cNvSpPr>
          <p:nvPr>
            <p:ph sz="half" idx="13"/>
          </p:nvPr>
        </p:nvSpPr>
        <p:spPr>
          <a:xfrm>
            <a:off x="6172201" y="1249684"/>
            <a:ext cx="5694475" cy="4949578"/>
          </a:xfrm>
        </p:spPr>
        <p:txBody>
          <a:bodyPr>
            <a:normAutofit fontScale="85000" lnSpcReduction="20000"/>
          </a:bodyPr>
          <a:lstStyle/>
          <a:p>
            <a:r>
              <a:rPr lang="en-GB" b="1" dirty="0"/>
              <a:t>Agricultural society</a:t>
            </a:r>
            <a:r>
              <a:rPr lang="en-GB" dirty="0"/>
              <a:t>: this the society that uses technological advances to cultivate crops over a large area.</a:t>
            </a:r>
          </a:p>
          <a:p>
            <a:endParaRPr lang="en-GB" dirty="0"/>
          </a:p>
          <a:p>
            <a:r>
              <a:rPr lang="en-GB" b="1" dirty="0"/>
              <a:t>Feudal  society</a:t>
            </a:r>
            <a:r>
              <a:rPr lang="en-GB" dirty="0"/>
              <a:t>: this was the kind of society that is based on land ownership.</a:t>
            </a:r>
          </a:p>
          <a:p>
            <a:endParaRPr lang="en-GB" dirty="0"/>
          </a:p>
          <a:p>
            <a:r>
              <a:rPr lang="en-GB" b="1" dirty="0"/>
              <a:t>Industrial society</a:t>
            </a:r>
            <a:r>
              <a:rPr lang="en-GB" dirty="0"/>
              <a:t>: this is based on using machines for production of goods.</a:t>
            </a:r>
          </a:p>
          <a:p>
            <a:endParaRPr lang="en-GB" dirty="0"/>
          </a:p>
          <a:p>
            <a:r>
              <a:rPr lang="en-GB" b="1" dirty="0"/>
              <a:t>Post-industrial:</a:t>
            </a:r>
            <a:r>
              <a:rPr lang="en-GB" dirty="0"/>
              <a:t> this is the advent of computer microchips.</a:t>
            </a:r>
          </a:p>
        </p:txBody>
      </p:sp>
    </p:spTree>
    <p:extLst>
      <p:ext uri="{BB962C8B-B14F-4D97-AF65-F5344CB8AC3E}">
        <p14:creationId xmlns:p14="http://schemas.microsoft.com/office/powerpoint/2010/main" val="3538724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a:extLst>
              <a:ext uri="{FF2B5EF4-FFF2-40B4-BE49-F238E27FC236}">
                <a16:creationId xmlns:a16="http://schemas.microsoft.com/office/drawing/2014/main" id="{DCCB636F-1A8D-D644-9638-79A46DE1ACD4}"/>
              </a:ext>
            </a:extLst>
          </p:cNvPr>
          <p:cNvSpPr>
            <a:spLocks noGrp="1" noChangeArrowheads="1"/>
          </p:cNvSpPr>
          <p:nvPr>
            <p:ph type="body" idx="1"/>
          </p:nvPr>
        </p:nvSpPr>
        <p:spPr/>
        <p:txBody>
          <a:bodyPr/>
          <a:lstStyle/>
          <a:p>
            <a:r>
              <a:rPr lang="en-US" altLang="en-US" sz="3200" dirty="0">
                <a:solidFill>
                  <a:schemeClr val="tx1"/>
                </a:solidFill>
              </a:rPr>
              <a:t>Two or more individuals who </a:t>
            </a:r>
          </a:p>
          <a:p>
            <a:pPr lvl="1"/>
            <a:r>
              <a:rPr lang="en-US" altLang="en-US" sz="2800" dirty="0">
                <a:solidFill>
                  <a:schemeClr val="tx1"/>
                </a:solidFill>
              </a:rPr>
              <a:t>Share a set of norms, values or beliefs</a:t>
            </a:r>
          </a:p>
          <a:p>
            <a:pPr lvl="1"/>
            <a:r>
              <a:rPr lang="en-US" altLang="en-US" sz="2800" dirty="0">
                <a:solidFill>
                  <a:schemeClr val="tx1"/>
                </a:solidFill>
              </a:rPr>
              <a:t>Have certain role relationships</a:t>
            </a:r>
          </a:p>
          <a:p>
            <a:pPr lvl="1"/>
            <a:r>
              <a:rPr lang="en-US" altLang="en-US" sz="2800" dirty="0">
                <a:solidFill>
                  <a:schemeClr val="tx1"/>
                </a:solidFill>
              </a:rPr>
              <a:t>Experience interdependent behavior</a:t>
            </a:r>
          </a:p>
          <a:p>
            <a:pPr lvl="1"/>
            <a:endParaRPr lang="en-US" altLang="en-US" sz="2800" dirty="0">
              <a:solidFill>
                <a:schemeClr val="tx1"/>
              </a:solidFill>
            </a:endParaRPr>
          </a:p>
          <a:p>
            <a:r>
              <a:rPr lang="en-US" altLang="en-US" sz="3200" dirty="0">
                <a:solidFill>
                  <a:schemeClr val="tx1"/>
                </a:solidFill>
              </a:rPr>
              <a:t>A social system in which members</a:t>
            </a:r>
          </a:p>
          <a:p>
            <a:pPr lvl="1"/>
            <a:r>
              <a:rPr lang="en-US" altLang="en-US" sz="2800" dirty="0">
                <a:solidFill>
                  <a:schemeClr val="tx1"/>
                </a:solidFill>
              </a:rPr>
              <a:t>Have regular contact</a:t>
            </a:r>
          </a:p>
          <a:p>
            <a:pPr lvl="1"/>
            <a:r>
              <a:rPr lang="en-US" altLang="en-US" sz="2800" dirty="0">
                <a:solidFill>
                  <a:schemeClr val="tx1"/>
                </a:solidFill>
              </a:rPr>
              <a:t>Act cooperatively</a:t>
            </a:r>
          </a:p>
          <a:p>
            <a:pPr lvl="1"/>
            <a:r>
              <a:rPr lang="en-US" altLang="en-US" sz="2800" dirty="0">
                <a:solidFill>
                  <a:schemeClr val="tx1"/>
                </a:solidFill>
              </a:rPr>
              <a:t>Share common goals</a:t>
            </a:r>
          </a:p>
        </p:txBody>
      </p:sp>
      <p:sp>
        <p:nvSpPr>
          <p:cNvPr id="86018" name="Rectangle 2">
            <a:extLst>
              <a:ext uri="{FF2B5EF4-FFF2-40B4-BE49-F238E27FC236}">
                <a16:creationId xmlns:a16="http://schemas.microsoft.com/office/drawing/2014/main" id="{DBCB83FD-AAB5-C842-0051-E31E80B06065}"/>
              </a:ext>
            </a:extLst>
          </p:cNvPr>
          <p:cNvSpPr>
            <a:spLocks noGrp="1" noChangeArrowheads="1"/>
          </p:cNvSpPr>
          <p:nvPr>
            <p:ph type="title"/>
          </p:nvPr>
        </p:nvSpPr>
        <p:spPr/>
        <p:txBody>
          <a:bodyPr/>
          <a:lstStyle/>
          <a:p>
            <a:r>
              <a:rPr lang="en-US" altLang="en-US"/>
              <a:t>The meaning of groups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a:extLst>
              <a:ext uri="{FF2B5EF4-FFF2-40B4-BE49-F238E27FC236}">
                <a16:creationId xmlns:a16="http://schemas.microsoft.com/office/drawing/2014/main" id="{EA95B6DC-FA8C-7807-8A63-5D537706D3FC}"/>
              </a:ext>
            </a:extLst>
          </p:cNvPr>
          <p:cNvSpPr>
            <a:spLocks noGrp="1" noChangeArrowheads="1"/>
          </p:cNvSpPr>
          <p:nvPr>
            <p:ph type="body" idx="1"/>
          </p:nvPr>
        </p:nvSpPr>
        <p:spPr/>
        <p:txBody>
          <a:bodyPr/>
          <a:lstStyle/>
          <a:p>
            <a:r>
              <a:rPr lang="en-US" altLang="en-US" dirty="0">
                <a:solidFill>
                  <a:schemeClr val="tx1"/>
                </a:solidFill>
              </a:rPr>
              <a:t>Play an important role in consumer socialization</a:t>
            </a:r>
          </a:p>
          <a:p>
            <a:r>
              <a:rPr lang="en-US" altLang="en-US" dirty="0">
                <a:solidFill>
                  <a:schemeClr val="tx1"/>
                </a:solidFill>
              </a:rPr>
              <a:t>The process  by which we acquire the skills, knowledge and attitudes necessary to function as consumers</a:t>
            </a:r>
          </a:p>
          <a:p>
            <a:r>
              <a:rPr lang="en-US" altLang="en-US" dirty="0">
                <a:solidFill>
                  <a:schemeClr val="tx1"/>
                </a:solidFill>
              </a:rPr>
              <a:t>As consumers we learn to think and behave according to society’s expectations as </a:t>
            </a:r>
            <a:r>
              <a:rPr lang="en-US" altLang="en-US" i="1" dirty="0">
                <a:solidFill>
                  <a:schemeClr val="tx1"/>
                </a:solidFill>
              </a:rPr>
              <a:t>modeled</a:t>
            </a:r>
            <a:r>
              <a:rPr lang="en-US" altLang="en-US" dirty="0">
                <a:solidFill>
                  <a:schemeClr val="tx1"/>
                </a:solidFill>
              </a:rPr>
              <a:t> by the groups we interact with</a:t>
            </a:r>
          </a:p>
        </p:txBody>
      </p:sp>
      <p:sp>
        <p:nvSpPr>
          <p:cNvPr id="90114" name="Rectangle 2">
            <a:extLst>
              <a:ext uri="{FF2B5EF4-FFF2-40B4-BE49-F238E27FC236}">
                <a16:creationId xmlns:a16="http://schemas.microsoft.com/office/drawing/2014/main" id="{E1EAF201-0830-8A0A-8B58-4A9BEE169767}"/>
              </a:ext>
            </a:extLst>
          </p:cNvPr>
          <p:cNvSpPr>
            <a:spLocks noGrp="1" noChangeArrowheads="1"/>
          </p:cNvSpPr>
          <p:nvPr>
            <p:ph type="title"/>
          </p:nvPr>
        </p:nvSpPr>
        <p:spPr/>
        <p:txBody>
          <a:bodyPr/>
          <a:lstStyle/>
          <a:p>
            <a:r>
              <a:rPr lang="en-US" altLang="en-US"/>
              <a:t>Importance of groups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a:extLst>
              <a:ext uri="{FF2B5EF4-FFF2-40B4-BE49-F238E27FC236}">
                <a16:creationId xmlns:a16="http://schemas.microsoft.com/office/drawing/2014/main" id="{97F303ED-E5D7-6B94-1E14-4D62570F5B3A}"/>
              </a:ext>
            </a:extLst>
          </p:cNvPr>
          <p:cNvSpPr>
            <a:spLocks noGrp="1" noChangeArrowheads="1"/>
          </p:cNvSpPr>
          <p:nvPr>
            <p:ph type="body" idx="1"/>
          </p:nvPr>
        </p:nvSpPr>
        <p:spPr/>
        <p:txBody>
          <a:bodyPr>
            <a:normAutofit/>
          </a:bodyPr>
          <a:lstStyle/>
          <a:p>
            <a:r>
              <a:rPr lang="en-US" altLang="en-US" sz="3200" b="1" dirty="0">
                <a:solidFill>
                  <a:schemeClr val="tx1"/>
                </a:solidFill>
              </a:rPr>
              <a:t>Primary groups</a:t>
            </a:r>
            <a:r>
              <a:rPr lang="en-US" altLang="en-US" sz="3200" dirty="0">
                <a:solidFill>
                  <a:schemeClr val="tx1"/>
                </a:solidFill>
              </a:rPr>
              <a:t>: small and intimate groups we come together with frequently and face-to-face</a:t>
            </a:r>
          </a:p>
          <a:p>
            <a:endParaRPr lang="en-US" altLang="en-US" sz="3200" dirty="0">
              <a:solidFill>
                <a:schemeClr val="tx1"/>
              </a:solidFill>
            </a:endParaRPr>
          </a:p>
          <a:p>
            <a:endParaRPr lang="en-US" altLang="en-US" sz="3200" dirty="0">
              <a:solidFill>
                <a:schemeClr val="tx1"/>
              </a:solidFill>
            </a:endParaRPr>
          </a:p>
          <a:p>
            <a:r>
              <a:rPr lang="en-US" altLang="en-US" sz="3200" b="1" dirty="0">
                <a:solidFill>
                  <a:schemeClr val="tx1"/>
                </a:solidFill>
              </a:rPr>
              <a:t>Secondary groups</a:t>
            </a:r>
            <a:r>
              <a:rPr lang="en-US" altLang="en-US" sz="3200" dirty="0">
                <a:solidFill>
                  <a:schemeClr val="tx1"/>
                </a:solidFill>
              </a:rPr>
              <a:t>: less intimacy and personal interaction</a:t>
            </a:r>
          </a:p>
          <a:p>
            <a:r>
              <a:rPr lang="en-US" altLang="en-US" sz="3200" dirty="0">
                <a:solidFill>
                  <a:schemeClr val="tx1"/>
                </a:solidFill>
              </a:rPr>
              <a:t>Key difference is the extent of influence over one’s attitudes, beliefs, behavior, etc.</a:t>
            </a:r>
          </a:p>
        </p:txBody>
      </p:sp>
      <p:sp>
        <p:nvSpPr>
          <p:cNvPr id="92162" name="Rectangle 2">
            <a:extLst>
              <a:ext uri="{FF2B5EF4-FFF2-40B4-BE49-F238E27FC236}">
                <a16:creationId xmlns:a16="http://schemas.microsoft.com/office/drawing/2014/main" id="{BAD9B045-4B82-0F5A-0E48-3B75689C5FC8}"/>
              </a:ext>
            </a:extLst>
          </p:cNvPr>
          <p:cNvSpPr>
            <a:spLocks noGrp="1" noChangeArrowheads="1"/>
          </p:cNvSpPr>
          <p:nvPr>
            <p:ph type="title"/>
          </p:nvPr>
        </p:nvSpPr>
        <p:spPr/>
        <p:txBody>
          <a:bodyPr/>
          <a:lstStyle/>
          <a:p>
            <a:r>
              <a:rPr lang="en-US" altLang="en-US" dirty="0"/>
              <a:t>Types of social groups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a:extLst>
              <a:ext uri="{FF2B5EF4-FFF2-40B4-BE49-F238E27FC236}">
                <a16:creationId xmlns:a16="http://schemas.microsoft.com/office/drawing/2014/main" id="{530A26CE-308D-3448-1F34-BE9B64D86AB8}"/>
              </a:ext>
            </a:extLst>
          </p:cNvPr>
          <p:cNvSpPr>
            <a:spLocks noGrp="1" noChangeArrowheads="1"/>
          </p:cNvSpPr>
          <p:nvPr>
            <p:ph type="body" idx="1"/>
          </p:nvPr>
        </p:nvSpPr>
        <p:spPr/>
        <p:txBody>
          <a:bodyPr>
            <a:normAutofit/>
          </a:bodyPr>
          <a:lstStyle/>
          <a:p>
            <a:r>
              <a:rPr lang="en-US" altLang="en-US" sz="3200" b="1" dirty="0">
                <a:solidFill>
                  <a:schemeClr val="tx1"/>
                </a:solidFill>
              </a:rPr>
              <a:t>Formal groups</a:t>
            </a:r>
            <a:r>
              <a:rPr lang="en-US" altLang="en-US" sz="3200" dirty="0">
                <a:solidFill>
                  <a:schemeClr val="tx1"/>
                </a:solidFill>
              </a:rPr>
              <a:t>: organized, hierarchical groups where structure is defined, roles delineated, etc.</a:t>
            </a:r>
          </a:p>
          <a:p>
            <a:endParaRPr lang="en-US" altLang="en-US" sz="3200" dirty="0">
              <a:solidFill>
                <a:schemeClr val="tx1"/>
              </a:solidFill>
            </a:endParaRPr>
          </a:p>
          <a:p>
            <a:endParaRPr lang="en-US" altLang="en-US" sz="3200" dirty="0">
              <a:solidFill>
                <a:schemeClr val="tx1"/>
              </a:solidFill>
            </a:endParaRPr>
          </a:p>
          <a:p>
            <a:r>
              <a:rPr lang="en-US" altLang="en-US" sz="3200" b="1" dirty="0">
                <a:solidFill>
                  <a:schemeClr val="tx1"/>
                </a:solidFill>
              </a:rPr>
              <a:t>Informal groups</a:t>
            </a:r>
            <a:r>
              <a:rPr lang="en-US" altLang="en-US" sz="3200" dirty="0">
                <a:solidFill>
                  <a:schemeClr val="tx1"/>
                </a:solidFill>
              </a:rPr>
              <a:t>: often emerge from formal groups, but may also emerge between neighbors, friends, etc.</a:t>
            </a:r>
          </a:p>
        </p:txBody>
      </p:sp>
      <p:sp>
        <p:nvSpPr>
          <p:cNvPr id="2" name="Title 1">
            <a:extLst>
              <a:ext uri="{FF2B5EF4-FFF2-40B4-BE49-F238E27FC236}">
                <a16:creationId xmlns:a16="http://schemas.microsoft.com/office/drawing/2014/main" id="{65E8FACF-F6C6-F613-19AD-9EDB0668D40A}"/>
              </a:ext>
            </a:extLst>
          </p:cNvPr>
          <p:cNvSpPr>
            <a:spLocks noGrp="1"/>
          </p:cNvSpPr>
          <p:nvPr>
            <p:ph type="title"/>
          </p:nvPr>
        </p:nvSpPr>
        <p:spPr/>
        <p:txBody>
          <a:bodyPr/>
          <a:lstStyle/>
          <a:p>
            <a:r>
              <a:rPr lang="en-US" altLang="en-US" dirty="0"/>
              <a:t>Types of social groups</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a:extLst>
              <a:ext uri="{FF2B5EF4-FFF2-40B4-BE49-F238E27FC236}">
                <a16:creationId xmlns:a16="http://schemas.microsoft.com/office/drawing/2014/main" id="{40952ABC-151B-D4CA-EC4F-3C3DCB2CEEA9}"/>
              </a:ext>
            </a:extLst>
          </p:cNvPr>
          <p:cNvSpPr>
            <a:spLocks noGrp="1" noChangeArrowheads="1"/>
          </p:cNvSpPr>
          <p:nvPr>
            <p:ph type="body" idx="1"/>
          </p:nvPr>
        </p:nvSpPr>
        <p:spPr/>
        <p:txBody>
          <a:bodyPr/>
          <a:lstStyle/>
          <a:p>
            <a:pPr marL="571500" indent="-571500"/>
            <a:r>
              <a:rPr lang="en-US" altLang="en-US" i="1" dirty="0">
                <a:solidFill>
                  <a:schemeClr val="tx1"/>
                </a:solidFill>
              </a:rPr>
              <a:t>Patterns of behavior</a:t>
            </a:r>
            <a:r>
              <a:rPr lang="en-US" altLang="en-US" dirty="0">
                <a:solidFill>
                  <a:schemeClr val="tx1"/>
                </a:solidFill>
              </a:rPr>
              <a:t> expected of individuals within a given social context</a:t>
            </a:r>
          </a:p>
          <a:p>
            <a:pPr marL="571500" indent="-571500"/>
            <a:r>
              <a:rPr lang="en-US" altLang="en-US" dirty="0">
                <a:solidFill>
                  <a:schemeClr val="tx1"/>
                </a:solidFill>
              </a:rPr>
              <a:t>May develop in one of three ways</a:t>
            </a:r>
          </a:p>
          <a:p>
            <a:pPr marL="839788" lvl="1" indent="-495300">
              <a:buFont typeface="Wingdings" panose="05000000000000000000" pitchFamily="2" charset="2"/>
              <a:buAutoNum type="arabicPeriod"/>
            </a:pPr>
            <a:r>
              <a:rPr lang="en-US" altLang="en-US" dirty="0">
                <a:solidFill>
                  <a:schemeClr val="tx1"/>
                </a:solidFill>
              </a:rPr>
              <a:t>Formal role definitions prescribed by the group</a:t>
            </a:r>
          </a:p>
          <a:p>
            <a:pPr marL="839788" lvl="1" indent="-495300">
              <a:buFont typeface="Wingdings" panose="05000000000000000000" pitchFamily="2" charset="2"/>
              <a:buAutoNum type="arabicPeriod"/>
            </a:pPr>
            <a:r>
              <a:rPr lang="en-US" altLang="en-US" dirty="0">
                <a:solidFill>
                  <a:schemeClr val="tx1"/>
                </a:solidFill>
              </a:rPr>
              <a:t>Informal rules of the group</a:t>
            </a:r>
          </a:p>
          <a:p>
            <a:pPr marL="839788" lvl="1" indent="-495300">
              <a:buFont typeface="Wingdings" panose="05000000000000000000" pitchFamily="2" charset="2"/>
              <a:buAutoNum type="arabicPeriod"/>
            </a:pPr>
            <a:r>
              <a:rPr lang="en-US" altLang="en-US" dirty="0">
                <a:solidFill>
                  <a:schemeClr val="tx1"/>
                </a:solidFill>
              </a:rPr>
              <a:t>History of prior experiences</a:t>
            </a:r>
          </a:p>
        </p:txBody>
      </p:sp>
      <p:sp>
        <p:nvSpPr>
          <p:cNvPr id="96258" name="Rectangle 2">
            <a:extLst>
              <a:ext uri="{FF2B5EF4-FFF2-40B4-BE49-F238E27FC236}">
                <a16:creationId xmlns:a16="http://schemas.microsoft.com/office/drawing/2014/main" id="{C2EFF13F-9C3C-2BB1-A414-9432A98A43C5}"/>
              </a:ext>
            </a:extLst>
          </p:cNvPr>
          <p:cNvSpPr>
            <a:spLocks noGrp="1" noChangeArrowheads="1"/>
          </p:cNvSpPr>
          <p:nvPr>
            <p:ph type="title"/>
          </p:nvPr>
        </p:nvSpPr>
        <p:spPr/>
        <p:txBody>
          <a:bodyPr/>
          <a:lstStyle/>
          <a:p>
            <a:r>
              <a:rPr lang="en-US" altLang="en-US" dirty="0"/>
              <a:t>Roles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a:extLst>
              <a:ext uri="{FF2B5EF4-FFF2-40B4-BE49-F238E27FC236}">
                <a16:creationId xmlns:a16="http://schemas.microsoft.com/office/drawing/2014/main" id="{975636BD-CDB8-F86B-20E0-7156A5D97D97}"/>
              </a:ext>
            </a:extLst>
          </p:cNvPr>
          <p:cNvSpPr>
            <a:spLocks noGrp="1" noChangeArrowheads="1"/>
          </p:cNvSpPr>
          <p:nvPr>
            <p:ph type="body" idx="1"/>
          </p:nvPr>
        </p:nvSpPr>
        <p:spPr/>
        <p:txBody>
          <a:bodyPr/>
          <a:lstStyle/>
          <a:p>
            <a:r>
              <a:rPr lang="en-US" altLang="en-US" dirty="0">
                <a:solidFill>
                  <a:schemeClr val="tx1"/>
                </a:solidFill>
              </a:rPr>
              <a:t>Roles influence consumption behavior</a:t>
            </a:r>
          </a:p>
          <a:p>
            <a:r>
              <a:rPr lang="en-US" altLang="en-US" dirty="0">
                <a:solidFill>
                  <a:schemeClr val="tx1"/>
                </a:solidFill>
              </a:rPr>
              <a:t>A </a:t>
            </a:r>
            <a:r>
              <a:rPr lang="en-US" altLang="en-US" i="1" dirty="0">
                <a:solidFill>
                  <a:schemeClr val="tx1"/>
                </a:solidFill>
              </a:rPr>
              <a:t>role-related product cluster</a:t>
            </a:r>
            <a:r>
              <a:rPr lang="en-US" altLang="en-US" dirty="0">
                <a:solidFill>
                  <a:schemeClr val="tx1"/>
                </a:solidFill>
              </a:rPr>
              <a:t> is a set of goods necessary to play a given role</a:t>
            </a:r>
          </a:p>
          <a:p>
            <a:endParaRPr lang="en-US" altLang="en-US" dirty="0"/>
          </a:p>
        </p:txBody>
      </p:sp>
      <p:sp>
        <p:nvSpPr>
          <p:cNvPr id="2" name="Title 1">
            <a:extLst>
              <a:ext uri="{FF2B5EF4-FFF2-40B4-BE49-F238E27FC236}">
                <a16:creationId xmlns:a16="http://schemas.microsoft.com/office/drawing/2014/main" id="{131BF726-4B23-0CAF-D374-D1B05CEEC75F}"/>
              </a:ext>
            </a:extLst>
          </p:cNvPr>
          <p:cNvSpPr>
            <a:spLocks noGrp="1"/>
          </p:cNvSpPr>
          <p:nvPr>
            <p:ph type="title"/>
          </p:nvPr>
        </p:nvSpPr>
        <p:spPr/>
        <p:txBody>
          <a:bodyPr/>
          <a:lstStyle/>
          <a:p>
            <a:r>
              <a:rPr lang="en-US" altLang="en-US" dirty="0"/>
              <a:t>Roles</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a:extLst>
              <a:ext uri="{FF2B5EF4-FFF2-40B4-BE49-F238E27FC236}">
                <a16:creationId xmlns:a16="http://schemas.microsoft.com/office/drawing/2014/main" id="{8412154D-FC76-9BDB-5398-31CB0482E278}"/>
              </a:ext>
            </a:extLst>
          </p:cNvPr>
          <p:cNvSpPr>
            <a:spLocks noGrp="1" noChangeArrowheads="1"/>
          </p:cNvSpPr>
          <p:nvPr>
            <p:ph type="body" idx="1"/>
          </p:nvPr>
        </p:nvSpPr>
        <p:spPr/>
        <p:txBody>
          <a:bodyPr/>
          <a:lstStyle/>
          <a:p>
            <a:r>
              <a:rPr lang="en-US" altLang="en-US" dirty="0">
                <a:solidFill>
                  <a:schemeClr val="tx1"/>
                </a:solidFill>
              </a:rPr>
              <a:t>The relative position of a person in a group’s social spectrum</a:t>
            </a:r>
          </a:p>
          <a:p>
            <a:r>
              <a:rPr lang="en-US" altLang="en-US" dirty="0">
                <a:solidFill>
                  <a:schemeClr val="tx1"/>
                </a:solidFill>
              </a:rPr>
              <a:t>Consumers often purchase goods and services </a:t>
            </a:r>
            <a:r>
              <a:rPr lang="en-US" altLang="en-US" i="1" dirty="0">
                <a:solidFill>
                  <a:schemeClr val="tx1"/>
                </a:solidFill>
              </a:rPr>
              <a:t>appropriate to their status</a:t>
            </a:r>
            <a:r>
              <a:rPr lang="en-US" altLang="en-US" dirty="0">
                <a:solidFill>
                  <a:schemeClr val="tx1"/>
                </a:solidFill>
              </a:rPr>
              <a:t> within a group</a:t>
            </a:r>
          </a:p>
        </p:txBody>
      </p:sp>
      <p:sp>
        <p:nvSpPr>
          <p:cNvPr id="98306" name="Rectangle 2">
            <a:extLst>
              <a:ext uri="{FF2B5EF4-FFF2-40B4-BE49-F238E27FC236}">
                <a16:creationId xmlns:a16="http://schemas.microsoft.com/office/drawing/2014/main" id="{BE17C593-FF09-132D-7101-E4244AE141AF}"/>
              </a:ext>
            </a:extLst>
          </p:cNvPr>
          <p:cNvSpPr>
            <a:spLocks noGrp="1" noChangeArrowheads="1"/>
          </p:cNvSpPr>
          <p:nvPr>
            <p:ph type="title"/>
          </p:nvPr>
        </p:nvSpPr>
        <p:spPr/>
        <p:txBody>
          <a:bodyPr/>
          <a:lstStyle/>
          <a:p>
            <a:r>
              <a:rPr lang="en-US" altLang="en-US"/>
              <a:t>Status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a:extLst>
              <a:ext uri="{FF2B5EF4-FFF2-40B4-BE49-F238E27FC236}">
                <a16:creationId xmlns:a16="http://schemas.microsoft.com/office/drawing/2014/main" id="{8EFF41DB-85FE-881E-F343-EDE6DE243BE8}"/>
              </a:ext>
            </a:extLst>
          </p:cNvPr>
          <p:cNvSpPr>
            <a:spLocks noGrp="1" noChangeArrowheads="1"/>
          </p:cNvSpPr>
          <p:nvPr>
            <p:ph type="body" idx="1"/>
          </p:nvPr>
        </p:nvSpPr>
        <p:spPr/>
        <p:txBody>
          <a:bodyPr/>
          <a:lstStyle/>
          <a:p>
            <a:r>
              <a:rPr lang="en-US" altLang="en-US" dirty="0">
                <a:solidFill>
                  <a:schemeClr val="tx1"/>
                </a:solidFill>
              </a:rPr>
              <a:t>Any </a:t>
            </a:r>
            <a:r>
              <a:rPr lang="en-US" altLang="en-US" i="1" dirty="0">
                <a:solidFill>
                  <a:schemeClr val="tx1"/>
                </a:solidFill>
              </a:rPr>
              <a:t>person or group</a:t>
            </a:r>
            <a:r>
              <a:rPr lang="en-US" altLang="en-US" dirty="0">
                <a:solidFill>
                  <a:schemeClr val="tx1"/>
                </a:solidFill>
              </a:rPr>
              <a:t> that serves as a point of comparison (</a:t>
            </a:r>
            <a:r>
              <a:rPr lang="en-US" altLang="en-US" i="1" dirty="0">
                <a:solidFill>
                  <a:schemeClr val="tx1"/>
                </a:solidFill>
              </a:rPr>
              <a:t>referenc</a:t>
            </a:r>
            <a:r>
              <a:rPr lang="en-US" altLang="en-US" dirty="0">
                <a:solidFill>
                  <a:schemeClr val="tx1"/>
                </a:solidFill>
              </a:rPr>
              <a:t>e) for an individual in forming either general or specific values, attitudes, or a specific guide for behavior</a:t>
            </a:r>
          </a:p>
          <a:p>
            <a:r>
              <a:rPr lang="en-US" altLang="en-US" dirty="0">
                <a:solidFill>
                  <a:schemeClr val="tx1"/>
                </a:solidFill>
              </a:rPr>
              <a:t>Reference groups are groups that serve as </a:t>
            </a:r>
            <a:r>
              <a:rPr lang="en-US" altLang="en-US" i="1" dirty="0">
                <a:solidFill>
                  <a:schemeClr val="tx1"/>
                </a:solidFill>
              </a:rPr>
              <a:t>frames of reference</a:t>
            </a:r>
            <a:r>
              <a:rPr lang="en-US" altLang="en-US" dirty="0">
                <a:solidFill>
                  <a:schemeClr val="tx1"/>
                </a:solidFill>
              </a:rPr>
              <a:t> for individuals in their purchase or consumption decisions</a:t>
            </a:r>
          </a:p>
        </p:txBody>
      </p:sp>
      <p:sp>
        <p:nvSpPr>
          <p:cNvPr id="100354" name="Rectangle 2">
            <a:extLst>
              <a:ext uri="{FF2B5EF4-FFF2-40B4-BE49-F238E27FC236}">
                <a16:creationId xmlns:a16="http://schemas.microsoft.com/office/drawing/2014/main" id="{8AB38037-921B-5EA1-072A-1A499C991982}"/>
              </a:ext>
            </a:extLst>
          </p:cNvPr>
          <p:cNvSpPr>
            <a:spLocks noGrp="1" noChangeArrowheads="1"/>
          </p:cNvSpPr>
          <p:nvPr>
            <p:ph type="title"/>
          </p:nvPr>
        </p:nvSpPr>
        <p:spPr/>
        <p:txBody>
          <a:bodyPr/>
          <a:lstStyle/>
          <a:p>
            <a:r>
              <a:rPr lang="en-US" altLang="en-US"/>
              <a:t>Reference groups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0236532B-0498-A754-0DF5-5A38FD2D0D2D}"/>
              </a:ext>
            </a:extLst>
          </p:cNvPr>
          <p:cNvSpPr>
            <a:spLocks noGrp="1" noChangeArrowheads="1"/>
          </p:cNvSpPr>
          <p:nvPr>
            <p:ph type="body" idx="1"/>
          </p:nvPr>
        </p:nvSpPr>
        <p:spPr/>
        <p:txBody>
          <a:bodyPr/>
          <a:lstStyle/>
          <a:p>
            <a:r>
              <a:rPr lang="en-US" altLang="en-US" b="1" dirty="0">
                <a:solidFill>
                  <a:schemeClr val="tx1"/>
                </a:solidFill>
              </a:rPr>
              <a:t>Normativ</a:t>
            </a:r>
            <a:r>
              <a:rPr lang="en-US" altLang="en-US" b="1" i="1" dirty="0">
                <a:solidFill>
                  <a:schemeClr val="tx1"/>
                </a:solidFill>
              </a:rPr>
              <a:t>e</a:t>
            </a:r>
            <a:r>
              <a:rPr lang="en-US" altLang="en-US" dirty="0">
                <a:solidFill>
                  <a:schemeClr val="tx1"/>
                </a:solidFill>
              </a:rPr>
              <a:t>: groups that influence </a:t>
            </a:r>
            <a:r>
              <a:rPr lang="en-US" altLang="en-US" i="1" dirty="0">
                <a:solidFill>
                  <a:schemeClr val="tx1"/>
                </a:solidFill>
              </a:rPr>
              <a:t>general or broadly defined</a:t>
            </a:r>
            <a:r>
              <a:rPr lang="en-US" altLang="en-US" dirty="0">
                <a:solidFill>
                  <a:schemeClr val="tx1"/>
                </a:solidFill>
              </a:rPr>
              <a:t> values or behavior</a:t>
            </a:r>
          </a:p>
          <a:p>
            <a:r>
              <a:rPr lang="en-US" altLang="en-US" b="1" dirty="0">
                <a:solidFill>
                  <a:schemeClr val="tx1"/>
                </a:solidFill>
              </a:rPr>
              <a:t>Comparative</a:t>
            </a:r>
            <a:r>
              <a:rPr lang="en-US" altLang="en-US" dirty="0">
                <a:solidFill>
                  <a:schemeClr val="tx1"/>
                </a:solidFill>
              </a:rPr>
              <a:t>: groups that benchmark </a:t>
            </a:r>
            <a:r>
              <a:rPr lang="en-US" altLang="en-US" i="1" dirty="0">
                <a:solidFill>
                  <a:schemeClr val="tx1"/>
                </a:solidFill>
              </a:rPr>
              <a:t>specific or narrowly defined</a:t>
            </a:r>
            <a:r>
              <a:rPr lang="en-US" altLang="en-US" dirty="0">
                <a:solidFill>
                  <a:schemeClr val="tx1"/>
                </a:solidFill>
              </a:rPr>
              <a:t> attitudes or behaviors</a:t>
            </a:r>
          </a:p>
          <a:p>
            <a:r>
              <a:rPr lang="en-US" altLang="en-US" b="1" dirty="0">
                <a:solidFill>
                  <a:schemeClr val="tx1"/>
                </a:solidFill>
              </a:rPr>
              <a:t>Indirect</a:t>
            </a:r>
            <a:r>
              <a:rPr lang="en-US" altLang="en-US" dirty="0">
                <a:solidFill>
                  <a:schemeClr val="tx1"/>
                </a:solidFill>
              </a:rPr>
              <a:t>: individuals or groups with whom a person does not have </a:t>
            </a:r>
            <a:r>
              <a:rPr lang="en-US" altLang="en-US" i="1" dirty="0">
                <a:solidFill>
                  <a:schemeClr val="tx1"/>
                </a:solidFill>
              </a:rPr>
              <a:t>direct</a:t>
            </a:r>
            <a:r>
              <a:rPr lang="en-US" altLang="en-US" dirty="0">
                <a:solidFill>
                  <a:schemeClr val="tx1"/>
                </a:solidFill>
              </a:rPr>
              <a:t> contact, such as movie stars, sports heroes, celebrities, political leaders, etc.</a:t>
            </a:r>
            <a:endParaRPr lang="en-US" altLang="en-US" b="1" i="1" dirty="0">
              <a:solidFill>
                <a:schemeClr val="tx1"/>
              </a:solidFill>
            </a:endParaRPr>
          </a:p>
          <a:p>
            <a:endParaRPr lang="en-US" altLang="en-US" dirty="0"/>
          </a:p>
        </p:txBody>
      </p:sp>
      <p:sp>
        <p:nvSpPr>
          <p:cNvPr id="102402" name="Rectangle 2">
            <a:extLst>
              <a:ext uri="{FF2B5EF4-FFF2-40B4-BE49-F238E27FC236}">
                <a16:creationId xmlns:a16="http://schemas.microsoft.com/office/drawing/2014/main" id="{5F3EA010-DFFD-849A-C699-247E39FA87F2}"/>
              </a:ext>
            </a:extLst>
          </p:cNvPr>
          <p:cNvSpPr>
            <a:spLocks noGrp="1" noChangeArrowheads="1"/>
          </p:cNvSpPr>
          <p:nvPr>
            <p:ph type="title"/>
          </p:nvPr>
        </p:nvSpPr>
        <p:spPr/>
        <p:txBody>
          <a:bodyPr/>
          <a:lstStyle/>
          <a:p>
            <a:r>
              <a:rPr lang="en-US" altLang="en-US" dirty="0"/>
              <a:t>Types of reference groups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a:extLst>
              <a:ext uri="{FF2B5EF4-FFF2-40B4-BE49-F238E27FC236}">
                <a16:creationId xmlns:a16="http://schemas.microsoft.com/office/drawing/2014/main" id="{9545C85E-8FA5-C812-7DF0-DFA398FDC00F}"/>
              </a:ext>
            </a:extLst>
          </p:cNvPr>
          <p:cNvSpPr>
            <a:spLocks noGrp="1" noChangeArrowheads="1"/>
          </p:cNvSpPr>
          <p:nvPr>
            <p:ph type="body" idx="1"/>
          </p:nvPr>
        </p:nvSpPr>
        <p:spPr/>
        <p:txBody>
          <a:bodyPr/>
          <a:lstStyle/>
          <a:p>
            <a:r>
              <a:rPr lang="en-US" altLang="en-US" dirty="0">
                <a:solidFill>
                  <a:schemeClr val="tx1"/>
                </a:solidFill>
              </a:rPr>
              <a:t>Membership reference groups</a:t>
            </a:r>
          </a:p>
          <a:p>
            <a:r>
              <a:rPr lang="en-US" altLang="en-US" dirty="0">
                <a:solidFill>
                  <a:schemeClr val="tx1"/>
                </a:solidFill>
              </a:rPr>
              <a:t>Aspirational reference groups</a:t>
            </a:r>
          </a:p>
          <a:p>
            <a:r>
              <a:rPr lang="en-US" altLang="en-US" dirty="0">
                <a:solidFill>
                  <a:schemeClr val="tx1"/>
                </a:solidFill>
              </a:rPr>
              <a:t>Dissociative reference groups</a:t>
            </a:r>
          </a:p>
        </p:txBody>
      </p:sp>
      <p:sp>
        <p:nvSpPr>
          <p:cNvPr id="2" name="Title 1">
            <a:extLst>
              <a:ext uri="{FF2B5EF4-FFF2-40B4-BE49-F238E27FC236}">
                <a16:creationId xmlns:a16="http://schemas.microsoft.com/office/drawing/2014/main" id="{D799D158-FF52-0597-4782-3B9D8B377F89}"/>
              </a:ext>
            </a:extLst>
          </p:cNvPr>
          <p:cNvSpPr>
            <a:spLocks noGrp="1"/>
          </p:cNvSpPr>
          <p:nvPr>
            <p:ph type="title"/>
          </p:nvPr>
        </p:nvSpPr>
        <p:spPr/>
        <p:txBody>
          <a:bodyPr/>
          <a:lstStyle/>
          <a:p>
            <a:r>
              <a:rPr lang="en-US" altLang="en-US" dirty="0"/>
              <a:t>Types of reference groups</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a:extLst>
              <a:ext uri="{FF2B5EF4-FFF2-40B4-BE49-F238E27FC236}">
                <a16:creationId xmlns:a16="http://schemas.microsoft.com/office/drawing/2014/main" id="{462BC5E0-9BF8-AFE0-B640-8E74742F18C4}"/>
              </a:ext>
            </a:extLst>
          </p:cNvPr>
          <p:cNvSpPr>
            <a:spLocks noGrp="1" noChangeArrowheads="1"/>
          </p:cNvSpPr>
          <p:nvPr>
            <p:ph type="body" idx="1"/>
          </p:nvPr>
        </p:nvSpPr>
        <p:spPr/>
        <p:txBody>
          <a:bodyPr/>
          <a:lstStyle/>
          <a:p>
            <a:pPr marL="571500" indent="-571500"/>
            <a:r>
              <a:rPr lang="en-US" altLang="en-US" dirty="0">
                <a:solidFill>
                  <a:schemeClr val="tx1"/>
                </a:solidFill>
              </a:rPr>
              <a:t>Degree of influence a reference group exerts on a consumer’s actions depend on several factors:</a:t>
            </a:r>
          </a:p>
          <a:p>
            <a:pPr marL="571500" indent="-571500">
              <a:buFont typeface="Wingdings" panose="05000000000000000000" pitchFamily="2" charset="2"/>
              <a:buAutoNum type="arabicPeriod"/>
            </a:pPr>
            <a:r>
              <a:rPr lang="en-US" altLang="en-US" dirty="0">
                <a:solidFill>
                  <a:schemeClr val="tx1"/>
                </a:solidFill>
              </a:rPr>
              <a:t>Nature and extent of consumer’s information and experience</a:t>
            </a:r>
          </a:p>
          <a:p>
            <a:pPr marL="571500" indent="-571500">
              <a:buFont typeface="Wingdings" panose="05000000000000000000" pitchFamily="2" charset="2"/>
              <a:buAutoNum type="arabicPeriod"/>
            </a:pPr>
            <a:r>
              <a:rPr lang="en-US" altLang="en-US" dirty="0">
                <a:solidFill>
                  <a:schemeClr val="tx1"/>
                </a:solidFill>
              </a:rPr>
              <a:t>Credibility, attractiveness, and power of the group</a:t>
            </a:r>
          </a:p>
          <a:p>
            <a:pPr marL="571500" indent="-571500">
              <a:buFont typeface="Wingdings" panose="05000000000000000000" pitchFamily="2" charset="2"/>
              <a:buAutoNum type="arabicPeriod"/>
            </a:pPr>
            <a:r>
              <a:rPr lang="en-US" altLang="en-US" dirty="0">
                <a:solidFill>
                  <a:schemeClr val="tx1"/>
                </a:solidFill>
              </a:rPr>
              <a:t>Conspicuousness of the product</a:t>
            </a:r>
          </a:p>
        </p:txBody>
      </p:sp>
      <p:sp>
        <p:nvSpPr>
          <p:cNvPr id="108546" name="Rectangle 2">
            <a:extLst>
              <a:ext uri="{FF2B5EF4-FFF2-40B4-BE49-F238E27FC236}">
                <a16:creationId xmlns:a16="http://schemas.microsoft.com/office/drawing/2014/main" id="{71B37027-C217-2150-5A11-C80B7EEAA664}"/>
              </a:ext>
            </a:extLst>
          </p:cNvPr>
          <p:cNvSpPr>
            <a:spLocks noGrp="1" noChangeArrowheads="1"/>
          </p:cNvSpPr>
          <p:nvPr>
            <p:ph type="title"/>
          </p:nvPr>
        </p:nvSpPr>
        <p:spPr/>
        <p:txBody>
          <a:bodyPr>
            <a:normAutofit fontScale="90000"/>
          </a:bodyPr>
          <a:lstStyle/>
          <a:p>
            <a:r>
              <a:rPr lang="en-US" altLang="en-US" sz="3800"/>
              <a:t>Factors that affect reference group influence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a:extLst>
              <a:ext uri="{FF2B5EF4-FFF2-40B4-BE49-F238E27FC236}">
                <a16:creationId xmlns:a16="http://schemas.microsoft.com/office/drawing/2014/main" id="{8C2BB2FF-C210-308E-C0C1-42C5D104DA20}"/>
              </a:ext>
            </a:extLst>
          </p:cNvPr>
          <p:cNvSpPr>
            <a:spLocks noGrp="1" noChangeArrowheads="1"/>
          </p:cNvSpPr>
          <p:nvPr>
            <p:ph type="body" idx="1"/>
          </p:nvPr>
        </p:nvSpPr>
        <p:spPr/>
        <p:txBody>
          <a:bodyPr/>
          <a:lstStyle/>
          <a:p>
            <a:r>
              <a:rPr lang="en-US" altLang="en-US" dirty="0">
                <a:solidFill>
                  <a:schemeClr val="tx1"/>
                </a:solidFill>
              </a:rPr>
              <a:t>Greater the consumer’s access to information about or experience with a product, the less likely it is that he or she will be influenced by the advice or examples of others</a:t>
            </a:r>
          </a:p>
        </p:txBody>
      </p:sp>
      <p:sp>
        <p:nvSpPr>
          <p:cNvPr id="109570" name="Rectangle 2">
            <a:extLst>
              <a:ext uri="{FF2B5EF4-FFF2-40B4-BE49-F238E27FC236}">
                <a16:creationId xmlns:a16="http://schemas.microsoft.com/office/drawing/2014/main" id="{C9F82DE1-9E9F-CAA0-9803-809F7349ECBF}"/>
              </a:ext>
            </a:extLst>
          </p:cNvPr>
          <p:cNvSpPr>
            <a:spLocks noGrp="1" noChangeArrowheads="1"/>
          </p:cNvSpPr>
          <p:nvPr>
            <p:ph type="title"/>
          </p:nvPr>
        </p:nvSpPr>
        <p:spPr/>
        <p:txBody>
          <a:bodyPr/>
          <a:lstStyle/>
          <a:p>
            <a:r>
              <a:rPr lang="en-US" altLang="en-US" sz="3800"/>
              <a:t>1. Consumer’s information and experience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a:extLst>
              <a:ext uri="{FF2B5EF4-FFF2-40B4-BE49-F238E27FC236}">
                <a16:creationId xmlns:a16="http://schemas.microsoft.com/office/drawing/2014/main" id="{F24D9A97-995E-9F64-C3FC-5158FEA06F73}"/>
              </a:ext>
            </a:extLst>
          </p:cNvPr>
          <p:cNvSpPr>
            <a:spLocks noGrp="1" noChangeArrowheads="1"/>
          </p:cNvSpPr>
          <p:nvPr>
            <p:ph type="body" idx="1"/>
          </p:nvPr>
        </p:nvSpPr>
        <p:spPr>
          <a:xfrm>
            <a:off x="831850" y="1445342"/>
            <a:ext cx="10515600" cy="4644309"/>
          </a:xfrm>
        </p:spPr>
        <p:txBody>
          <a:bodyPr/>
          <a:lstStyle/>
          <a:p>
            <a:r>
              <a:rPr lang="en-US" altLang="en-US" i="1" dirty="0">
                <a:solidFill>
                  <a:schemeClr val="tx1"/>
                </a:solidFill>
              </a:rPr>
              <a:t>Direct relationship</a:t>
            </a:r>
            <a:r>
              <a:rPr lang="en-US" altLang="en-US" dirty="0">
                <a:solidFill>
                  <a:schemeClr val="tx1"/>
                </a:solidFill>
              </a:rPr>
              <a:t> between these factors and the influence the group wields</a:t>
            </a:r>
          </a:p>
          <a:p>
            <a:r>
              <a:rPr lang="en-US" altLang="en-US" dirty="0">
                <a:solidFill>
                  <a:schemeClr val="tx1"/>
                </a:solidFill>
              </a:rPr>
              <a:t>Consumers are more likely to be persuaded by those whom they consider </a:t>
            </a:r>
            <a:r>
              <a:rPr lang="en-US" altLang="en-US" i="1" dirty="0">
                <a:solidFill>
                  <a:schemeClr val="tx1"/>
                </a:solidFill>
              </a:rPr>
              <a:t>trustworthy and knowledgeable—</a:t>
            </a:r>
            <a:r>
              <a:rPr lang="en-US" altLang="en-US" dirty="0">
                <a:solidFill>
                  <a:schemeClr val="tx1"/>
                </a:solidFill>
              </a:rPr>
              <a:t>i.e., high credibility</a:t>
            </a:r>
          </a:p>
          <a:p>
            <a:r>
              <a:rPr lang="en-US" altLang="en-US" dirty="0">
                <a:solidFill>
                  <a:schemeClr val="tx1"/>
                </a:solidFill>
              </a:rPr>
              <a:t>Consumers who are concerned with the </a:t>
            </a:r>
            <a:r>
              <a:rPr lang="en-US" altLang="en-US" i="1" dirty="0">
                <a:solidFill>
                  <a:schemeClr val="tx1"/>
                </a:solidFill>
              </a:rPr>
              <a:t>power</a:t>
            </a:r>
            <a:r>
              <a:rPr lang="en-US" altLang="en-US" dirty="0">
                <a:solidFill>
                  <a:schemeClr val="tx1"/>
                </a:solidFill>
              </a:rPr>
              <a:t> that a group can exert over them might choose products or services that conform to the norms of that person or group</a:t>
            </a:r>
          </a:p>
          <a:p>
            <a:r>
              <a:rPr lang="en-US" altLang="en-US" dirty="0">
                <a:solidFill>
                  <a:schemeClr val="tx1"/>
                </a:solidFill>
              </a:rPr>
              <a:t>Consumers who are concerned with the </a:t>
            </a:r>
            <a:r>
              <a:rPr lang="en-US" altLang="en-US" i="1" dirty="0">
                <a:solidFill>
                  <a:schemeClr val="tx1"/>
                </a:solidFill>
              </a:rPr>
              <a:t>acceptance or approval of others</a:t>
            </a:r>
            <a:r>
              <a:rPr lang="en-US" altLang="en-US" dirty="0">
                <a:solidFill>
                  <a:schemeClr val="tx1"/>
                </a:solidFill>
              </a:rPr>
              <a:t> they like or identify with are likely to adopt their product, brand, or other behavioral characteristics</a:t>
            </a:r>
          </a:p>
        </p:txBody>
      </p:sp>
      <p:sp>
        <p:nvSpPr>
          <p:cNvPr id="111618" name="Rectangle 2">
            <a:extLst>
              <a:ext uri="{FF2B5EF4-FFF2-40B4-BE49-F238E27FC236}">
                <a16:creationId xmlns:a16="http://schemas.microsoft.com/office/drawing/2014/main" id="{FD3734A0-850A-128F-C8AD-DC18792F9A0B}"/>
              </a:ext>
            </a:extLst>
          </p:cNvPr>
          <p:cNvSpPr>
            <a:spLocks noGrp="1" noChangeArrowheads="1"/>
          </p:cNvSpPr>
          <p:nvPr>
            <p:ph type="title"/>
          </p:nvPr>
        </p:nvSpPr>
        <p:spPr/>
        <p:txBody>
          <a:bodyPr>
            <a:normAutofit fontScale="90000"/>
          </a:bodyPr>
          <a:lstStyle/>
          <a:p>
            <a:r>
              <a:rPr lang="en-US" altLang="en-US" sz="3800"/>
              <a:t>2. Credibility, power and attractiveness of the reference group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a:extLst>
              <a:ext uri="{FF2B5EF4-FFF2-40B4-BE49-F238E27FC236}">
                <a16:creationId xmlns:a16="http://schemas.microsoft.com/office/drawing/2014/main" id="{6883E371-9AB9-6E41-6E0B-1DA630D75742}"/>
              </a:ext>
            </a:extLst>
          </p:cNvPr>
          <p:cNvSpPr>
            <a:spLocks noGrp="1" noChangeArrowheads="1"/>
          </p:cNvSpPr>
          <p:nvPr>
            <p:ph type="body" idx="1"/>
          </p:nvPr>
        </p:nvSpPr>
        <p:spPr/>
        <p:txBody>
          <a:bodyPr/>
          <a:lstStyle/>
          <a:p>
            <a:r>
              <a:rPr lang="en-US" altLang="en-US" dirty="0">
                <a:solidFill>
                  <a:schemeClr val="tx1"/>
                </a:solidFill>
              </a:rPr>
              <a:t>A purchase that will </a:t>
            </a:r>
            <a:r>
              <a:rPr lang="en-US" altLang="en-US" i="1" dirty="0">
                <a:solidFill>
                  <a:schemeClr val="tx1"/>
                </a:solidFill>
              </a:rPr>
              <a:t>stand out</a:t>
            </a:r>
            <a:r>
              <a:rPr lang="en-US" altLang="en-US" dirty="0">
                <a:solidFill>
                  <a:schemeClr val="tx1"/>
                </a:solidFill>
              </a:rPr>
              <a:t> and be noticed is more likely to be made with the reaction of a reference group in mind</a:t>
            </a:r>
          </a:p>
          <a:p>
            <a:r>
              <a:rPr lang="en-US" altLang="en-US" dirty="0">
                <a:solidFill>
                  <a:schemeClr val="tx1"/>
                </a:solidFill>
              </a:rPr>
              <a:t>Particularly true for </a:t>
            </a:r>
            <a:r>
              <a:rPr lang="en-US" altLang="en-US" i="1" dirty="0">
                <a:solidFill>
                  <a:schemeClr val="tx1"/>
                </a:solidFill>
              </a:rPr>
              <a:t>luxury and status-revealing</a:t>
            </a:r>
            <a:r>
              <a:rPr lang="en-US" altLang="en-US" dirty="0">
                <a:solidFill>
                  <a:schemeClr val="tx1"/>
                </a:solidFill>
              </a:rPr>
              <a:t> purchases</a:t>
            </a:r>
          </a:p>
        </p:txBody>
      </p:sp>
      <p:sp>
        <p:nvSpPr>
          <p:cNvPr id="113666" name="Rectangle 2">
            <a:extLst>
              <a:ext uri="{FF2B5EF4-FFF2-40B4-BE49-F238E27FC236}">
                <a16:creationId xmlns:a16="http://schemas.microsoft.com/office/drawing/2014/main" id="{83C01920-FC9C-FF6F-2C22-FDC1E4D726DB}"/>
              </a:ext>
            </a:extLst>
          </p:cNvPr>
          <p:cNvSpPr>
            <a:spLocks noGrp="1" noChangeArrowheads="1"/>
          </p:cNvSpPr>
          <p:nvPr>
            <p:ph type="title"/>
          </p:nvPr>
        </p:nvSpPr>
        <p:spPr/>
        <p:txBody>
          <a:bodyPr/>
          <a:lstStyle/>
          <a:p>
            <a:r>
              <a:rPr lang="en-US" altLang="en-US"/>
              <a:t>3. Conspicuousness of the product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a:extLst>
              <a:ext uri="{FF2B5EF4-FFF2-40B4-BE49-F238E27FC236}">
                <a16:creationId xmlns:a16="http://schemas.microsoft.com/office/drawing/2014/main" id="{FFAA5490-6639-9225-345E-6EE819462E41}"/>
              </a:ext>
            </a:extLst>
          </p:cNvPr>
          <p:cNvSpPr>
            <a:spLocks noGrp="1" noChangeArrowheads="1"/>
          </p:cNvSpPr>
          <p:nvPr>
            <p:ph type="body" idx="1"/>
          </p:nvPr>
        </p:nvSpPr>
        <p:spPr/>
        <p:txBody>
          <a:bodyPr/>
          <a:lstStyle/>
          <a:p>
            <a:r>
              <a:rPr lang="en-US" altLang="en-US" sz="2600" dirty="0">
                <a:solidFill>
                  <a:schemeClr val="tx1"/>
                </a:solidFill>
              </a:rPr>
              <a:t>Marketers who employ reference group influence must understand that consumers have </a:t>
            </a:r>
            <a:r>
              <a:rPr lang="en-US" altLang="en-US" sz="2600" i="1" dirty="0">
                <a:solidFill>
                  <a:schemeClr val="tx1"/>
                </a:solidFill>
              </a:rPr>
              <a:t>multiple </a:t>
            </a:r>
            <a:r>
              <a:rPr lang="en-US" altLang="en-US" sz="2600" dirty="0">
                <a:solidFill>
                  <a:schemeClr val="tx1"/>
                </a:solidFill>
              </a:rPr>
              <a:t>reference groups</a:t>
            </a:r>
          </a:p>
          <a:p>
            <a:r>
              <a:rPr lang="en-US" altLang="en-US" sz="2600" dirty="0">
                <a:solidFill>
                  <a:schemeClr val="tx1"/>
                </a:solidFill>
              </a:rPr>
              <a:t>Different groups may influence consumer purchases in different areas</a:t>
            </a:r>
          </a:p>
          <a:p>
            <a:r>
              <a:rPr lang="en-US" altLang="en-US" sz="2600" dirty="0">
                <a:solidFill>
                  <a:schemeClr val="tx1"/>
                </a:solidFill>
              </a:rPr>
              <a:t>Marketers must first identify the </a:t>
            </a:r>
            <a:r>
              <a:rPr lang="en-US" altLang="en-US" sz="2600" i="1" dirty="0">
                <a:solidFill>
                  <a:schemeClr val="tx1"/>
                </a:solidFill>
              </a:rPr>
              <a:t>types of groups</a:t>
            </a:r>
            <a:r>
              <a:rPr lang="en-US" altLang="en-US" sz="2600" dirty="0">
                <a:solidFill>
                  <a:schemeClr val="tx1"/>
                </a:solidFill>
              </a:rPr>
              <a:t> that consumers are likely to refer to when making a purchase</a:t>
            </a:r>
          </a:p>
          <a:p>
            <a:r>
              <a:rPr lang="en-US" altLang="en-US" sz="2600" dirty="0">
                <a:solidFill>
                  <a:schemeClr val="tx1"/>
                </a:solidFill>
              </a:rPr>
              <a:t>Then they are in a position to select appropriate influencers to deliver the marketing message</a:t>
            </a:r>
          </a:p>
        </p:txBody>
      </p:sp>
      <p:sp>
        <p:nvSpPr>
          <p:cNvPr id="121858" name="Rectangle 2">
            <a:extLst>
              <a:ext uri="{FF2B5EF4-FFF2-40B4-BE49-F238E27FC236}">
                <a16:creationId xmlns:a16="http://schemas.microsoft.com/office/drawing/2014/main" id="{A5C20225-037B-D629-3429-04065F918969}"/>
              </a:ext>
            </a:extLst>
          </p:cNvPr>
          <p:cNvSpPr>
            <a:spLocks noGrp="1" noChangeArrowheads="1"/>
          </p:cNvSpPr>
          <p:nvPr>
            <p:ph type="title"/>
          </p:nvPr>
        </p:nvSpPr>
        <p:spPr/>
        <p:txBody>
          <a:bodyPr/>
          <a:lstStyle/>
          <a:p>
            <a:r>
              <a:rPr lang="en-US" altLang="en-US"/>
              <a:t>Implications for marketing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a:extLst>
              <a:ext uri="{FF2B5EF4-FFF2-40B4-BE49-F238E27FC236}">
                <a16:creationId xmlns:a16="http://schemas.microsoft.com/office/drawing/2014/main" id="{37795B8E-87E7-92F0-A9CD-0350047B481D}"/>
              </a:ext>
            </a:extLst>
          </p:cNvPr>
          <p:cNvSpPr>
            <a:spLocks noGrp="1" noChangeArrowheads="1"/>
          </p:cNvSpPr>
          <p:nvPr>
            <p:ph type="body" idx="1"/>
          </p:nvPr>
        </p:nvSpPr>
        <p:spPr/>
        <p:txBody>
          <a:bodyPr/>
          <a:lstStyle/>
          <a:p>
            <a:pPr marL="571500" indent="-571500"/>
            <a:r>
              <a:rPr lang="en-US" altLang="en-US" dirty="0">
                <a:solidFill>
                  <a:schemeClr val="tx1"/>
                </a:solidFill>
              </a:rPr>
              <a:t>There is a large and diverse range of groups that have the potential to influence consumer behavior; we will look at four:</a:t>
            </a:r>
          </a:p>
          <a:p>
            <a:pPr marL="571500" indent="-571500">
              <a:buFont typeface="Wingdings" panose="05000000000000000000" pitchFamily="2" charset="2"/>
              <a:buAutoNum type="arabicPeriod"/>
            </a:pPr>
            <a:r>
              <a:rPr lang="en-US" altLang="en-US" dirty="0">
                <a:solidFill>
                  <a:schemeClr val="tx1"/>
                </a:solidFill>
              </a:rPr>
              <a:t>Friendship groups</a:t>
            </a:r>
          </a:p>
          <a:p>
            <a:pPr marL="571500" indent="-571500">
              <a:buFont typeface="Wingdings" panose="05000000000000000000" pitchFamily="2" charset="2"/>
              <a:buAutoNum type="arabicPeriod"/>
            </a:pPr>
            <a:r>
              <a:rPr lang="en-US" altLang="en-US" dirty="0">
                <a:solidFill>
                  <a:schemeClr val="tx1"/>
                </a:solidFill>
              </a:rPr>
              <a:t>Shopping groups</a:t>
            </a:r>
          </a:p>
          <a:p>
            <a:pPr marL="571500" indent="-571500">
              <a:buFont typeface="Wingdings" panose="05000000000000000000" pitchFamily="2" charset="2"/>
              <a:buAutoNum type="arabicPeriod"/>
            </a:pPr>
            <a:r>
              <a:rPr lang="en-US" altLang="en-US" dirty="0">
                <a:solidFill>
                  <a:schemeClr val="tx1"/>
                </a:solidFill>
              </a:rPr>
              <a:t>Work groups</a:t>
            </a:r>
          </a:p>
          <a:p>
            <a:pPr marL="571500" indent="-571500">
              <a:buFont typeface="Wingdings" panose="05000000000000000000" pitchFamily="2" charset="2"/>
              <a:buAutoNum type="arabicPeriod"/>
            </a:pPr>
            <a:r>
              <a:rPr lang="en-US" altLang="en-US" dirty="0">
                <a:solidFill>
                  <a:schemeClr val="tx1"/>
                </a:solidFill>
              </a:rPr>
              <a:t>Consumer action groups</a:t>
            </a:r>
          </a:p>
        </p:txBody>
      </p:sp>
      <p:sp>
        <p:nvSpPr>
          <p:cNvPr id="123906" name="Rectangle 2">
            <a:extLst>
              <a:ext uri="{FF2B5EF4-FFF2-40B4-BE49-F238E27FC236}">
                <a16:creationId xmlns:a16="http://schemas.microsoft.com/office/drawing/2014/main" id="{DF66071A-87D6-889E-85C5-8E2F51F919E6}"/>
              </a:ext>
            </a:extLst>
          </p:cNvPr>
          <p:cNvSpPr>
            <a:spLocks noGrp="1" noChangeArrowheads="1"/>
          </p:cNvSpPr>
          <p:nvPr>
            <p:ph type="title"/>
          </p:nvPr>
        </p:nvSpPr>
        <p:spPr/>
        <p:txBody>
          <a:bodyPr>
            <a:normAutofit fontScale="90000"/>
          </a:bodyPr>
          <a:lstStyle/>
          <a:p>
            <a:r>
              <a:rPr lang="en-US" altLang="en-US" sz="3800"/>
              <a:t>Selected consumer-related reference groups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a:extLst>
              <a:ext uri="{FF2B5EF4-FFF2-40B4-BE49-F238E27FC236}">
                <a16:creationId xmlns:a16="http://schemas.microsoft.com/office/drawing/2014/main" id="{D6865778-EC29-2435-2349-02D02C2AEBAD}"/>
              </a:ext>
            </a:extLst>
          </p:cNvPr>
          <p:cNvSpPr>
            <a:spLocks noGrp="1" noChangeArrowheads="1"/>
          </p:cNvSpPr>
          <p:nvPr>
            <p:ph type="body" idx="1"/>
          </p:nvPr>
        </p:nvSpPr>
        <p:spPr>
          <a:xfrm>
            <a:off x="640121" y="1525363"/>
            <a:ext cx="10515600" cy="4402056"/>
          </a:xfrm>
        </p:spPr>
        <p:txBody>
          <a:bodyPr/>
          <a:lstStyle/>
          <a:p>
            <a:pPr>
              <a:lnSpc>
                <a:spcPct val="90000"/>
              </a:lnSpc>
            </a:pPr>
            <a:r>
              <a:rPr lang="en-US" altLang="en-US" sz="2600" dirty="0">
                <a:solidFill>
                  <a:schemeClr val="tx1"/>
                </a:solidFill>
              </a:rPr>
              <a:t>Generally considered </a:t>
            </a:r>
            <a:r>
              <a:rPr lang="en-US" altLang="en-US" sz="2600" i="1" dirty="0">
                <a:solidFill>
                  <a:schemeClr val="tx1"/>
                </a:solidFill>
              </a:rPr>
              <a:t>informal</a:t>
            </a:r>
            <a:r>
              <a:rPr lang="en-US" altLang="en-US" sz="2600" dirty="0">
                <a:solidFill>
                  <a:schemeClr val="tx1"/>
                </a:solidFill>
              </a:rPr>
              <a:t> groups</a:t>
            </a:r>
          </a:p>
          <a:p>
            <a:pPr>
              <a:lnSpc>
                <a:spcPct val="90000"/>
              </a:lnSpc>
            </a:pPr>
            <a:r>
              <a:rPr lang="en-US" altLang="en-US" sz="2600" dirty="0">
                <a:solidFill>
                  <a:schemeClr val="tx1"/>
                </a:solidFill>
              </a:rPr>
              <a:t>Next to family, considered the </a:t>
            </a:r>
            <a:r>
              <a:rPr lang="en-US" altLang="en-US" sz="2600" i="1" dirty="0">
                <a:solidFill>
                  <a:schemeClr val="tx1"/>
                </a:solidFill>
              </a:rPr>
              <a:t>most likely</a:t>
            </a:r>
            <a:r>
              <a:rPr lang="en-US" altLang="en-US" sz="2600" dirty="0">
                <a:solidFill>
                  <a:schemeClr val="tx1"/>
                </a:solidFill>
              </a:rPr>
              <a:t> to influence individual’s purchase decision</a:t>
            </a:r>
          </a:p>
          <a:p>
            <a:pPr>
              <a:lnSpc>
                <a:spcPct val="90000"/>
              </a:lnSpc>
            </a:pPr>
            <a:r>
              <a:rPr lang="en-US" altLang="en-US" sz="2600" dirty="0">
                <a:solidFill>
                  <a:schemeClr val="tx1"/>
                </a:solidFill>
              </a:rPr>
              <a:t>Seeking and maintaining friendships is a </a:t>
            </a:r>
            <a:r>
              <a:rPr lang="en-US" altLang="en-US" sz="2600" i="1" dirty="0">
                <a:solidFill>
                  <a:schemeClr val="tx1"/>
                </a:solidFill>
              </a:rPr>
              <a:t>basic drive</a:t>
            </a:r>
            <a:r>
              <a:rPr lang="en-US" altLang="en-US" sz="2600" dirty="0">
                <a:solidFill>
                  <a:schemeClr val="tx1"/>
                </a:solidFill>
              </a:rPr>
              <a:t> of most people</a:t>
            </a:r>
          </a:p>
          <a:p>
            <a:pPr>
              <a:lnSpc>
                <a:spcPct val="90000"/>
              </a:lnSpc>
            </a:pPr>
            <a:r>
              <a:rPr lang="en-US" altLang="en-US" sz="2600" dirty="0">
                <a:solidFill>
                  <a:schemeClr val="tx1"/>
                </a:solidFill>
              </a:rPr>
              <a:t>Opinions and preferences of friends are an important influence in determining the products and brands a consumer selects</a:t>
            </a:r>
          </a:p>
          <a:p>
            <a:pPr>
              <a:lnSpc>
                <a:spcPct val="90000"/>
              </a:lnSpc>
            </a:pPr>
            <a:r>
              <a:rPr lang="en-US" altLang="en-US" sz="2600" dirty="0">
                <a:solidFill>
                  <a:schemeClr val="tx1"/>
                </a:solidFill>
              </a:rPr>
              <a:t>Marketers recognize this and often depict friendship situations in their ads, especially for products such as clothing, snack foods and alcoholic beverages</a:t>
            </a:r>
          </a:p>
          <a:p>
            <a:pPr>
              <a:lnSpc>
                <a:spcPct val="90000"/>
              </a:lnSpc>
            </a:pPr>
            <a:endParaRPr lang="en-US" altLang="en-US" sz="2600" dirty="0"/>
          </a:p>
        </p:txBody>
      </p:sp>
      <p:sp>
        <p:nvSpPr>
          <p:cNvPr id="125954" name="Rectangle 2">
            <a:extLst>
              <a:ext uri="{FF2B5EF4-FFF2-40B4-BE49-F238E27FC236}">
                <a16:creationId xmlns:a16="http://schemas.microsoft.com/office/drawing/2014/main" id="{A79FEDC9-AEC2-558F-62C6-AA1C77CB8F57}"/>
              </a:ext>
            </a:extLst>
          </p:cNvPr>
          <p:cNvSpPr>
            <a:spLocks noGrp="1" noChangeArrowheads="1"/>
          </p:cNvSpPr>
          <p:nvPr>
            <p:ph type="title"/>
          </p:nvPr>
        </p:nvSpPr>
        <p:spPr/>
        <p:txBody>
          <a:bodyPr/>
          <a:lstStyle/>
          <a:p>
            <a:r>
              <a:rPr lang="en-US" altLang="en-US"/>
              <a:t>1. Friendship groups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a:extLst>
              <a:ext uri="{FF2B5EF4-FFF2-40B4-BE49-F238E27FC236}">
                <a16:creationId xmlns:a16="http://schemas.microsoft.com/office/drawing/2014/main" id="{0CD95C0B-A95E-F46B-3933-0945F8A42591}"/>
              </a:ext>
            </a:extLst>
          </p:cNvPr>
          <p:cNvSpPr>
            <a:spLocks noGrp="1" noChangeArrowheads="1"/>
          </p:cNvSpPr>
          <p:nvPr>
            <p:ph type="body" idx="1"/>
          </p:nvPr>
        </p:nvSpPr>
        <p:spPr/>
        <p:txBody>
          <a:bodyPr/>
          <a:lstStyle/>
          <a:p>
            <a:pPr marL="571500" indent="-571500"/>
            <a:r>
              <a:rPr lang="en-US" altLang="en-US" dirty="0">
                <a:solidFill>
                  <a:schemeClr val="tx1"/>
                </a:solidFill>
              </a:rPr>
              <a:t>Two or more people who shop together</a:t>
            </a:r>
          </a:p>
          <a:p>
            <a:pPr marL="571500" indent="-571500"/>
            <a:r>
              <a:rPr lang="en-US" altLang="en-US" dirty="0">
                <a:solidFill>
                  <a:schemeClr val="tx1"/>
                </a:solidFill>
              </a:rPr>
              <a:t>A range of reasons</a:t>
            </a:r>
          </a:p>
          <a:p>
            <a:pPr marL="839788" lvl="1" indent="-495300">
              <a:buFont typeface="Wingdings" panose="05000000000000000000" pitchFamily="2" charset="2"/>
              <a:buAutoNum type="arabicPeriod"/>
            </a:pPr>
            <a:r>
              <a:rPr lang="en-US" altLang="en-US" dirty="0">
                <a:solidFill>
                  <a:schemeClr val="tx1"/>
                </a:solidFill>
              </a:rPr>
              <a:t>Social--to share time together</a:t>
            </a:r>
          </a:p>
          <a:p>
            <a:pPr marL="839788" lvl="1" indent="-495300">
              <a:buFont typeface="Wingdings" panose="05000000000000000000" pitchFamily="2" charset="2"/>
              <a:buAutoNum type="arabicPeriod"/>
            </a:pPr>
            <a:r>
              <a:rPr lang="en-US" altLang="en-US" dirty="0">
                <a:solidFill>
                  <a:schemeClr val="tx1"/>
                </a:solidFill>
              </a:rPr>
              <a:t>Risk reduction--to have a second opinion</a:t>
            </a:r>
          </a:p>
          <a:p>
            <a:pPr marL="839788" lvl="1" indent="-495300">
              <a:buFont typeface="Wingdings" panose="05000000000000000000" pitchFamily="2" charset="2"/>
              <a:buAutoNum type="arabicPeriod"/>
            </a:pPr>
            <a:r>
              <a:rPr lang="en-US" altLang="en-US" dirty="0">
                <a:solidFill>
                  <a:schemeClr val="tx1"/>
                </a:solidFill>
              </a:rPr>
              <a:t>Informational--others in the group may know more about certain products</a:t>
            </a:r>
          </a:p>
        </p:txBody>
      </p:sp>
      <p:sp>
        <p:nvSpPr>
          <p:cNvPr id="128002" name="Rectangle 2">
            <a:extLst>
              <a:ext uri="{FF2B5EF4-FFF2-40B4-BE49-F238E27FC236}">
                <a16:creationId xmlns:a16="http://schemas.microsoft.com/office/drawing/2014/main" id="{3C001B7D-23D2-F899-F284-94EE262FCDEA}"/>
              </a:ext>
            </a:extLst>
          </p:cNvPr>
          <p:cNvSpPr>
            <a:spLocks noGrp="1" noChangeArrowheads="1"/>
          </p:cNvSpPr>
          <p:nvPr>
            <p:ph type="title"/>
          </p:nvPr>
        </p:nvSpPr>
        <p:spPr/>
        <p:txBody>
          <a:bodyPr/>
          <a:lstStyle/>
          <a:p>
            <a:r>
              <a:rPr lang="en-US" altLang="en-US"/>
              <a:t>2. Shopping groups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3">
            <a:extLst>
              <a:ext uri="{FF2B5EF4-FFF2-40B4-BE49-F238E27FC236}">
                <a16:creationId xmlns:a16="http://schemas.microsoft.com/office/drawing/2014/main" id="{E87769A9-B252-D948-1400-6B169B43081A}"/>
              </a:ext>
            </a:extLst>
          </p:cNvPr>
          <p:cNvSpPr>
            <a:spLocks noGrp="1" noChangeArrowheads="1"/>
          </p:cNvSpPr>
          <p:nvPr>
            <p:ph type="body" idx="1"/>
          </p:nvPr>
        </p:nvSpPr>
        <p:spPr/>
        <p:txBody>
          <a:bodyPr/>
          <a:lstStyle/>
          <a:p>
            <a:r>
              <a:rPr lang="en-US" altLang="en-US" dirty="0">
                <a:solidFill>
                  <a:schemeClr val="tx1"/>
                </a:solidFill>
              </a:rPr>
              <a:t>The workplace actually creates </a:t>
            </a:r>
            <a:r>
              <a:rPr lang="en-US" altLang="en-US" i="1" dirty="0">
                <a:solidFill>
                  <a:schemeClr val="tx1"/>
                </a:solidFill>
              </a:rPr>
              <a:t>two different types</a:t>
            </a:r>
            <a:r>
              <a:rPr lang="en-US" altLang="en-US" dirty="0">
                <a:solidFill>
                  <a:schemeClr val="tx1"/>
                </a:solidFill>
              </a:rPr>
              <a:t> of group: formal and informal</a:t>
            </a:r>
          </a:p>
          <a:p>
            <a:r>
              <a:rPr lang="en-US" altLang="en-US" b="1" dirty="0">
                <a:solidFill>
                  <a:schemeClr val="tx1"/>
                </a:solidFill>
              </a:rPr>
              <a:t>Formal work groups</a:t>
            </a:r>
            <a:r>
              <a:rPr lang="en-US" altLang="en-US" dirty="0">
                <a:solidFill>
                  <a:schemeClr val="tx1"/>
                </a:solidFill>
              </a:rPr>
              <a:t> involve individuals who work together as a </a:t>
            </a:r>
            <a:r>
              <a:rPr lang="en-US" altLang="en-US" i="1" dirty="0">
                <a:solidFill>
                  <a:schemeClr val="tx1"/>
                </a:solidFill>
              </a:rPr>
              <a:t>team</a:t>
            </a:r>
            <a:r>
              <a:rPr lang="en-US" altLang="en-US" dirty="0">
                <a:solidFill>
                  <a:schemeClr val="tx1"/>
                </a:solidFill>
              </a:rPr>
              <a:t> and thus there is an opportunity for influencing each other’s consumption-related activities</a:t>
            </a:r>
          </a:p>
          <a:p>
            <a:r>
              <a:rPr lang="en-US" altLang="en-US" b="1" dirty="0">
                <a:solidFill>
                  <a:schemeClr val="tx1"/>
                </a:solidFill>
              </a:rPr>
              <a:t>Informal work groups</a:t>
            </a:r>
            <a:r>
              <a:rPr lang="en-US" altLang="en-US" dirty="0">
                <a:solidFill>
                  <a:schemeClr val="tx1"/>
                </a:solidFill>
              </a:rPr>
              <a:t> are people who have become friends </a:t>
            </a:r>
            <a:r>
              <a:rPr lang="en-US" altLang="en-US" i="1" dirty="0">
                <a:solidFill>
                  <a:schemeClr val="tx1"/>
                </a:solidFill>
              </a:rPr>
              <a:t>through their work</a:t>
            </a:r>
            <a:r>
              <a:rPr lang="en-US" altLang="en-US" dirty="0">
                <a:solidFill>
                  <a:schemeClr val="tx1"/>
                </a:solidFill>
              </a:rPr>
              <a:t>, though they may not work as a team</a:t>
            </a:r>
          </a:p>
        </p:txBody>
      </p:sp>
      <p:sp>
        <p:nvSpPr>
          <p:cNvPr id="130050" name="Rectangle 2">
            <a:extLst>
              <a:ext uri="{FF2B5EF4-FFF2-40B4-BE49-F238E27FC236}">
                <a16:creationId xmlns:a16="http://schemas.microsoft.com/office/drawing/2014/main" id="{0A89C2FC-3307-127F-1E56-92E42324CA3A}"/>
              </a:ext>
            </a:extLst>
          </p:cNvPr>
          <p:cNvSpPr>
            <a:spLocks noGrp="1" noChangeArrowheads="1"/>
          </p:cNvSpPr>
          <p:nvPr>
            <p:ph type="title"/>
          </p:nvPr>
        </p:nvSpPr>
        <p:spPr/>
        <p:txBody>
          <a:bodyPr/>
          <a:lstStyle/>
          <a:p>
            <a:r>
              <a:rPr lang="en-US" altLang="en-US"/>
              <a:t>3. Work groups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3">
            <a:extLst>
              <a:ext uri="{FF2B5EF4-FFF2-40B4-BE49-F238E27FC236}">
                <a16:creationId xmlns:a16="http://schemas.microsoft.com/office/drawing/2014/main" id="{D079841B-CE6B-0EEB-0ADB-278FB26D7508}"/>
              </a:ext>
            </a:extLst>
          </p:cNvPr>
          <p:cNvSpPr>
            <a:spLocks noGrp="1" noChangeArrowheads="1"/>
          </p:cNvSpPr>
          <p:nvPr>
            <p:ph type="body" idx="1"/>
          </p:nvPr>
        </p:nvSpPr>
        <p:spPr/>
        <p:txBody>
          <a:bodyPr/>
          <a:lstStyle/>
          <a:p>
            <a:r>
              <a:rPr lang="en-US" altLang="en-US" dirty="0">
                <a:solidFill>
                  <a:schemeClr val="tx1"/>
                </a:solidFill>
              </a:rPr>
              <a:t>Today there are many groups whose purpose is to provide information and assistance to consumers</a:t>
            </a:r>
          </a:p>
          <a:p>
            <a:r>
              <a:rPr lang="en-US" altLang="en-US" dirty="0">
                <a:solidFill>
                  <a:schemeClr val="tx1"/>
                </a:solidFill>
              </a:rPr>
              <a:t>Several different types</a:t>
            </a:r>
          </a:p>
          <a:p>
            <a:pPr lvl="1"/>
            <a:r>
              <a:rPr lang="en-US" altLang="en-US" dirty="0">
                <a:solidFill>
                  <a:schemeClr val="tx1"/>
                </a:solidFill>
              </a:rPr>
              <a:t>Public vs. private</a:t>
            </a:r>
          </a:p>
          <a:p>
            <a:pPr lvl="1"/>
            <a:r>
              <a:rPr lang="en-US" altLang="en-US" dirty="0">
                <a:solidFill>
                  <a:schemeClr val="tx1"/>
                </a:solidFill>
              </a:rPr>
              <a:t>Single-issue vs. broad-based</a:t>
            </a:r>
          </a:p>
          <a:p>
            <a:pPr lvl="1"/>
            <a:r>
              <a:rPr lang="en-US" altLang="en-US" dirty="0">
                <a:solidFill>
                  <a:schemeClr val="tx1"/>
                </a:solidFill>
              </a:rPr>
              <a:t>Temporary vs. permanent</a:t>
            </a:r>
          </a:p>
          <a:p>
            <a:pPr lvl="1"/>
            <a:endParaRPr lang="en-US" altLang="en-US" dirty="0"/>
          </a:p>
        </p:txBody>
      </p:sp>
      <p:sp>
        <p:nvSpPr>
          <p:cNvPr id="132098" name="Rectangle 2">
            <a:extLst>
              <a:ext uri="{FF2B5EF4-FFF2-40B4-BE49-F238E27FC236}">
                <a16:creationId xmlns:a16="http://schemas.microsoft.com/office/drawing/2014/main" id="{94C2E7C7-1DB5-B58A-A3DF-711BFEDFB6AF}"/>
              </a:ext>
            </a:extLst>
          </p:cNvPr>
          <p:cNvSpPr>
            <a:spLocks noGrp="1" noChangeArrowheads="1"/>
          </p:cNvSpPr>
          <p:nvPr>
            <p:ph type="title"/>
          </p:nvPr>
        </p:nvSpPr>
        <p:spPr/>
        <p:txBody>
          <a:bodyPr/>
          <a:lstStyle/>
          <a:p>
            <a:r>
              <a:rPr lang="en-US" altLang="en-US"/>
              <a:t>4. Consumer action groups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a:extLst>
              <a:ext uri="{FF2B5EF4-FFF2-40B4-BE49-F238E27FC236}">
                <a16:creationId xmlns:a16="http://schemas.microsoft.com/office/drawing/2014/main" id="{FE8D919A-44C6-AFAD-575E-3728772F8005}"/>
              </a:ext>
            </a:extLst>
          </p:cNvPr>
          <p:cNvSpPr>
            <a:spLocks noGrp="1" noChangeArrowheads="1"/>
          </p:cNvSpPr>
          <p:nvPr>
            <p:ph type="body" idx="1"/>
          </p:nvPr>
        </p:nvSpPr>
        <p:spPr/>
        <p:txBody>
          <a:bodyPr/>
          <a:lstStyle/>
          <a:p>
            <a:pPr marL="571500" indent="-571500"/>
            <a:r>
              <a:rPr lang="en-US" altLang="en-US" dirty="0">
                <a:solidFill>
                  <a:schemeClr val="tx1"/>
                </a:solidFill>
              </a:rPr>
              <a:t>Four very common and effective reference group appeals used by advertisers include</a:t>
            </a:r>
          </a:p>
          <a:p>
            <a:pPr marL="571500" indent="-571500">
              <a:buFont typeface="Wingdings" panose="05000000000000000000" pitchFamily="2" charset="2"/>
              <a:buAutoNum type="arabicPeriod"/>
            </a:pPr>
            <a:r>
              <a:rPr lang="en-US" altLang="en-US" dirty="0">
                <a:solidFill>
                  <a:schemeClr val="tx1"/>
                </a:solidFill>
              </a:rPr>
              <a:t>Celebrity appeals</a:t>
            </a:r>
          </a:p>
          <a:p>
            <a:pPr marL="571500" indent="-571500">
              <a:buFont typeface="Wingdings" panose="05000000000000000000" pitchFamily="2" charset="2"/>
              <a:buAutoNum type="arabicPeriod"/>
            </a:pPr>
            <a:r>
              <a:rPr lang="en-US" altLang="en-US" dirty="0">
                <a:solidFill>
                  <a:schemeClr val="tx1"/>
                </a:solidFill>
              </a:rPr>
              <a:t>Expert appeals</a:t>
            </a:r>
          </a:p>
          <a:p>
            <a:pPr marL="571500" indent="-571500">
              <a:buFont typeface="Wingdings" panose="05000000000000000000" pitchFamily="2" charset="2"/>
              <a:buAutoNum type="arabicPeriod"/>
            </a:pPr>
            <a:r>
              <a:rPr lang="en-US" altLang="en-US" dirty="0">
                <a:solidFill>
                  <a:schemeClr val="tx1"/>
                </a:solidFill>
              </a:rPr>
              <a:t>Common-man appeals</a:t>
            </a:r>
          </a:p>
          <a:p>
            <a:pPr marL="571500" indent="-571500">
              <a:buFont typeface="Wingdings" panose="05000000000000000000" pitchFamily="2" charset="2"/>
              <a:buAutoNum type="arabicPeriod"/>
            </a:pPr>
            <a:r>
              <a:rPr lang="en-US" altLang="en-US" dirty="0">
                <a:solidFill>
                  <a:schemeClr val="tx1"/>
                </a:solidFill>
              </a:rPr>
              <a:t>Executive appeals</a:t>
            </a:r>
          </a:p>
        </p:txBody>
      </p:sp>
      <p:sp>
        <p:nvSpPr>
          <p:cNvPr id="134146" name="Rectangle 2">
            <a:extLst>
              <a:ext uri="{FF2B5EF4-FFF2-40B4-BE49-F238E27FC236}">
                <a16:creationId xmlns:a16="http://schemas.microsoft.com/office/drawing/2014/main" id="{4A9B527A-7664-3326-C43B-340B59441EFD}"/>
              </a:ext>
            </a:extLst>
          </p:cNvPr>
          <p:cNvSpPr>
            <a:spLocks noGrp="1" noChangeArrowheads="1"/>
          </p:cNvSpPr>
          <p:nvPr>
            <p:ph type="title"/>
          </p:nvPr>
        </p:nvSpPr>
        <p:spPr/>
        <p:txBody>
          <a:bodyPr/>
          <a:lstStyle/>
          <a:p>
            <a:r>
              <a:rPr lang="en-US" altLang="en-US" sz="3800"/>
              <a:t>Reference group appeals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a:extLst>
              <a:ext uri="{FF2B5EF4-FFF2-40B4-BE49-F238E27FC236}">
                <a16:creationId xmlns:a16="http://schemas.microsoft.com/office/drawing/2014/main" id="{663732A7-322A-1A6A-7826-02CA93487459}"/>
              </a:ext>
            </a:extLst>
          </p:cNvPr>
          <p:cNvSpPr>
            <a:spLocks noGrp="1" noChangeArrowheads="1"/>
          </p:cNvSpPr>
          <p:nvPr>
            <p:ph type="body" idx="1"/>
          </p:nvPr>
        </p:nvSpPr>
        <p:spPr/>
        <p:txBody>
          <a:bodyPr>
            <a:normAutofit lnSpcReduction="10000"/>
          </a:bodyPr>
          <a:lstStyle/>
          <a:p>
            <a:pPr marL="571500" indent="-571500"/>
            <a:r>
              <a:rPr lang="en-US" altLang="en-US" sz="2600" dirty="0">
                <a:solidFill>
                  <a:schemeClr val="tx1"/>
                </a:solidFill>
              </a:rPr>
              <a:t>Celebrities represent an </a:t>
            </a:r>
            <a:r>
              <a:rPr lang="en-US" altLang="en-US" sz="2600" i="1" dirty="0">
                <a:solidFill>
                  <a:schemeClr val="tx1"/>
                </a:solidFill>
              </a:rPr>
              <a:t>idealization of life</a:t>
            </a:r>
            <a:r>
              <a:rPr lang="en-US" altLang="en-US" sz="2600" dirty="0">
                <a:solidFill>
                  <a:schemeClr val="tx1"/>
                </a:solidFill>
              </a:rPr>
              <a:t> that most people imagine they would love to live</a:t>
            </a:r>
          </a:p>
          <a:p>
            <a:pPr marL="571500" indent="-571500"/>
            <a:r>
              <a:rPr lang="en-US" altLang="en-US" sz="2600" dirty="0">
                <a:solidFill>
                  <a:schemeClr val="tx1"/>
                </a:solidFill>
              </a:rPr>
              <a:t>Four ways in which celebrities are used to promote products</a:t>
            </a:r>
          </a:p>
          <a:p>
            <a:pPr marL="571500" indent="-571500">
              <a:buFont typeface="Wingdings" panose="05000000000000000000" pitchFamily="2" charset="2"/>
              <a:buAutoNum type="arabicPeriod"/>
            </a:pPr>
            <a:r>
              <a:rPr lang="en-US" altLang="en-US" sz="2600" b="1" dirty="0">
                <a:solidFill>
                  <a:schemeClr val="tx1"/>
                </a:solidFill>
              </a:rPr>
              <a:t>Testimonial</a:t>
            </a:r>
            <a:r>
              <a:rPr lang="en-US" altLang="en-US" sz="2600" dirty="0">
                <a:solidFill>
                  <a:schemeClr val="tx1"/>
                </a:solidFill>
              </a:rPr>
              <a:t>: based on </a:t>
            </a:r>
            <a:r>
              <a:rPr lang="en-US" altLang="en-US" sz="2600" i="1" dirty="0">
                <a:solidFill>
                  <a:schemeClr val="tx1"/>
                </a:solidFill>
              </a:rPr>
              <a:t>personal usage</a:t>
            </a:r>
            <a:r>
              <a:rPr lang="en-US" altLang="en-US" sz="2600" dirty="0">
                <a:solidFill>
                  <a:schemeClr val="tx1"/>
                </a:solidFill>
              </a:rPr>
              <a:t>, a celebrity attests to the quality of the product</a:t>
            </a:r>
          </a:p>
          <a:p>
            <a:pPr marL="571500" indent="-571500">
              <a:buFont typeface="Wingdings" panose="05000000000000000000" pitchFamily="2" charset="2"/>
              <a:buAutoNum type="arabicPeriod"/>
            </a:pPr>
            <a:r>
              <a:rPr lang="en-US" altLang="en-US" sz="2600" b="1" dirty="0">
                <a:solidFill>
                  <a:schemeClr val="tx1"/>
                </a:solidFill>
              </a:rPr>
              <a:t>Endorsement</a:t>
            </a:r>
            <a:r>
              <a:rPr lang="en-US" altLang="en-US" sz="2600" dirty="0">
                <a:solidFill>
                  <a:schemeClr val="tx1"/>
                </a:solidFill>
              </a:rPr>
              <a:t>: celebrity lends name and appears on behalf of a product (may not be an expert)</a:t>
            </a:r>
          </a:p>
          <a:p>
            <a:pPr marL="571500" indent="-571500">
              <a:buFont typeface="Wingdings" panose="05000000000000000000" pitchFamily="2" charset="2"/>
              <a:buAutoNum type="arabicPeriod"/>
            </a:pPr>
            <a:r>
              <a:rPr lang="en-US" altLang="en-US" sz="2600" b="1" dirty="0">
                <a:solidFill>
                  <a:schemeClr val="tx1"/>
                </a:solidFill>
              </a:rPr>
              <a:t>Actor</a:t>
            </a:r>
            <a:r>
              <a:rPr lang="en-US" altLang="en-US" sz="2600" dirty="0">
                <a:solidFill>
                  <a:schemeClr val="tx1"/>
                </a:solidFill>
              </a:rPr>
              <a:t>: celebrity presents a product through his or her character</a:t>
            </a:r>
          </a:p>
          <a:p>
            <a:pPr marL="571500" indent="-571500">
              <a:buFont typeface="Wingdings" panose="05000000000000000000" pitchFamily="2" charset="2"/>
              <a:buAutoNum type="arabicPeriod"/>
            </a:pPr>
            <a:r>
              <a:rPr lang="en-US" altLang="en-US" sz="2600" b="1" dirty="0">
                <a:solidFill>
                  <a:schemeClr val="tx1"/>
                </a:solidFill>
              </a:rPr>
              <a:t>Spokesperson</a:t>
            </a:r>
            <a:r>
              <a:rPr lang="en-US" altLang="en-US" sz="2600" dirty="0">
                <a:solidFill>
                  <a:schemeClr val="tx1"/>
                </a:solidFill>
              </a:rPr>
              <a:t>: celebrity represents the brand or company over an extended period of time</a:t>
            </a:r>
            <a:endParaRPr lang="en-US" altLang="en-US" sz="2600" b="1" dirty="0">
              <a:solidFill>
                <a:schemeClr val="tx1"/>
              </a:solidFill>
            </a:endParaRPr>
          </a:p>
        </p:txBody>
      </p:sp>
      <p:sp>
        <p:nvSpPr>
          <p:cNvPr id="135170" name="Rectangle 2">
            <a:extLst>
              <a:ext uri="{FF2B5EF4-FFF2-40B4-BE49-F238E27FC236}">
                <a16:creationId xmlns:a16="http://schemas.microsoft.com/office/drawing/2014/main" id="{65EDD4E3-58EC-46D3-8155-1ACCA4CA922A}"/>
              </a:ext>
            </a:extLst>
          </p:cNvPr>
          <p:cNvSpPr>
            <a:spLocks noGrp="1" noChangeArrowheads="1"/>
          </p:cNvSpPr>
          <p:nvPr>
            <p:ph type="title"/>
          </p:nvPr>
        </p:nvSpPr>
        <p:spPr/>
        <p:txBody>
          <a:bodyPr/>
          <a:lstStyle/>
          <a:p>
            <a:r>
              <a:rPr lang="en-US" altLang="en-US" dirty="0"/>
              <a:t>1. Celebrity appeals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3">
            <a:extLst>
              <a:ext uri="{FF2B5EF4-FFF2-40B4-BE49-F238E27FC236}">
                <a16:creationId xmlns:a16="http://schemas.microsoft.com/office/drawing/2014/main" id="{3184A5B1-CCCF-4600-B4EE-7B8047C616AE}"/>
              </a:ext>
            </a:extLst>
          </p:cNvPr>
          <p:cNvSpPr>
            <a:spLocks noGrp="1" noChangeArrowheads="1"/>
          </p:cNvSpPr>
          <p:nvPr>
            <p:ph type="body" idx="1"/>
          </p:nvPr>
        </p:nvSpPr>
        <p:spPr/>
        <p:txBody>
          <a:bodyPr/>
          <a:lstStyle/>
          <a:p>
            <a:r>
              <a:rPr lang="en-US" altLang="en-US" dirty="0">
                <a:solidFill>
                  <a:schemeClr val="tx1"/>
                </a:solidFill>
              </a:rPr>
              <a:t>Celebrity appeals work only if the person is perceived as </a:t>
            </a:r>
            <a:r>
              <a:rPr lang="en-US" altLang="en-US" i="1" dirty="0">
                <a:solidFill>
                  <a:schemeClr val="tx1"/>
                </a:solidFill>
              </a:rPr>
              <a:t>credible</a:t>
            </a:r>
          </a:p>
          <a:p>
            <a:r>
              <a:rPr lang="en-US" altLang="en-US" dirty="0">
                <a:solidFill>
                  <a:schemeClr val="tx1"/>
                </a:solidFill>
              </a:rPr>
              <a:t>The </a:t>
            </a:r>
            <a:r>
              <a:rPr lang="en-US" altLang="en-US" i="1" dirty="0">
                <a:solidFill>
                  <a:schemeClr val="tx1"/>
                </a:solidFill>
              </a:rPr>
              <a:t>more products</a:t>
            </a:r>
            <a:r>
              <a:rPr lang="en-US" altLang="en-US" dirty="0">
                <a:solidFill>
                  <a:schemeClr val="tx1"/>
                </a:solidFill>
              </a:rPr>
              <a:t> a celebrity is associated with, the more credibility erodes</a:t>
            </a:r>
          </a:p>
        </p:txBody>
      </p:sp>
      <p:sp>
        <p:nvSpPr>
          <p:cNvPr id="2" name="Title 1">
            <a:extLst>
              <a:ext uri="{FF2B5EF4-FFF2-40B4-BE49-F238E27FC236}">
                <a16:creationId xmlns:a16="http://schemas.microsoft.com/office/drawing/2014/main" id="{EDF05FBE-4266-D0E3-3B43-4032B3B76C23}"/>
              </a:ext>
            </a:extLst>
          </p:cNvPr>
          <p:cNvSpPr>
            <a:spLocks noGrp="1"/>
          </p:cNvSpPr>
          <p:nvPr>
            <p:ph type="title"/>
          </p:nvPr>
        </p:nvSpPr>
        <p:spPr/>
        <p:txBody>
          <a:bodyPr/>
          <a:lstStyle/>
          <a:p>
            <a:r>
              <a:rPr lang="en-US" altLang="en-US" dirty="0"/>
              <a:t>1. Celebrity appeals</a:t>
            </a: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3">
            <a:extLst>
              <a:ext uri="{FF2B5EF4-FFF2-40B4-BE49-F238E27FC236}">
                <a16:creationId xmlns:a16="http://schemas.microsoft.com/office/drawing/2014/main" id="{D8BC245A-5AFC-995E-BD9B-68E56F5301AC}"/>
              </a:ext>
            </a:extLst>
          </p:cNvPr>
          <p:cNvSpPr>
            <a:spLocks noGrp="1" noChangeArrowheads="1"/>
          </p:cNvSpPr>
          <p:nvPr>
            <p:ph type="body" idx="1"/>
          </p:nvPr>
        </p:nvSpPr>
        <p:spPr/>
        <p:txBody>
          <a:bodyPr/>
          <a:lstStyle/>
          <a:p>
            <a:r>
              <a:rPr lang="en-US" altLang="en-US" dirty="0">
                <a:solidFill>
                  <a:schemeClr val="tx1"/>
                </a:solidFill>
              </a:rPr>
              <a:t>A person who, because of his or her </a:t>
            </a:r>
            <a:r>
              <a:rPr lang="en-US" altLang="en-US" i="1" dirty="0">
                <a:solidFill>
                  <a:schemeClr val="tx1"/>
                </a:solidFill>
              </a:rPr>
              <a:t>occupation, training or experience</a:t>
            </a:r>
            <a:r>
              <a:rPr lang="en-US" altLang="en-US" dirty="0">
                <a:solidFill>
                  <a:schemeClr val="tx1"/>
                </a:solidFill>
              </a:rPr>
              <a:t> is in a unique position to help consumers evaluate a product or service</a:t>
            </a:r>
          </a:p>
        </p:txBody>
      </p:sp>
      <p:sp>
        <p:nvSpPr>
          <p:cNvPr id="139266" name="Rectangle 2">
            <a:extLst>
              <a:ext uri="{FF2B5EF4-FFF2-40B4-BE49-F238E27FC236}">
                <a16:creationId xmlns:a16="http://schemas.microsoft.com/office/drawing/2014/main" id="{8561C713-9338-DF97-C43C-FD9ACB3F123B}"/>
              </a:ext>
            </a:extLst>
          </p:cNvPr>
          <p:cNvSpPr>
            <a:spLocks noGrp="1" noChangeArrowheads="1"/>
          </p:cNvSpPr>
          <p:nvPr>
            <p:ph type="title"/>
          </p:nvPr>
        </p:nvSpPr>
        <p:spPr/>
        <p:txBody>
          <a:bodyPr/>
          <a:lstStyle/>
          <a:p>
            <a:r>
              <a:rPr lang="en-US" altLang="en-US"/>
              <a:t>2. Expert appeals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a:extLst>
              <a:ext uri="{FF2B5EF4-FFF2-40B4-BE49-F238E27FC236}">
                <a16:creationId xmlns:a16="http://schemas.microsoft.com/office/drawing/2014/main" id="{6B22D507-EFD7-487C-2494-E3FA00F58FE2}"/>
              </a:ext>
            </a:extLst>
          </p:cNvPr>
          <p:cNvSpPr>
            <a:spLocks noGrp="1" noChangeArrowheads="1"/>
          </p:cNvSpPr>
          <p:nvPr>
            <p:ph type="body" idx="1"/>
          </p:nvPr>
        </p:nvSpPr>
        <p:spPr/>
        <p:txBody>
          <a:bodyPr/>
          <a:lstStyle/>
          <a:p>
            <a:r>
              <a:rPr lang="en-US" altLang="en-US" dirty="0">
                <a:solidFill>
                  <a:schemeClr val="tx1"/>
                </a:solidFill>
              </a:rPr>
              <a:t>Uses the experiences of satisfied customers</a:t>
            </a:r>
          </a:p>
          <a:p>
            <a:r>
              <a:rPr lang="en-US" altLang="en-US" dirty="0">
                <a:solidFill>
                  <a:schemeClr val="tx1"/>
                </a:solidFill>
              </a:rPr>
              <a:t>Consumers can easily identify with them</a:t>
            </a:r>
          </a:p>
          <a:p>
            <a:r>
              <a:rPr lang="en-US" altLang="en-US" dirty="0">
                <a:solidFill>
                  <a:schemeClr val="tx1"/>
                </a:solidFill>
              </a:rPr>
              <a:t>Especially effective in public health announcements</a:t>
            </a:r>
          </a:p>
          <a:p>
            <a:r>
              <a:rPr lang="en-US" altLang="en-US" dirty="0">
                <a:solidFill>
                  <a:schemeClr val="tx1"/>
                </a:solidFill>
              </a:rPr>
              <a:t>Commercials that show individuals or families solving problems by using the advertised product are called </a:t>
            </a:r>
            <a:r>
              <a:rPr lang="en-US" altLang="en-US" i="1" dirty="0">
                <a:solidFill>
                  <a:schemeClr val="tx1"/>
                </a:solidFill>
              </a:rPr>
              <a:t>slice-of-life</a:t>
            </a:r>
            <a:r>
              <a:rPr lang="en-US" altLang="en-US" dirty="0">
                <a:solidFill>
                  <a:schemeClr val="tx1"/>
                </a:solidFill>
              </a:rPr>
              <a:t> commercials because they focus on real issues that consumers can identify with</a:t>
            </a:r>
          </a:p>
          <a:p>
            <a:endParaRPr lang="en-US" altLang="en-US" dirty="0"/>
          </a:p>
        </p:txBody>
      </p:sp>
      <p:sp>
        <p:nvSpPr>
          <p:cNvPr id="141314" name="Rectangle 2">
            <a:extLst>
              <a:ext uri="{FF2B5EF4-FFF2-40B4-BE49-F238E27FC236}">
                <a16:creationId xmlns:a16="http://schemas.microsoft.com/office/drawing/2014/main" id="{F31216FC-1AF0-A6A2-881B-FF1656C00E6C}"/>
              </a:ext>
            </a:extLst>
          </p:cNvPr>
          <p:cNvSpPr>
            <a:spLocks noGrp="1" noChangeArrowheads="1"/>
          </p:cNvSpPr>
          <p:nvPr>
            <p:ph type="title"/>
          </p:nvPr>
        </p:nvSpPr>
        <p:spPr/>
        <p:txBody>
          <a:bodyPr/>
          <a:lstStyle/>
          <a:p>
            <a:r>
              <a:rPr lang="en-US" altLang="en-US"/>
              <a:t>3. The common man appeal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a:extLst>
              <a:ext uri="{FF2B5EF4-FFF2-40B4-BE49-F238E27FC236}">
                <a16:creationId xmlns:a16="http://schemas.microsoft.com/office/drawing/2014/main" id="{673E91D9-5DF9-EA4D-44BA-F16C40A4F035}"/>
              </a:ext>
            </a:extLst>
          </p:cNvPr>
          <p:cNvSpPr>
            <a:spLocks noGrp="1" noChangeArrowheads="1"/>
          </p:cNvSpPr>
          <p:nvPr>
            <p:ph type="body" idx="1"/>
          </p:nvPr>
        </p:nvSpPr>
        <p:spPr/>
        <p:txBody>
          <a:bodyPr/>
          <a:lstStyle/>
          <a:p>
            <a:r>
              <a:rPr lang="en-US" altLang="en-US" dirty="0">
                <a:solidFill>
                  <a:schemeClr val="tx1"/>
                </a:solidFill>
              </a:rPr>
              <a:t>Became popular in last 20 years as CEO’s became better known to the public</a:t>
            </a:r>
          </a:p>
          <a:p>
            <a:r>
              <a:rPr lang="en-US" altLang="en-US" dirty="0">
                <a:solidFill>
                  <a:schemeClr val="tx1"/>
                </a:solidFill>
              </a:rPr>
              <a:t>As with celebrities, success depends on public perception of the spokesperson’s credibility</a:t>
            </a:r>
          </a:p>
          <a:p>
            <a:endParaRPr lang="en-US" altLang="en-US" dirty="0"/>
          </a:p>
        </p:txBody>
      </p:sp>
      <p:sp>
        <p:nvSpPr>
          <p:cNvPr id="143362" name="Rectangle 2">
            <a:extLst>
              <a:ext uri="{FF2B5EF4-FFF2-40B4-BE49-F238E27FC236}">
                <a16:creationId xmlns:a16="http://schemas.microsoft.com/office/drawing/2014/main" id="{A55E0AC0-D769-1474-7ECC-A6AAFDB2F826}"/>
              </a:ext>
            </a:extLst>
          </p:cNvPr>
          <p:cNvSpPr>
            <a:spLocks noGrp="1" noChangeArrowheads="1"/>
          </p:cNvSpPr>
          <p:nvPr>
            <p:ph type="title"/>
          </p:nvPr>
        </p:nvSpPr>
        <p:spPr/>
        <p:txBody>
          <a:bodyPr/>
          <a:lstStyle/>
          <a:p>
            <a:r>
              <a:rPr lang="en-US" altLang="en-US"/>
              <a:t>4. The executive spokesperson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830980"/>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3FBEF1"/>
      </a:accent1>
      <a:accent2>
        <a:srgbClr val="00820F"/>
      </a:accent2>
      <a:accent3>
        <a:srgbClr val="A5A5A5"/>
      </a:accent3>
      <a:accent4>
        <a:srgbClr val="FFF901"/>
      </a:accent4>
      <a:accent5>
        <a:srgbClr val="833C0B"/>
      </a:accent5>
      <a:accent6>
        <a:srgbClr val="6F3B55"/>
      </a:accent6>
      <a:hlink>
        <a:srgbClr val="0095B8"/>
      </a:hlink>
      <a:folHlink>
        <a:srgbClr val="00EAEA"/>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2294</TotalTime>
  <Words>2528</Words>
  <Application>Microsoft Office PowerPoint</Application>
  <PresentationFormat>Widescreen</PresentationFormat>
  <Paragraphs>333</Paragraphs>
  <Slides>30</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Century Gothic</vt:lpstr>
      <vt:lpstr>Wingdings</vt:lpstr>
      <vt:lpstr>Office Theme</vt:lpstr>
      <vt:lpstr>PowerPoint Presentation</vt:lpstr>
      <vt:lpstr>WHAT IS SOCIETY </vt:lpstr>
      <vt:lpstr>TYPES OF SOCIETY </vt:lpstr>
      <vt:lpstr>The meaning of groups</vt:lpstr>
      <vt:lpstr>Importance of groups</vt:lpstr>
      <vt:lpstr>Types of social groups</vt:lpstr>
      <vt:lpstr>Types of social groups</vt:lpstr>
      <vt:lpstr>Roles</vt:lpstr>
      <vt:lpstr>Roles</vt:lpstr>
      <vt:lpstr>Status</vt:lpstr>
      <vt:lpstr>Reference groups</vt:lpstr>
      <vt:lpstr>Types of reference groups</vt:lpstr>
      <vt:lpstr>Types of reference groups</vt:lpstr>
      <vt:lpstr>Factors that affect reference group influence</vt:lpstr>
      <vt:lpstr>1. Consumer’s information and experience</vt:lpstr>
      <vt:lpstr>2. Credibility, power and attractiveness of the reference group</vt:lpstr>
      <vt:lpstr>3. Conspicuousness of the product</vt:lpstr>
      <vt:lpstr>Implications for marketing</vt:lpstr>
      <vt:lpstr>Selected consumer-related reference groups</vt:lpstr>
      <vt:lpstr>1. Friendship groups</vt:lpstr>
      <vt:lpstr>2. Shopping groups</vt:lpstr>
      <vt:lpstr>3. Work groups</vt:lpstr>
      <vt:lpstr>4. Consumer action groups</vt:lpstr>
      <vt:lpstr>Reference group appeals</vt:lpstr>
      <vt:lpstr>1. Celebrity appeals</vt:lpstr>
      <vt:lpstr>1. Celebrity appeals</vt:lpstr>
      <vt:lpstr>2. Expert appeals</vt:lpstr>
      <vt:lpstr>3. The common man appeal</vt:lpstr>
      <vt:lpstr>4. The executive spokesperson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emmanuel appiah</dc:creator>
  <cp:lastModifiedBy>Benedicta Nyarko Anin-Acquah</cp:lastModifiedBy>
  <cp:revision>70</cp:revision>
  <dcterms:created xsi:type="dcterms:W3CDTF">2021-09-14T13:24:40Z</dcterms:created>
  <dcterms:modified xsi:type="dcterms:W3CDTF">2025-02-09T08:07:51Z</dcterms:modified>
</cp:coreProperties>
</file>