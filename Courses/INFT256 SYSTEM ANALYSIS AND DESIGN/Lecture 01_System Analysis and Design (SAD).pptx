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72" r:id="rId1"/>
  </p:sldMasterIdLst>
  <p:notesMasterIdLst>
    <p:notesMasterId r:id="rId2"/>
  </p:notesMasterIdLst>
  <p:sldIdLst>
    <p:sldId id="324" r:id="rId3"/>
    <p:sldId id="325" r:id="rId4"/>
    <p:sldId id="326" r:id="rId5"/>
    <p:sldId id="327" r:id="rId6"/>
    <p:sldId id="328" r:id="rId7"/>
    <p:sldId id="329" r:id="rId8"/>
    <p:sldId id="330" r:id="rId9"/>
    <p:sldId id="331" r:id="rId10"/>
    <p:sldId id="332" r:id="rId11"/>
    <p:sldId id="333" r:id="rId12"/>
    <p:sldId id="334" r:id="rId13"/>
    <p:sldId id="335" r:id="rId14"/>
    <p:sldId id="336" r:id="rId15"/>
    <p:sldId id="337" r:id="rId16"/>
    <p:sldId id="338" r:id="rId17"/>
    <p:sldId id="339" r:id="rId18"/>
    <p:sldId id="340" r:id="rId19"/>
    <p:sldId id="341" r:id="rId20"/>
    <p:sldId id="342" r:id="rId21"/>
    <p:sldId id="343" r:id="rId22"/>
    <p:sldId id="344" r:id="rId23"/>
    <p:sldId id="345" r:id="rId24"/>
    <p:sldId id="346" r:id="rId25"/>
    <p:sldId id="347" r:id="rId26"/>
    <p:sldId id="348" r:id="rId27"/>
    <p:sldId id="349" r:id="rId28"/>
    <p:sldId id="350" r:id="rId29"/>
    <p:sldId id="351" r:id="rId30"/>
    <p:sldId id="352" r:id="rId31"/>
    <p:sldId id="353" r:id="rId32"/>
    <p:sldId id="354" r:id="rId33"/>
    <p:sldId id="355" r:id="rId34"/>
    <p:sldId id="356" r:id="rId35"/>
  </p:sldIdLst>
  <p:sldSz type="screen16x9" cy="6858000" cx="12192000"/>
  <p:notesSz cx="6858000" cy="9144000"/>
  <p:defaultTextStyle>
    <a:defPPr>
      <a:defRPr lang="LID4096"/>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4995" autoAdjust="0"/>
    <p:restoredTop sz="94660"/>
  </p:normalViewPr>
  <p:slideViewPr>
    <p:cSldViewPr snapToGrid="0">
      <p:cViewPr varScale="1">
        <p:scale>
          <a:sx n="85" d="100"/>
          <a:sy n="85" d="100"/>
        </p:scale>
        <p:origin x="590" y="6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tableStyles" Target="tableStyles.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91" name=""/>
        <p:cNvGrpSpPr/>
        <p:nvPr/>
      </p:nvGrpSpPr>
      <p:grpSpPr>
        <a:xfrm>
          <a:off x="0" y="0"/>
          <a:ext cx="0" cy="0"/>
          <a:chOff x="0" y="0"/>
          <a:chExt cx="0" cy="0"/>
        </a:xfrm>
      </p:grpSpPr>
      <p:sp>
        <p:nvSpPr>
          <p:cNvPr id="1048733"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734"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735"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736"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37"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738"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LID4096"/>
          </a:p>
        </p:txBody>
      </p:sp>
      <p:sp>
        <p:nvSpPr>
          <p:cNvPr id="1048583" name="Date Placeholder 3"/>
          <p:cNvSpPr>
            <a:spLocks noGrp="1"/>
          </p:cNvSpPr>
          <p:nvPr>
            <p:ph type="dt" sz="half" idx="10"/>
          </p:nvPr>
        </p:nvSpPr>
        <p:spPr/>
        <p:txBody>
          <a:bodyPr/>
          <a:p>
            <a:fld id="{3C75590C-B1B3-4EB1-A910-D1F836A78C28}" type="datetimeFigureOut">
              <a:rPr lang="LID4096" smtClean="0"/>
              <a:t>01/21/2025</a:t>
            </a:fld>
            <a:endParaRPr lang="LID4096"/>
          </a:p>
        </p:txBody>
      </p:sp>
      <p:sp>
        <p:nvSpPr>
          <p:cNvPr id="1048584" name="Footer Placeholder 4"/>
          <p:cNvSpPr>
            <a:spLocks noGrp="1"/>
          </p:cNvSpPr>
          <p:nvPr>
            <p:ph type="ftr" sz="quarter" idx="11"/>
          </p:nvPr>
        </p:nvSpPr>
        <p:spPr/>
        <p:txBody>
          <a:bodyPr/>
          <a:p>
            <a:endParaRPr lang="LID4096"/>
          </a:p>
        </p:txBody>
      </p:sp>
      <p:sp>
        <p:nvSpPr>
          <p:cNvPr id="1048585" name="Slide Number Placeholder 5"/>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8" name=""/>
        <p:cNvGrpSpPr/>
        <p:nvPr/>
      </p:nvGrpSpPr>
      <p:grpSpPr>
        <a:xfrm>
          <a:off x="0" y="0"/>
          <a:ext cx="0" cy="0"/>
          <a:chOff x="0" y="0"/>
          <a:chExt cx="0" cy="0"/>
        </a:xfrm>
      </p:grpSpPr>
      <p:sp>
        <p:nvSpPr>
          <p:cNvPr id="1048587" name="Title 1"/>
          <p:cNvSpPr>
            <a:spLocks noGrp="1"/>
          </p:cNvSpPr>
          <p:nvPr>
            <p:ph type="title"/>
          </p:nvPr>
        </p:nvSpPr>
        <p:spPr/>
        <p:txBody>
          <a:bodyPr/>
          <a:p>
            <a:r>
              <a:rPr lang="en-US"/>
              <a:t>Click to edit Master title style</a:t>
            </a:r>
            <a:endParaRPr lang="LID4096"/>
          </a:p>
        </p:txBody>
      </p:sp>
      <p:sp>
        <p:nvSpPr>
          <p:cNvPr id="1048588"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589" name="Date Placeholder 3"/>
          <p:cNvSpPr>
            <a:spLocks noGrp="1"/>
          </p:cNvSpPr>
          <p:nvPr>
            <p:ph type="dt" sz="half" idx="10"/>
          </p:nvPr>
        </p:nvSpPr>
        <p:spPr/>
        <p:txBody>
          <a:bodyPr/>
          <a:p>
            <a:fld id="{3C75590C-B1B3-4EB1-A910-D1F836A78C28}" type="datetimeFigureOut">
              <a:rPr lang="LID4096" smtClean="0"/>
              <a:t>01/21/2025</a:t>
            </a:fld>
            <a:endParaRPr lang="LID4096"/>
          </a:p>
        </p:txBody>
      </p:sp>
      <p:sp>
        <p:nvSpPr>
          <p:cNvPr id="1048590" name="Footer Placeholder 4"/>
          <p:cNvSpPr>
            <a:spLocks noGrp="1"/>
          </p:cNvSpPr>
          <p:nvPr>
            <p:ph type="ftr" sz="quarter" idx="11"/>
          </p:nvPr>
        </p:nvSpPr>
        <p:spPr/>
        <p:txBody>
          <a:bodyPr/>
          <a:p>
            <a:endParaRPr lang="LID4096"/>
          </a:p>
        </p:txBody>
      </p:sp>
      <p:sp>
        <p:nvSpPr>
          <p:cNvPr id="1048591" name="Slide Number Placeholder 5"/>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85" name=""/>
        <p:cNvGrpSpPr/>
        <p:nvPr/>
      </p:nvGrpSpPr>
      <p:grpSpPr>
        <a:xfrm>
          <a:off x="0" y="0"/>
          <a:ext cx="0" cy="0"/>
          <a:chOff x="0" y="0"/>
          <a:chExt cx="0" cy="0"/>
        </a:xfrm>
      </p:grpSpPr>
      <p:sp>
        <p:nvSpPr>
          <p:cNvPr id="1048705"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1048706"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707" name="Date Placeholder 3"/>
          <p:cNvSpPr>
            <a:spLocks noGrp="1"/>
          </p:cNvSpPr>
          <p:nvPr>
            <p:ph type="dt" sz="half" idx="10"/>
          </p:nvPr>
        </p:nvSpPr>
        <p:spPr/>
        <p:txBody>
          <a:bodyPr/>
          <a:p>
            <a:fld id="{3C75590C-B1B3-4EB1-A910-D1F836A78C28}" type="datetimeFigureOut">
              <a:rPr lang="LID4096" smtClean="0"/>
              <a:t>01/21/2025</a:t>
            </a:fld>
            <a:endParaRPr lang="LID4096"/>
          </a:p>
        </p:txBody>
      </p:sp>
      <p:sp>
        <p:nvSpPr>
          <p:cNvPr id="1048708" name="Footer Placeholder 4"/>
          <p:cNvSpPr>
            <a:spLocks noGrp="1"/>
          </p:cNvSpPr>
          <p:nvPr>
            <p:ph type="ftr" sz="quarter" idx="11"/>
          </p:nvPr>
        </p:nvSpPr>
        <p:spPr/>
        <p:txBody>
          <a:bodyPr/>
          <a:p>
            <a:endParaRPr lang="LID4096"/>
          </a:p>
        </p:txBody>
      </p:sp>
      <p:sp>
        <p:nvSpPr>
          <p:cNvPr id="1048709" name="Slide Number Placeholder 5"/>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86" name=""/>
        <p:cNvGrpSpPr/>
        <p:nvPr/>
      </p:nvGrpSpPr>
      <p:grpSpPr>
        <a:xfrm>
          <a:off x="0" y="0"/>
          <a:ext cx="0" cy="0"/>
          <a:chOff x="0" y="0"/>
          <a:chExt cx="0" cy="0"/>
        </a:xfrm>
      </p:grpSpPr>
      <p:sp>
        <p:nvSpPr>
          <p:cNvPr id="1048710" name="Title 1"/>
          <p:cNvSpPr>
            <a:spLocks noGrp="1"/>
          </p:cNvSpPr>
          <p:nvPr>
            <p:ph type="title"/>
          </p:nvPr>
        </p:nvSpPr>
        <p:spPr/>
        <p:txBody>
          <a:bodyPr/>
          <a:p>
            <a:r>
              <a:rPr lang="en-US"/>
              <a:t>Click to edit Master title style</a:t>
            </a:r>
            <a:endParaRPr lang="LID4096"/>
          </a:p>
        </p:txBody>
      </p:sp>
      <p:sp>
        <p:nvSpPr>
          <p:cNvPr id="1048711"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12"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13" name="Date Placeholder 4"/>
          <p:cNvSpPr>
            <a:spLocks noGrp="1"/>
          </p:cNvSpPr>
          <p:nvPr>
            <p:ph type="dt" sz="half" idx="10"/>
          </p:nvPr>
        </p:nvSpPr>
        <p:spPr/>
        <p:txBody>
          <a:bodyPr/>
          <a:p>
            <a:fld id="{3C75590C-B1B3-4EB1-A910-D1F836A78C28}" type="datetimeFigureOut">
              <a:rPr lang="LID4096" smtClean="0"/>
              <a:t>01/21/2025</a:t>
            </a:fld>
            <a:endParaRPr lang="LID4096"/>
          </a:p>
        </p:txBody>
      </p:sp>
      <p:sp>
        <p:nvSpPr>
          <p:cNvPr id="1048714" name="Footer Placeholder 5"/>
          <p:cNvSpPr>
            <a:spLocks noGrp="1"/>
          </p:cNvSpPr>
          <p:nvPr>
            <p:ph type="ftr" sz="quarter" idx="11"/>
          </p:nvPr>
        </p:nvSpPr>
        <p:spPr/>
        <p:txBody>
          <a:bodyPr/>
          <a:p>
            <a:endParaRPr lang="LID4096"/>
          </a:p>
        </p:txBody>
      </p:sp>
      <p:sp>
        <p:nvSpPr>
          <p:cNvPr id="1048715" name="Slide Number Placeholder 6"/>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87" name=""/>
        <p:cNvGrpSpPr/>
        <p:nvPr/>
      </p:nvGrpSpPr>
      <p:grpSpPr>
        <a:xfrm>
          <a:off x="0" y="0"/>
          <a:ext cx="0" cy="0"/>
          <a:chOff x="0" y="0"/>
          <a:chExt cx="0" cy="0"/>
        </a:xfrm>
      </p:grpSpPr>
      <p:sp>
        <p:nvSpPr>
          <p:cNvPr id="1048716" name="Title 1"/>
          <p:cNvSpPr>
            <a:spLocks noGrp="1"/>
          </p:cNvSpPr>
          <p:nvPr>
            <p:ph type="title"/>
          </p:nvPr>
        </p:nvSpPr>
        <p:spPr>
          <a:xfrm>
            <a:off x="839788" y="365125"/>
            <a:ext cx="10515600" cy="1325563"/>
          </a:xfrm>
        </p:spPr>
        <p:txBody>
          <a:bodyPr/>
          <a:p>
            <a:r>
              <a:rPr lang="en-US"/>
              <a:t>Click to edit Master title style</a:t>
            </a:r>
            <a:endParaRPr lang="LID4096"/>
          </a:p>
        </p:txBody>
      </p:sp>
      <p:sp>
        <p:nvSpPr>
          <p:cNvPr id="104871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18"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1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20"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21" name="Date Placeholder 6"/>
          <p:cNvSpPr>
            <a:spLocks noGrp="1"/>
          </p:cNvSpPr>
          <p:nvPr>
            <p:ph type="dt" sz="half" idx="10"/>
          </p:nvPr>
        </p:nvSpPr>
        <p:spPr/>
        <p:txBody>
          <a:bodyPr/>
          <a:p>
            <a:fld id="{3C75590C-B1B3-4EB1-A910-D1F836A78C28}" type="datetimeFigureOut">
              <a:rPr lang="LID4096" smtClean="0"/>
              <a:t>01/21/2025</a:t>
            </a:fld>
            <a:endParaRPr lang="LID4096"/>
          </a:p>
        </p:txBody>
      </p:sp>
      <p:sp>
        <p:nvSpPr>
          <p:cNvPr id="1048722" name="Footer Placeholder 7"/>
          <p:cNvSpPr>
            <a:spLocks noGrp="1"/>
          </p:cNvSpPr>
          <p:nvPr>
            <p:ph type="ftr" sz="quarter" idx="11"/>
          </p:nvPr>
        </p:nvSpPr>
        <p:spPr/>
        <p:txBody>
          <a:bodyPr/>
          <a:p>
            <a:endParaRPr lang="LID4096"/>
          </a:p>
        </p:txBody>
      </p:sp>
      <p:sp>
        <p:nvSpPr>
          <p:cNvPr id="1048723" name="Slide Number Placeholder 8"/>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81" name=""/>
        <p:cNvGrpSpPr/>
        <p:nvPr/>
      </p:nvGrpSpPr>
      <p:grpSpPr>
        <a:xfrm>
          <a:off x="0" y="0"/>
          <a:ext cx="0" cy="0"/>
          <a:chOff x="0" y="0"/>
          <a:chExt cx="0" cy="0"/>
        </a:xfrm>
      </p:grpSpPr>
      <p:sp>
        <p:nvSpPr>
          <p:cNvPr id="1048685" name="Title 1"/>
          <p:cNvSpPr>
            <a:spLocks noGrp="1"/>
          </p:cNvSpPr>
          <p:nvPr>
            <p:ph type="title"/>
          </p:nvPr>
        </p:nvSpPr>
        <p:spPr/>
        <p:txBody>
          <a:bodyPr/>
          <a:p>
            <a:r>
              <a:rPr lang="en-US"/>
              <a:t>Click to edit Master title style</a:t>
            </a:r>
            <a:endParaRPr lang="LID4096"/>
          </a:p>
        </p:txBody>
      </p:sp>
      <p:sp>
        <p:nvSpPr>
          <p:cNvPr id="1048686" name="Date Placeholder 2"/>
          <p:cNvSpPr>
            <a:spLocks noGrp="1"/>
          </p:cNvSpPr>
          <p:nvPr>
            <p:ph type="dt" sz="half" idx="10"/>
          </p:nvPr>
        </p:nvSpPr>
        <p:spPr/>
        <p:txBody>
          <a:bodyPr/>
          <a:p>
            <a:fld id="{3C75590C-B1B3-4EB1-A910-D1F836A78C28}" type="datetimeFigureOut">
              <a:rPr lang="LID4096" smtClean="0"/>
              <a:t>01/21/2025</a:t>
            </a:fld>
            <a:endParaRPr lang="LID4096"/>
          </a:p>
        </p:txBody>
      </p:sp>
      <p:sp>
        <p:nvSpPr>
          <p:cNvPr id="1048687" name="Footer Placeholder 3"/>
          <p:cNvSpPr>
            <a:spLocks noGrp="1"/>
          </p:cNvSpPr>
          <p:nvPr>
            <p:ph type="ftr" sz="quarter" idx="11"/>
          </p:nvPr>
        </p:nvSpPr>
        <p:spPr/>
        <p:txBody>
          <a:bodyPr/>
          <a:p>
            <a:endParaRPr lang="LID4096"/>
          </a:p>
        </p:txBody>
      </p:sp>
      <p:sp>
        <p:nvSpPr>
          <p:cNvPr id="1048688" name="Slide Number Placeholder 4"/>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88" name=""/>
        <p:cNvGrpSpPr/>
        <p:nvPr/>
      </p:nvGrpSpPr>
      <p:grpSpPr>
        <a:xfrm>
          <a:off x="0" y="0"/>
          <a:ext cx="0" cy="0"/>
          <a:chOff x="0" y="0"/>
          <a:chExt cx="0" cy="0"/>
        </a:xfrm>
      </p:grpSpPr>
      <p:sp>
        <p:nvSpPr>
          <p:cNvPr id="1048724" name="Date Placeholder 1"/>
          <p:cNvSpPr>
            <a:spLocks noGrp="1"/>
          </p:cNvSpPr>
          <p:nvPr>
            <p:ph type="dt" sz="half" idx="10"/>
          </p:nvPr>
        </p:nvSpPr>
        <p:spPr/>
        <p:txBody>
          <a:bodyPr/>
          <a:p>
            <a:fld id="{3C75590C-B1B3-4EB1-A910-D1F836A78C28}" type="datetimeFigureOut">
              <a:rPr lang="LID4096" smtClean="0"/>
              <a:t>01/21/2025</a:t>
            </a:fld>
            <a:endParaRPr lang="LID4096"/>
          </a:p>
        </p:txBody>
      </p:sp>
      <p:sp>
        <p:nvSpPr>
          <p:cNvPr id="1048725" name="Footer Placeholder 2"/>
          <p:cNvSpPr>
            <a:spLocks noGrp="1"/>
          </p:cNvSpPr>
          <p:nvPr>
            <p:ph type="ftr" sz="quarter" idx="11"/>
          </p:nvPr>
        </p:nvSpPr>
        <p:spPr/>
        <p:txBody>
          <a:bodyPr/>
          <a:p>
            <a:endParaRPr lang="LID4096"/>
          </a:p>
        </p:txBody>
      </p:sp>
      <p:sp>
        <p:nvSpPr>
          <p:cNvPr id="1048726" name="Slide Number Placeholder 3"/>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89" name=""/>
        <p:cNvGrpSpPr/>
        <p:nvPr/>
      </p:nvGrpSpPr>
      <p:grpSpPr>
        <a:xfrm>
          <a:off x="0" y="0"/>
          <a:ext cx="0" cy="0"/>
          <a:chOff x="0" y="0"/>
          <a:chExt cx="0" cy="0"/>
        </a:xfrm>
      </p:grpSpPr>
      <p:sp>
        <p:nvSpPr>
          <p:cNvPr id="104872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104872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2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30" name="Date Placeholder 4"/>
          <p:cNvSpPr>
            <a:spLocks noGrp="1"/>
          </p:cNvSpPr>
          <p:nvPr>
            <p:ph type="dt" sz="half" idx="10"/>
          </p:nvPr>
        </p:nvSpPr>
        <p:spPr/>
        <p:txBody>
          <a:bodyPr/>
          <a:p>
            <a:fld id="{3C75590C-B1B3-4EB1-A910-D1F836A78C28}" type="datetimeFigureOut">
              <a:rPr lang="LID4096" smtClean="0"/>
              <a:t>01/21/2025</a:t>
            </a:fld>
            <a:endParaRPr lang="LID4096"/>
          </a:p>
        </p:txBody>
      </p:sp>
      <p:sp>
        <p:nvSpPr>
          <p:cNvPr id="1048731" name="Footer Placeholder 5"/>
          <p:cNvSpPr>
            <a:spLocks noGrp="1"/>
          </p:cNvSpPr>
          <p:nvPr>
            <p:ph type="ftr" sz="quarter" idx="11"/>
          </p:nvPr>
        </p:nvSpPr>
        <p:spPr/>
        <p:txBody>
          <a:bodyPr/>
          <a:p>
            <a:endParaRPr lang="LID4096"/>
          </a:p>
        </p:txBody>
      </p:sp>
      <p:sp>
        <p:nvSpPr>
          <p:cNvPr id="1048732" name="Slide Number Placeholder 6"/>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83" name=""/>
        <p:cNvGrpSpPr/>
        <p:nvPr/>
      </p:nvGrpSpPr>
      <p:grpSpPr>
        <a:xfrm>
          <a:off x="0" y="0"/>
          <a:ext cx="0" cy="0"/>
          <a:chOff x="0" y="0"/>
          <a:chExt cx="0" cy="0"/>
        </a:xfrm>
      </p:grpSpPr>
      <p:sp>
        <p:nvSpPr>
          <p:cNvPr id="104869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1048695"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LID4096"/>
          </a:p>
        </p:txBody>
      </p:sp>
      <p:sp>
        <p:nvSpPr>
          <p:cNvPr id="104869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97" name="Date Placeholder 4"/>
          <p:cNvSpPr>
            <a:spLocks noGrp="1"/>
          </p:cNvSpPr>
          <p:nvPr>
            <p:ph type="dt" sz="half" idx="10"/>
          </p:nvPr>
        </p:nvSpPr>
        <p:spPr/>
        <p:txBody>
          <a:bodyPr/>
          <a:p>
            <a:fld id="{3C75590C-B1B3-4EB1-A910-D1F836A78C28}" type="datetimeFigureOut">
              <a:rPr lang="LID4096" smtClean="0"/>
              <a:t>01/21/2025</a:t>
            </a:fld>
            <a:endParaRPr lang="LID4096"/>
          </a:p>
        </p:txBody>
      </p:sp>
      <p:sp>
        <p:nvSpPr>
          <p:cNvPr id="1048698" name="Footer Placeholder 5"/>
          <p:cNvSpPr>
            <a:spLocks noGrp="1"/>
          </p:cNvSpPr>
          <p:nvPr>
            <p:ph type="ftr" sz="quarter" idx="11"/>
          </p:nvPr>
        </p:nvSpPr>
        <p:spPr/>
        <p:txBody>
          <a:bodyPr/>
          <a:p>
            <a:endParaRPr lang="LID4096"/>
          </a:p>
        </p:txBody>
      </p:sp>
      <p:sp>
        <p:nvSpPr>
          <p:cNvPr id="1048699" name="Slide Number Placeholder 6"/>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84" name=""/>
        <p:cNvGrpSpPr/>
        <p:nvPr/>
      </p:nvGrpSpPr>
      <p:grpSpPr>
        <a:xfrm>
          <a:off x="0" y="0"/>
          <a:ext cx="0" cy="0"/>
          <a:chOff x="0" y="0"/>
          <a:chExt cx="0" cy="0"/>
        </a:xfrm>
      </p:grpSpPr>
      <p:sp>
        <p:nvSpPr>
          <p:cNvPr id="1048700" name="Title 1"/>
          <p:cNvSpPr>
            <a:spLocks noGrp="1"/>
          </p:cNvSpPr>
          <p:nvPr>
            <p:ph type="title"/>
          </p:nvPr>
        </p:nvSpPr>
        <p:spPr/>
        <p:txBody>
          <a:bodyPr/>
          <a:p>
            <a:r>
              <a:rPr lang="en-US"/>
              <a:t>Click to edit Master title style</a:t>
            </a:r>
            <a:endParaRPr lang="LID4096"/>
          </a:p>
        </p:txBody>
      </p:sp>
      <p:sp>
        <p:nvSpPr>
          <p:cNvPr id="1048701"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702" name="Date Placeholder 3"/>
          <p:cNvSpPr>
            <a:spLocks noGrp="1"/>
          </p:cNvSpPr>
          <p:nvPr>
            <p:ph type="dt" sz="half" idx="10"/>
          </p:nvPr>
        </p:nvSpPr>
        <p:spPr/>
        <p:txBody>
          <a:bodyPr/>
          <a:p>
            <a:fld id="{3C75590C-B1B3-4EB1-A910-D1F836A78C28}" type="datetimeFigureOut">
              <a:rPr lang="LID4096" smtClean="0"/>
              <a:t>01/21/2025</a:t>
            </a:fld>
            <a:endParaRPr lang="LID4096"/>
          </a:p>
        </p:txBody>
      </p:sp>
      <p:sp>
        <p:nvSpPr>
          <p:cNvPr id="1048703" name="Footer Placeholder 4"/>
          <p:cNvSpPr>
            <a:spLocks noGrp="1"/>
          </p:cNvSpPr>
          <p:nvPr>
            <p:ph type="ftr" sz="quarter" idx="11"/>
          </p:nvPr>
        </p:nvSpPr>
        <p:spPr/>
        <p:txBody>
          <a:bodyPr/>
          <a:p>
            <a:endParaRPr lang="LID4096"/>
          </a:p>
        </p:txBody>
      </p:sp>
      <p:sp>
        <p:nvSpPr>
          <p:cNvPr id="1048704" name="Slide Number Placeholder 5"/>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82" name=""/>
        <p:cNvGrpSpPr/>
        <p:nvPr/>
      </p:nvGrpSpPr>
      <p:grpSpPr>
        <a:xfrm>
          <a:off x="0" y="0"/>
          <a:ext cx="0" cy="0"/>
          <a:chOff x="0" y="0"/>
          <a:chExt cx="0" cy="0"/>
        </a:xfrm>
      </p:grpSpPr>
      <p:sp>
        <p:nvSpPr>
          <p:cNvPr id="1048689" name="Vertical Title 1"/>
          <p:cNvSpPr>
            <a:spLocks noGrp="1"/>
          </p:cNvSpPr>
          <p:nvPr>
            <p:ph type="title" orient="vert"/>
          </p:nvPr>
        </p:nvSpPr>
        <p:spPr>
          <a:xfrm>
            <a:off x="8724900" y="365125"/>
            <a:ext cx="2628900" cy="5811838"/>
          </a:xfrm>
        </p:spPr>
        <p:txBody>
          <a:bodyPr vert="eaVert"/>
          <a:p>
            <a:r>
              <a:rPr lang="en-US"/>
              <a:t>Click to edit Master title style</a:t>
            </a:r>
            <a:endParaRPr lang="LID4096"/>
          </a:p>
        </p:txBody>
      </p:sp>
      <p:sp>
        <p:nvSpPr>
          <p:cNvPr id="1048690"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691" name="Date Placeholder 3"/>
          <p:cNvSpPr>
            <a:spLocks noGrp="1"/>
          </p:cNvSpPr>
          <p:nvPr>
            <p:ph type="dt" sz="half" idx="10"/>
          </p:nvPr>
        </p:nvSpPr>
        <p:spPr/>
        <p:txBody>
          <a:bodyPr/>
          <a:p>
            <a:fld id="{3C75590C-B1B3-4EB1-A910-D1F836A78C28}" type="datetimeFigureOut">
              <a:rPr lang="LID4096" smtClean="0"/>
              <a:t>01/21/2025</a:t>
            </a:fld>
            <a:endParaRPr lang="LID4096"/>
          </a:p>
        </p:txBody>
      </p:sp>
      <p:sp>
        <p:nvSpPr>
          <p:cNvPr id="1048692" name="Footer Placeholder 4"/>
          <p:cNvSpPr>
            <a:spLocks noGrp="1"/>
          </p:cNvSpPr>
          <p:nvPr>
            <p:ph type="ftr" sz="quarter" idx="11"/>
          </p:nvPr>
        </p:nvSpPr>
        <p:spPr/>
        <p:txBody>
          <a:bodyPr/>
          <a:p>
            <a:endParaRPr lang="LID4096"/>
          </a:p>
        </p:txBody>
      </p:sp>
      <p:sp>
        <p:nvSpPr>
          <p:cNvPr id="1048693" name="Slide Number Placeholder 5"/>
          <p:cNvSpPr>
            <a:spLocks noGrp="1"/>
          </p:cNvSpPr>
          <p:nvPr>
            <p:ph type="sldNum" sz="quarter" idx="12"/>
          </p:nvPr>
        </p:nvSpPr>
        <p:spPr/>
        <p:txBody>
          <a:bodyPr/>
          <a:p>
            <a:fld id="{9827E1DB-6CD7-4C27-9944-76032E630E5A}" type="slidenum">
              <a:rPr lang="LID4096" smtClean="0"/>
              <a:t>‹#›</a:t>
            </a:fld>
            <a:endParaRPr lang="LID4096"/>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LID4096"/>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3C75590C-B1B3-4EB1-A910-D1F836A78C28}" type="datetimeFigureOut">
              <a:rPr lang="LID4096" smtClean="0"/>
              <a:t>01/21/2025</a:t>
            </a:fld>
            <a:endParaRPr lang="LID4096"/>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LID4096"/>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9827E1DB-6CD7-4C27-9944-76032E630E5A}" type="slidenum">
              <a:rPr lang="LID4096" smtClean="0"/>
              <a:t>‹#›</a:t>
            </a:fld>
            <a:endParaRPr lang="LID4096"/>
          </a:p>
        </p:txBody>
      </p:sp>
    </p:spTree>
  </p:cSld>
  <p:clrMap accent1="accent1" accent2="accent2" accent3="accent3" accent4="accent4" accent5="accent5" accent6="accent6" bg1="lt1" bg2="lt2" tx1="dk1" tx2="dk2"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a:xfrm>
            <a:off x="1231770" y="2175235"/>
            <a:ext cx="9144000" cy="1498289"/>
          </a:xfrm>
        </p:spPr>
        <p:txBody>
          <a:bodyPr>
            <a:normAutofit fontScale="90000"/>
          </a:bodyPr>
          <a:p>
            <a:r>
              <a:rPr b="1" dirty="0" lang="en-US">
                <a:latin typeface="Century Gothic" panose="020B0502020202020204" pitchFamily="34" charset="0"/>
              </a:rPr>
              <a:t>System Analysis and Design (SAD)</a:t>
            </a:r>
            <a:endParaRPr b="1" dirty="0" lang="LID4096">
              <a:latin typeface="Century Gothic" panose="020B0502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592" name="Title 1"/>
          <p:cNvSpPr>
            <a:spLocks noGrp="1"/>
          </p:cNvSpPr>
          <p:nvPr>
            <p:ph type="title"/>
          </p:nvPr>
        </p:nvSpPr>
        <p:spPr>
          <a:xfrm>
            <a:off x="1017309" y="336845"/>
            <a:ext cx="10515600" cy="1325563"/>
          </a:xfrm>
        </p:spPr>
        <p:txBody>
          <a:bodyPr/>
          <a:p>
            <a:r>
              <a:rPr b="1" dirty="0" i="0" lang="en-US">
                <a:solidFill>
                  <a:srgbClr val="000000"/>
                </a:solidFill>
                <a:effectLst/>
                <a:latin typeface="Century Gothic" panose="020B0502020202020204" pitchFamily="34" charset="0"/>
              </a:rPr>
              <a:t>What is a System?</a:t>
            </a:r>
            <a:endParaRPr b="1" dirty="0" lang="LID4096">
              <a:latin typeface="Century Gothic" panose="020B0502020202020204" pitchFamily="34" charset="0"/>
            </a:endParaRPr>
          </a:p>
        </p:txBody>
      </p:sp>
      <p:sp>
        <p:nvSpPr>
          <p:cNvPr id="1048593" name="Content Placeholder 2"/>
          <p:cNvSpPr>
            <a:spLocks noGrp="1"/>
          </p:cNvSpPr>
          <p:nvPr>
            <p:ph idx="1"/>
          </p:nvPr>
        </p:nvSpPr>
        <p:spPr>
          <a:xfrm>
            <a:off x="1017309" y="1759637"/>
            <a:ext cx="10515600" cy="4351338"/>
          </a:xfrm>
        </p:spPr>
        <p:txBody>
          <a:bodyPr/>
          <a:p>
            <a:pPr algn="just"/>
            <a:r>
              <a:rPr b="0" dirty="0" i="0" lang="en-US">
                <a:solidFill>
                  <a:srgbClr val="000000"/>
                </a:solidFill>
                <a:effectLst/>
                <a:latin typeface="Century Gothic" panose="020B0502020202020204" pitchFamily="34" charset="0"/>
              </a:rPr>
              <a:t>The word System is derived from Greek word Systema, which means an organized relationship between any set of components to achieve some common cause or objective.</a:t>
            </a:r>
          </a:p>
          <a:p>
            <a:pPr algn="just"/>
            <a:endParaRPr b="0" dirty="0" i="0" lang="en-US">
              <a:solidFill>
                <a:srgbClr val="000000"/>
              </a:solidFill>
              <a:effectLst/>
              <a:latin typeface="Century Gothic" panose="020B0502020202020204" pitchFamily="34" charset="0"/>
            </a:endParaRPr>
          </a:p>
          <a:p>
            <a:pPr algn="just"/>
            <a:r>
              <a:rPr b="0" dirty="0" i="1" lang="en-US">
                <a:solidFill>
                  <a:srgbClr val="000000"/>
                </a:solidFill>
                <a:effectLst/>
                <a:latin typeface="Century Gothic" panose="020B0502020202020204" pitchFamily="34" charset="0"/>
              </a:rPr>
              <a:t>A system is “an orderly grouping of interdependent components linked together according to a plan to achieve a specific goal.”</a:t>
            </a:r>
            <a:endParaRPr b="0" dirty="0" i="0" lang="en-US">
              <a:solidFill>
                <a:srgbClr val="000000"/>
              </a:solidFill>
              <a:effectLst/>
              <a:latin typeface="Century Gothic" panose="020B0502020202020204" pitchFamily="34" charset="0"/>
            </a:endParaRPr>
          </a:p>
          <a:p>
            <a:pPr algn="just"/>
            <a:endParaRPr dirty="0" lang="LID4096">
              <a:latin typeface="Century Gothic" panose="020B0502020202020204" pitchFamily="34" charset="0"/>
            </a:endParaRPr>
          </a:p>
        </p:txBody>
      </p:sp>
      <p:sp>
        <p:nvSpPr>
          <p:cNvPr id="1048594"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595" name="Title 1"/>
          <p:cNvSpPr>
            <a:spLocks noGrp="1"/>
          </p:cNvSpPr>
          <p:nvPr>
            <p:ph type="title"/>
          </p:nvPr>
        </p:nvSpPr>
        <p:spPr>
          <a:xfrm>
            <a:off x="1064444" y="379869"/>
            <a:ext cx="10515600" cy="1325563"/>
          </a:xfrm>
        </p:spPr>
        <p:txBody>
          <a:bodyPr/>
          <a:p>
            <a:r>
              <a:rPr b="1" dirty="0" lang="en-US">
                <a:latin typeface="Century Gothic" panose="020B0502020202020204" pitchFamily="34" charset="0"/>
              </a:rPr>
              <a:t>System Analysis and Design (SAD)</a:t>
            </a:r>
            <a:endParaRPr b="1" dirty="0" lang="LID4096">
              <a:latin typeface="Century Gothic" panose="020B0502020202020204" pitchFamily="34" charset="0"/>
            </a:endParaRPr>
          </a:p>
        </p:txBody>
      </p:sp>
      <p:sp>
        <p:nvSpPr>
          <p:cNvPr id="1048596" name="Content Placeholder 2"/>
          <p:cNvSpPr>
            <a:spLocks noGrp="1"/>
          </p:cNvSpPr>
          <p:nvPr>
            <p:ph idx="1"/>
          </p:nvPr>
        </p:nvSpPr>
        <p:spPr>
          <a:xfrm>
            <a:off x="979603" y="1825624"/>
            <a:ext cx="10515600" cy="1483183"/>
          </a:xfrm>
        </p:spPr>
        <p:txBody>
          <a:bodyPr>
            <a:normAutofit/>
          </a:bodyPr>
          <a:p>
            <a:r>
              <a:rPr b="0" dirty="0" sz="3200" i="0" lang="en-US">
                <a:solidFill>
                  <a:srgbClr val="000000"/>
                </a:solidFill>
                <a:effectLst/>
                <a:latin typeface="Century Gothic" panose="020B0502020202020204" pitchFamily="34" charset="0"/>
              </a:rPr>
              <a:t>Systems development is systematic process which includes phases such as </a:t>
            </a:r>
            <a:r>
              <a:rPr b="1" dirty="0" sz="3200" i="0" lang="en-US">
                <a:solidFill>
                  <a:srgbClr val="FF0000"/>
                </a:solidFill>
                <a:effectLst/>
                <a:latin typeface="Century Gothic" panose="020B0502020202020204" pitchFamily="34" charset="0"/>
              </a:rPr>
              <a:t>planning, analysis, design, deployment, and maintenance. </a:t>
            </a:r>
            <a:endParaRPr b="1" dirty="0" sz="3200" lang="LID4096">
              <a:solidFill>
                <a:srgbClr val="FF0000"/>
              </a:solidFill>
              <a:latin typeface="Century Gothic" panose="020B0502020202020204" pitchFamily="34" charset="0"/>
            </a:endParaRPr>
          </a:p>
        </p:txBody>
      </p:sp>
      <p:sp>
        <p:nvSpPr>
          <p:cNvPr id="1048597" name="Content Placeholder 2"/>
          <p:cNvSpPr txBox="1"/>
          <p:nvPr/>
        </p:nvSpPr>
        <p:spPr>
          <a:xfrm>
            <a:off x="1205846" y="3549194"/>
            <a:ext cx="10515600" cy="1483183"/>
          </a:xfrm>
          <a:prstGeom prst="rect"/>
        </p:spPr>
        <p:txBody>
          <a:bodyPr bIns="45720" lIns="91440" rIns="91440" rtlCol="0" tIns="45720" vert="horz">
            <a:normAutofit/>
          </a:bodyPr>
          <a:lst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Systems analysis</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Systems design</a:t>
            </a:r>
          </a:p>
        </p:txBody>
      </p:sp>
      <p:sp>
        <p:nvSpPr>
          <p:cNvPr id="1048598" name="Rectangle 4"/>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599" name="Title 1"/>
          <p:cNvSpPr>
            <a:spLocks noGrp="1"/>
          </p:cNvSpPr>
          <p:nvPr>
            <p:ph type="title"/>
          </p:nvPr>
        </p:nvSpPr>
        <p:spPr>
          <a:xfrm>
            <a:off x="989029" y="348193"/>
            <a:ext cx="10515600" cy="924425"/>
          </a:xfrm>
        </p:spPr>
        <p:txBody>
          <a:bodyPr/>
          <a:p>
            <a:r>
              <a:rPr b="1" dirty="0" i="0" lang="en-US">
                <a:solidFill>
                  <a:srgbClr val="000000"/>
                </a:solidFill>
                <a:effectLst/>
                <a:latin typeface="Century Gothic" panose="020B0502020202020204" pitchFamily="34" charset="0"/>
              </a:rPr>
              <a:t>Systems Analysis</a:t>
            </a:r>
            <a:endParaRPr b="1" dirty="0" lang="LID4096"/>
          </a:p>
        </p:txBody>
      </p:sp>
      <p:sp>
        <p:nvSpPr>
          <p:cNvPr id="1048600" name="Content Placeholder 2"/>
          <p:cNvSpPr>
            <a:spLocks noGrp="1"/>
          </p:cNvSpPr>
          <p:nvPr>
            <p:ph idx="1"/>
          </p:nvPr>
        </p:nvSpPr>
        <p:spPr>
          <a:xfrm>
            <a:off x="989029" y="1451129"/>
            <a:ext cx="10832184" cy="4351338"/>
          </a:xfrm>
        </p:spPr>
        <p:txBody>
          <a:bodyPr>
            <a:normAutofit/>
          </a:bodyPr>
          <a:p>
            <a:pPr algn="just"/>
            <a:r>
              <a:rPr b="0" dirty="0" i="0" lang="en-US">
                <a:solidFill>
                  <a:srgbClr val="000000"/>
                </a:solidFill>
                <a:effectLst/>
                <a:latin typeface="Century Gothic" panose="020B0502020202020204" pitchFamily="34" charset="0"/>
              </a:rPr>
              <a:t>It is a process of </a:t>
            </a:r>
            <a:r>
              <a:rPr b="1" dirty="0" i="0" lang="en-US">
                <a:solidFill>
                  <a:srgbClr val="FF0000"/>
                </a:solidFill>
                <a:effectLst/>
                <a:latin typeface="Century Gothic" panose="020B0502020202020204" pitchFamily="34" charset="0"/>
              </a:rPr>
              <a:t>collecting and interpreting facts, identifying the problems, and decomposition </a:t>
            </a:r>
            <a:r>
              <a:rPr b="0" dirty="0" i="0" lang="en-US">
                <a:solidFill>
                  <a:srgbClr val="000000"/>
                </a:solidFill>
                <a:effectLst/>
                <a:latin typeface="Century Gothic" panose="020B0502020202020204" pitchFamily="34" charset="0"/>
              </a:rPr>
              <a:t>of a system into its components.</a:t>
            </a:r>
          </a:p>
          <a:p>
            <a:pPr algn="just"/>
            <a:endParaRPr b="0" dirty="0" i="0" lang="en-US">
              <a:solidFill>
                <a:srgbClr val="000000"/>
              </a:solidFill>
              <a:effectLst/>
              <a:latin typeface="Century Gothic" panose="020B0502020202020204" pitchFamily="34" charset="0"/>
            </a:endParaRPr>
          </a:p>
          <a:p>
            <a:pPr algn="just"/>
            <a:r>
              <a:rPr b="0" dirty="0" i="0" lang="en-US">
                <a:solidFill>
                  <a:srgbClr val="000000"/>
                </a:solidFill>
                <a:effectLst/>
                <a:latin typeface="Century Gothic" panose="020B0502020202020204" pitchFamily="34" charset="0"/>
              </a:rPr>
              <a:t>System analysis is conducted for the purpose of studying a system or its parts in order to identify its objectives. </a:t>
            </a:r>
          </a:p>
          <a:p>
            <a:pPr algn="just"/>
            <a:endParaRPr b="0" dirty="0" i="0" lang="en-US">
              <a:solidFill>
                <a:srgbClr val="000000"/>
              </a:solidFill>
              <a:effectLst/>
              <a:latin typeface="Century Gothic" panose="020B0502020202020204" pitchFamily="34" charset="0"/>
            </a:endParaRPr>
          </a:p>
          <a:p>
            <a:pPr algn="just"/>
            <a:endParaRPr dirty="0" lang="LID4096">
              <a:latin typeface="Century Gothic" panose="020B0502020202020204" pitchFamily="34" charset="0"/>
            </a:endParaRPr>
          </a:p>
        </p:txBody>
      </p:sp>
      <p:sp>
        <p:nvSpPr>
          <p:cNvPr id="1048601"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02" name="Title 1"/>
          <p:cNvSpPr>
            <a:spLocks noGrp="1"/>
          </p:cNvSpPr>
          <p:nvPr>
            <p:ph type="title"/>
          </p:nvPr>
        </p:nvSpPr>
        <p:spPr>
          <a:xfrm>
            <a:off x="1051089" y="197798"/>
            <a:ext cx="10515600" cy="924425"/>
          </a:xfrm>
        </p:spPr>
        <p:txBody>
          <a:bodyPr/>
          <a:p>
            <a:r>
              <a:rPr b="1" dirty="0" i="0" lang="en-US">
                <a:solidFill>
                  <a:srgbClr val="000000"/>
                </a:solidFill>
                <a:effectLst/>
                <a:latin typeface="Century Gothic" panose="020B0502020202020204" pitchFamily="34" charset="0"/>
              </a:rPr>
              <a:t>Systems Analysis</a:t>
            </a:r>
            <a:endParaRPr b="1" dirty="0" lang="LID4096"/>
          </a:p>
        </p:txBody>
      </p:sp>
      <p:sp>
        <p:nvSpPr>
          <p:cNvPr id="1048603" name="Content Placeholder 2"/>
          <p:cNvSpPr>
            <a:spLocks noGrp="1"/>
          </p:cNvSpPr>
          <p:nvPr>
            <p:ph idx="1"/>
          </p:nvPr>
        </p:nvSpPr>
        <p:spPr>
          <a:xfrm>
            <a:off x="1051089" y="1253331"/>
            <a:ext cx="10832184" cy="4351338"/>
          </a:xfrm>
        </p:spPr>
        <p:txBody>
          <a:bodyPr>
            <a:normAutofit/>
          </a:bodyPr>
          <a:p>
            <a:pPr algn="just"/>
            <a:r>
              <a:rPr b="0" dirty="0" i="0" lang="en-US">
                <a:solidFill>
                  <a:srgbClr val="000000"/>
                </a:solidFill>
                <a:effectLst/>
                <a:latin typeface="Century Gothic" panose="020B0502020202020204" pitchFamily="34" charset="0"/>
              </a:rPr>
              <a:t>It is a problem solving technique that improves the system and ensures that all the components of the system work efficiently to accomplish their purpose.</a:t>
            </a:r>
          </a:p>
          <a:p>
            <a:pPr algn="just"/>
            <a:endParaRPr b="0" dirty="0" i="0" lang="en-US">
              <a:solidFill>
                <a:srgbClr val="000000"/>
              </a:solidFill>
              <a:effectLst/>
              <a:latin typeface="Century Gothic" panose="020B0502020202020204" pitchFamily="34" charset="0"/>
            </a:endParaRPr>
          </a:p>
          <a:p>
            <a:pPr algn="just"/>
            <a:r>
              <a:rPr b="0" dirty="0" i="0" lang="en-US">
                <a:solidFill>
                  <a:srgbClr val="000000"/>
                </a:solidFill>
                <a:effectLst/>
                <a:latin typeface="Century Gothic" panose="020B0502020202020204" pitchFamily="34" charset="0"/>
              </a:rPr>
              <a:t>Analysis specifies </a:t>
            </a:r>
            <a:r>
              <a:rPr b="1" dirty="0" i="0" lang="en-US">
                <a:solidFill>
                  <a:srgbClr val="000000"/>
                </a:solidFill>
                <a:effectLst/>
                <a:latin typeface="Century Gothic" panose="020B0502020202020204" pitchFamily="34" charset="0"/>
              </a:rPr>
              <a:t>what the system should do</a:t>
            </a:r>
            <a:r>
              <a:rPr b="0" dirty="0" i="0" lang="en-US">
                <a:solidFill>
                  <a:srgbClr val="000000"/>
                </a:solidFill>
                <a:effectLst/>
                <a:latin typeface="Century Gothic" panose="020B0502020202020204" pitchFamily="34" charset="0"/>
              </a:rPr>
              <a:t>.</a:t>
            </a:r>
          </a:p>
          <a:p>
            <a:pPr algn="just"/>
            <a:endParaRPr dirty="0" lang="LID4096">
              <a:latin typeface="Century Gothic" panose="020B0502020202020204" pitchFamily="34" charset="0"/>
            </a:endParaRPr>
          </a:p>
        </p:txBody>
      </p:sp>
      <p:sp>
        <p:nvSpPr>
          <p:cNvPr id="1048604"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05" name="Title 1"/>
          <p:cNvSpPr>
            <a:spLocks noGrp="1"/>
          </p:cNvSpPr>
          <p:nvPr>
            <p:ph type="title"/>
          </p:nvPr>
        </p:nvSpPr>
        <p:spPr>
          <a:xfrm>
            <a:off x="979602" y="357620"/>
            <a:ext cx="10515600" cy="914999"/>
          </a:xfrm>
        </p:spPr>
        <p:txBody>
          <a:bodyPr/>
          <a:p>
            <a:r>
              <a:rPr b="1" dirty="0" i="0" lang="en-US">
                <a:solidFill>
                  <a:srgbClr val="000000"/>
                </a:solidFill>
                <a:effectLst/>
                <a:latin typeface="Century Gothic" panose="020B0502020202020204" pitchFamily="34" charset="0"/>
              </a:rPr>
              <a:t>Systems Design</a:t>
            </a:r>
            <a:endParaRPr b="1" dirty="0" lang="LID4096"/>
          </a:p>
        </p:txBody>
      </p:sp>
      <p:sp>
        <p:nvSpPr>
          <p:cNvPr id="1048606" name="Content Placeholder 2"/>
          <p:cNvSpPr>
            <a:spLocks noGrp="1"/>
          </p:cNvSpPr>
          <p:nvPr>
            <p:ph idx="1"/>
          </p:nvPr>
        </p:nvSpPr>
        <p:spPr>
          <a:xfrm>
            <a:off x="979602" y="1253330"/>
            <a:ext cx="10515600" cy="5247049"/>
          </a:xfrm>
        </p:spPr>
        <p:txBody>
          <a:bodyPr>
            <a:normAutofit/>
          </a:bodyPr>
          <a:p>
            <a:pPr algn="just"/>
            <a:r>
              <a:rPr b="0" dirty="0" i="0" lang="en-US">
                <a:solidFill>
                  <a:srgbClr val="000000"/>
                </a:solidFill>
                <a:effectLst/>
                <a:latin typeface="Century Gothic" panose="020B0502020202020204" pitchFamily="34" charset="0"/>
              </a:rPr>
              <a:t>It is a process of planning a new system or replacing an existing system by defining its components or modules to satisfy the specific requirements. </a:t>
            </a:r>
          </a:p>
          <a:p>
            <a:pPr algn="just"/>
            <a:endParaRPr b="0" dirty="0" i="0" lang="en-US">
              <a:solidFill>
                <a:srgbClr val="000000"/>
              </a:solidFill>
              <a:effectLst/>
              <a:latin typeface="Century Gothic" panose="020B0502020202020204" pitchFamily="34" charset="0"/>
            </a:endParaRPr>
          </a:p>
          <a:p>
            <a:pPr algn="just"/>
            <a:r>
              <a:rPr b="0" dirty="0" i="0" lang="en-US">
                <a:solidFill>
                  <a:srgbClr val="000000"/>
                </a:solidFill>
                <a:effectLst/>
                <a:latin typeface="Century Gothic" panose="020B0502020202020204" pitchFamily="34" charset="0"/>
              </a:rPr>
              <a:t>Before planning, you need to understand the old system thoroughly and determine how computers can best be used in order to operate efficiently.</a:t>
            </a:r>
          </a:p>
          <a:p>
            <a:pPr algn="just"/>
            <a:endParaRPr b="0" dirty="0" i="0" lang="en-US">
              <a:solidFill>
                <a:srgbClr val="000000"/>
              </a:solidFill>
              <a:effectLst/>
              <a:latin typeface="Century Gothic" panose="020B0502020202020204" pitchFamily="34" charset="0"/>
            </a:endParaRPr>
          </a:p>
          <a:p>
            <a:pPr algn="just"/>
            <a:r>
              <a:rPr b="0" dirty="0" i="0" lang="en-US">
                <a:solidFill>
                  <a:srgbClr val="000000"/>
                </a:solidFill>
                <a:effectLst/>
                <a:latin typeface="Century Gothic" panose="020B0502020202020204" pitchFamily="34" charset="0"/>
              </a:rPr>
              <a:t>System Design focuses on </a:t>
            </a:r>
            <a:r>
              <a:rPr b="1" dirty="0" i="0" lang="en-US">
                <a:solidFill>
                  <a:srgbClr val="000000"/>
                </a:solidFill>
                <a:effectLst/>
                <a:latin typeface="Century Gothic" panose="020B0502020202020204" pitchFamily="34" charset="0"/>
              </a:rPr>
              <a:t>how to accomplish the objective of the system</a:t>
            </a:r>
            <a:r>
              <a:rPr b="0" dirty="0" i="0" lang="en-US">
                <a:solidFill>
                  <a:srgbClr val="000000"/>
                </a:solidFill>
                <a:effectLst/>
                <a:latin typeface="Century Gothic" panose="020B0502020202020204" pitchFamily="34" charset="0"/>
              </a:rPr>
              <a:t>.</a:t>
            </a:r>
          </a:p>
          <a:p>
            <a:pPr algn="just"/>
            <a:endParaRPr dirty="0" lang="LID4096">
              <a:latin typeface="Century Gothic" panose="020B0502020202020204" pitchFamily="34" charset="0"/>
            </a:endParaRPr>
          </a:p>
        </p:txBody>
      </p:sp>
      <p:sp>
        <p:nvSpPr>
          <p:cNvPr id="1048607"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08" name="Title 1"/>
          <p:cNvSpPr>
            <a:spLocks noGrp="1"/>
          </p:cNvSpPr>
          <p:nvPr>
            <p:ph type="title"/>
          </p:nvPr>
        </p:nvSpPr>
        <p:spPr>
          <a:xfrm>
            <a:off x="1083297" y="160697"/>
            <a:ext cx="10515600" cy="859705"/>
          </a:xfrm>
        </p:spPr>
        <p:txBody>
          <a:bodyPr/>
          <a:p>
            <a:r>
              <a:rPr b="1" dirty="0" i="0" lang="en-US">
                <a:solidFill>
                  <a:srgbClr val="000000"/>
                </a:solidFill>
                <a:effectLst/>
                <a:latin typeface="Century Gothic" panose="020B0502020202020204" pitchFamily="34" charset="0"/>
              </a:rPr>
              <a:t>Systems Design</a:t>
            </a:r>
            <a:endParaRPr b="1" dirty="0" lang="LID4096"/>
          </a:p>
        </p:txBody>
      </p:sp>
      <p:sp>
        <p:nvSpPr>
          <p:cNvPr id="1048609" name="Content Placeholder 2"/>
          <p:cNvSpPr>
            <a:spLocks noGrp="1"/>
          </p:cNvSpPr>
          <p:nvPr>
            <p:ph idx="1"/>
          </p:nvPr>
        </p:nvSpPr>
        <p:spPr>
          <a:xfrm>
            <a:off x="1083297" y="1382565"/>
            <a:ext cx="10515600" cy="4351338"/>
          </a:xfrm>
        </p:spPr>
        <p:txBody>
          <a:bodyPr>
            <a:normAutofit/>
          </a:bodyPr>
          <a:p>
            <a:pPr algn="just"/>
            <a:r>
              <a:rPr b="0" dirty="0" sz="3200" i="0" lang="en-US">
                <a:solidFill>
                  <a:srgbClr val="000000"/>
                </a:solidFill>
                <a:effectLst/>
                <a:latin typeface="Century Gothic" panose="020B0502020202020204" pitchFamily="34" charset="0"/>
              </a:rPr>
              <a:t>System Design focuses on </a:t>
            </a:r>
            <a:r>
              <a:rPr b="1" dirty="0" sz="3200" i="0" lang="en-US">
                <a:solidFill>
                  <a:srgbClr val="000000"/>
                </a:solidFill>
                <a:effectLst/>
                <a:latin typeface="Century Gothic" panose="020B0502020202020204" pitchFamily="34" charset="0"/>
              </a:rPr>
              <a:t>how to accomplish the objective of the system</a:t>
            </a:r>
            <a:r>
              <a:rPr b="0" dirty="0" sz="3200" i="0" lang="en-US">
                <a:solidFill>
                  <a:srgbClr val="000000"/>
                </a:solidFill>
                <a:effectLst/>
                <a:latin typeface="Century Gothic" panose="020B0502020202020204" pitchFamily="34" charset="0"/>
              </a:rPr>
              <a:t>.</a:t>
            </a:r>
          </a:p>
          <a:p>
            <a:pPr algn="just"/>
            <a:endParaRPr b="0" dirty="0" sz="3200" i="0" lang="en-US">
              <a:solidFill>
                <a:srgbClr val="000000"/>
              </a:solidFill>
              <a:effectLst/>
              <a:latin typeface="Century Gothic" panose="020B0502020202020204" pitchFamily="34" charset="0"/>
            </a:endParaRPr>
          </a:p>
          <a:p>
            <a:pPr algn="just"/>
            <a:r>
              <a:rPr b="0" dirty="0" sz="3200" i="0" lang="en-US">
                <a:solidFill>
                  <a:srgbClr val="000000"/>
                </a:solidFill>
                <a:effectLst/>
                <a:latin typeface="Century Gothic" panose="020B0502020202020204" pitchFamily="34" charset="0"/>
              </a:rPr>
              <a:t>System Analysis and Design (SAD) mainly focuses on −</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Systems</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Processes</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Technology</a:t>
            </a:r>
          </a:p>
          <a:p>
            <a:pPr algn="just"/>
            <a:endParaRPr b="0" dirty="0" sz="3200" i="0" lang="en-US">
              <a:solidFill>
                <a:srgbClr val="000000"/>
              </a:solidFill>
              <a:effectLst/>
              <a:latin typeface="Century Gothic" panose="020B0502020202020204" pitchFamily="34" charset="0"/>
            </a:endParaRPr>
          </a:p>
          <a:p>
            <a:pPr algn="just"/>
            <a:endParaRPr dirty="0" sz="3200" lang="LID4096">
              <a:latin typeface="Century Gothic" panose="020B0502020202020204" pitchFamily="34" charset="0"/>
            </a:endParaRPr>
          </a:p>
        </p:txBody>
      </p:sp>
      <p:sp>
        <p:nvSpPr>
          <p:cNvPr id="1048610"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11"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12" name="Content Placeholder 2"/>
          <p:cNvSpPr>
            <a:spLocks noGrp="1"/>
          </p:cNvSpPr>
          <p:nvPr>
            <p:ph idx="1"/>
          </p:nvPr>
        </p:nvSpPr>
        <p:spPr>
          <a:xfrm>
            <a:off x="1168138" y="1690688"/>
            <a:ext cx="10515600" cy="4351338"/>
          </a:xfrm>
        </p:spPr>
        <p:txBody>
          <a:bodyPr>
            <a:normAutofit/>
          </a:bodyPr>
          <a:p>
            <a:pPr algn="l" indent="0" marL="0">
              <a:buNone/>
            </a:pPr>
            <a:r>
              <a:rPr b="0" dirty="0" i="0" lang="en-US">
                <a:solidFill>
                  <a:srgbClr val="000000"/>
                </a:solidFill>
                <a:effectLst/>
                <a:latin typeface="Century Gothic" panose="020B0502020202020204" pitchFamily="34" charset="0"/>
              </a:rPr>
              <a:t>A system must have </a:t>
            </a:r>
            <a:r>
              <a:rPr b="1" dirty="0" i="0" lang="en-US">
                <a:solidFill>
                  <a:srgbClr val="FF0000"/>
                </a:solidFill>
                <a:effectLst/>
                <a:latin typeface="Century Gothic" panose="020B0502020202020204" pitchFamily="34" charset="0"/>
              </a:rPr>
              <a:t>three basic constraints </a:t>
            </a:r>
            <a:r>
              <a:rPr b="0" dirty="0" i="0" lang="en-US">
                <a:solidFill>
                  <a:srgbClr val="000000"/>
                </a:solidFill>
                <a:effectLst/>
                <a:latin typeface="Century Gothic" panose="020B0502020202020204" pitchFamily="34" charset="0"/>
              </a:rPr>
              <a:t>−</a:t>
            </a:r>
          </a:p>
          <a:p>
            <a:pPr algn="l">
              <a:buFont typeface="Arial" panose="020B0604020202020204" pitchFamily="34" charset="0"/>
              <a:buChar char="•"/>
            </a:pPr>
            <a:r>
              <a:rPr b="0" dirty="0" i="0" lang="en-US">
                <a:solidFill>
                  <a:srgbClr val="000000"/>
                </a:solidFill>
                <a:effectLst/>
                <a:latin typeface="Century Gothic" panose="020B0502020202020204" pitchFamily="34" charset="0"/>
              </a:rPr>
              <a:t>A system must have some </a:t>
            </a:r>
            <a:r>
              <a:rPr b="1" dirty="0" i="0" lang="en-US">
                <a:solidFill>
                  <a:srgbClr val="000000"/>
                </a:solidFill>
                <a:effectLst/>
                <a:latin typeface="Century Gothic" panose="020B0502020202020204" pitchFamily="34" charset="0"/>
              </a:rPr>
              <a:t>structure and behavior</a:t>
            </a:r>
            <a:r>
              <a:rPr b="0" dirty="0" i="0" lang="en-US">
                <a:solidFill>
                  <a:srgbClr val="000000"/>
                </a:solidFill>
                <a:effectLst/>
                <a:latin typeface="Century Gothic" panose="020B0502020202020204" pitchFamily="34" charset="0"/>
              </a:rPr>
              <a:t> which is designed to achieve a predefined objective.</a:t>
            </a:r>
          </a:p>
          <a:p>
            <a:pPr algn="l">
              <a:buFont typeface="Arial" panose="020B0604020202020204" pitchFamily="34" charset="0"/>
              <a:buChar char="•"/>
            </a:pPr>
            <a:endParaRPr b="0" dirty="0" i="0" lang="en-US">
              <a:solidFill>
                <a:srgbClr val="000000"/>
              </a:solidFill>
              <a:effectLst/>
              <a:latin typeface="Century Gothic" panose="020B0502020202020204" pitchFamily="34" charset="0"/>
            </a:endParaRPr>
          </a:p>
          <a:p>
            <a:pPr lvl="1">
              <a:buFont typeface="Wingdings" panose="05000000000000000000" pitchFamily="2" charset="2"/>
              <a:buChar char="§"/>
            </a:pPr>
            <a:r>
              <a:rPr b="1" dirty="0" sz="2200" lang="en-US">
                <a:effectLst/>
                <a:latin typeface="Century Gothic" panose="020B0502020202020204" pitchFamily="34" charset="0"/>
                <a:ea typeface="Times New Roman" panose="02020603050405020304" pitchFamily="18" charset="0"/>
              </a:rPr>
              <a:t>Structure</a:t>
            </a:r>
            <a:r>
              <a:rPr dirty="0" sz="2200" lang="en-US">
                <a:effectLst/>
                <a:latin typeface="Century Gothic" panose="020B0502020202020204" pitchFamily="34" charset="0"/>
                <a:ea typeface="Times New Roman" panose="02020603050405020304" pitchFamily="18" charset="0"/>
              </a:rPr>
              <a:t>: The system's components and their arrangement or relationships. For example, in a computer system, the structure includes hardware (e.g., CPU, memory, I/O devices) and software layers.</a:t>
            </a:r>
          </a:p>
          <a:p>
            <a:pPr lvl="1">
              <a:buFont typeface="Wingdings" panose="05000000000000000000" pitchFamily="2" charset="2"/>
              <a:buChar char="§"/>
            </a:pPr>
            <a:endParaRPr dirty="0" sz="2200" lang="en-US">
              <a:effectLst/>
              <a:latin typeface="Century Gothic" panose="020B0502020202020204" pitchFamily="34" charset="0"/>
              <a:ea typeface="Times New Roman" panose="02020603050405020304" pitchFamily="18" charset="0"/>
            </a:endParaRPr>
          </a:p>
          <a:p>
            <a:pPr lvl="1">
              <a:buFont typeface="Wingdings" panose="05000000000000000000" pitchFamily="2" charset="2"/>
              <a:buChar char="§"/>
            </a:pPr>
            <a:r>
              <a:rPr b="1" dirty="0" sz="2200" lang="en-US">
                <a:effectLst/>
                <a:latin typeface="Century Gothic" panose="020B0502020202020204" pitchFamily="34" charset="0"/>
                <a:ea typeface="Times New Roman" panose="02020603050405020304" pitchFamily="18" charset="0"/>
              </a:rPr>
              <a:t>Behavior</a:t>
            </a:r>
            <a:r>
              <a:rPr dirty="0" sz="2200" lang="en-US">
                <a:effectLst/>
                <a:latin typeface="Century Gothic" panose="020B0502020202020204" pitchFamily="34" charset="0"/>
                <a:ea typeface="Times New Roman" panose="02020603050405020304" pitchFamily="18" charset="0"/>
              </a:rPr>
              <a:t>: How the system operates and interacts internally and externally to perform its tasks. This involves processes, data flow, decision-making, and outputs</a:t>
            </a:r>
            <a:r>
              <a:rPr dirty="0" sz="1400" lang="en-US">
                <a:effectLst/>
                <a:latin typeface="Times New Roman" panose="02020603050405020304" pitchFamily="18" charset="0"/>
                <a:ea typeface="Times New Roman" panose="02020603050405020304" pitchFamily="18" charset="0"/>
              </a:rPr>
              <a:t>.</a:t>
            </a:r>
          </a:p>
          <a:p>
            <a:pPr algn="l">
              <a:buFont typeface="Arial" panose="020B0604020202020204" pitchFamily="34" charset="0"/>
              <a:buChar char="•"/>
            </a:pPr>
            <a:endParaRPr b="0" dirty="0" i="0" lang="en-US">
              <a:solidFill>
                <a:srgbClr val="000000"/>
              </a:solidFill>
              <a:effectLst/>
              <a:latin typeface="Century Gothic" panose="020B0502020202020204" pitchFamily="34" charset="0"/>
            </a:endParaRPr>
          </a:p>
          <a:p>
            <a:pPr algn="l"/>
            <a:endParaRPr b="0" dirty="0" i="0" lang="en-US">
              <a:solidFill>
                <a:srgbClr val="000000"/>
              </a:solidFill>
              <a:effectLst/>
              <a:latin typeface="Century Gothic" panose="020B0502020202020204" pitchFamily="34" charset="0"/>
            </a:endParaRPr>
          </a:p>
          <a:p>
            <a:endParaRPr dirty="0" lang="LID4096">
              <a:latin typeface="Century Gothic" panose="020B0502020202020204" pitchFamily="34" charset="0"/>
            </a:endParaRPr>
          </a:p>
        </p:txBody>
      </p:sp>
      <p:sp>
        <p:nvSpPr>
          <p:cNvPr id="1048613"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14"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15" name="Content Placeholder 2"/>
          <p:cNvSpPr>
            <a:spLocks noGrp="1"/>
          </p:cNvSpPr>
          <p:nvPr>
            <p:ph idx="1"/>
          </p:nvPr>
        </p:nvSpPr>
        <p:spPr>
          <a:xfrm>
            <a:off x="1168138" y="1690688"/>
            <a:ext cx="10515600" cy="4351338"/>
          </a:xfrm>
        </p:spPr>
        <p:txBody>
          <a:bodyPr>
            <a:normAutofit/>
          </a:bodyPr>
          <a:p>
            <a:pPr algn="l">
              <a:buFont typeface="Arial" panose="020B0604020202020204" pitchFamily="34" charset="0"/>
              <a:buChar char="•"/>
            </a:pPr>
            <a:r>
              <a:rPr b="1" dirty="0" i="0" lang="en-US">
                <a:solidFill>
                  <a:srgbClr val="000000"/>
                </a:solidFill>
                <a:effectLst/>
                <a:latin typeface="Century Gothic" panose="020B0502020202020204" pitchFamily="34" charset="0"/>
              </a:rPr>
              <a:t>Interconnectivity</a:t>
            </a:r>
            <a:r>
              <a:rPr b="0" dirty="0" i="0" lang="en-US">
                <a:solidFill>
                  <a:srgbClr val="000000"/>
                </a:solidFill>
                <a:effectLst/>
                <a:latin typeface="Century Gothic" panose="020B0502020202020204" pitchFamily="34" charset="0"/>
              </a:rPr>
              <a:t> and </a:t>
            </a:r>
            <a:r>
              <a:rPr b="1" dirty="0" i="0" lang="en-US">
                <a:solidFill>
                  <a:srgbClr val="000000"/>
                </a:solidFill>
                <a:effectLst/>
                <a:latin typeface="Century Gothic" panose="020B0502020202020204" pitchFamily="34" charset="0"/>
              </a:rPr>
              <a:t>interdependence</a:t>
            </a:r>
            <a:r>
              <a:rPr b="0" dirty="0" i="0" lang="en-US">
                <a:solidFill>
                  <a:srgbClr val="000000"/>
                </a:solidFill>
                <a:effectLst/>
                <a:latin typeface="Century Gothic" panose="020B0502020202020204" pitchFamily="34" charset="0"/>
              </a:rPr>
              <a:t> must exist among the system components.</a:t>
            </a:r>
          </a:p>
          <a:p>
            <a:pPr indent="0" marL="0" marR="0">
              <a:lnSpc>
                <a:spcPct val="107000"/>
              </a:lnSpc>
              <a:spcAft>
                <a:spcPts val="800"/>
              </a:spcAft>
              <a:buNone/>
            </a:pP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Interconnectivity</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refers to the relationships and links between the components of the system. Without connections, the components would act in isolation, and the system would fail to achieve its objective. For example:</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In a </a:t>
            </a: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computer system</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the CPU, memory, and input/output devices are interconnected via buses and interfaces to ensure data flow and communication.</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In an </a:t>
            </a: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ecosystem</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animals, plants, and microorganisms are connected through food chains and nutrient cycles.</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algn="l"/>
            <a:endParaRPr b="0" dirty="0" i="0" lang="en-US">
              <a:solidFill>
                <a:srgbClr val="000000"/>
              </a:solidFill>
              <a:effectLst/>
              <a:latin typeface="Century Gothic" panose="020B0502020202020204" pitchFamily="34" charset="0"/>
            </a:endParaRPr>
          </a:p>
          <a:p>
            <a:endParaRPr dirty="0" lang="LID4096">
              <a:latin typeface="Century Gothic" panose="020B0502020202020204" pitchFamily="34" charset="0"/>
            </a:endParaRPr>
          </a:p>
        </p:txBody>
      </p:sp>
      <p:sp>
        <p:nvSpPr>
          <p:cNvPr id="1048616"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17"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18" name="Content Placeholder 2"/>
          <p:cNvSpPr>
            <a:spLocks noGrp="1"/>
          </p:cNvSpPr>
          <p:nvPr>
            <p:ph idx="1"/>
          </p:nvPr>
        </p:nvSpPr>
        <p:spPr>
          <a:xfrm>
            <a:off x="1168138" y="1690688"/>
            <a:ext cx="10515600" cy="4351338"/>
          </a:xfrm>
        </p:spPr>
        <p:txBody>
          <a:bodyPr>
            <a:noAutofit/>
          </a:bodyPr>
          <a:p>
            <a:pPr indent="0" marL="0" marR="0">
              <a:lnSpc>
                <a:spcPct val="107000"/>
              </a:lnSpc>
              <a:spcAft>
                <a:spcPts val="800"/>
              </a:spcAft>
              <a:buNone/>
            </a:pP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Interdependence</a:t>
            </a:r>
            <a:endParaRPr dirty="0" sz="24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0" marL="0" marR="0">
              <a:lnSpc>
                <a:spcPct val="107000"/>
              </a:lnSpc>
              <a:spcAft>
                <a:spcPts val="800"/>
              </a:spcAft>
              <a:buNone/>
            </a:pP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This means that the components rely on each other to function. Each component plays a specific role, and the failure of one component can impact the entire system. For example:</a:t>
            </a:r>
            <a:endParaRPr dirty="0" sz="24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In a </a:t>
            </a: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manufacturing system</a:t>
            </a: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 machines, workers, and logistics depend on each other to ensure smooth production.</a:t>
            </a:r>
            <a:endParaRPr dirty="0" sz="24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In a </a:t>
            </a: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business organization</a:t>
            </a: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 departments like sales, marketing, and operations are interdependent, as one cannot achieve its objectives without support from the others.</a:t>
            </a:r>
            <a:endParaRPr dirty="0" sz="2400" lang="en-US">
              <a:effectLst/>
              <a:latin typeface="Century Gothic" panose="020B0502020202020204" pitchFamily="34" charset="0"/>
              <a:ea typeface="DengXian" panose="02010600030101010101" pitchFamily="2" charset="-122"/>
              <a:cs typeface="Times New Roman" panose="02020603050405020304" pitchFamily="18" charset="0"/>
            </a:endParaRPr>
          </a:p>
          <a:p>
            <a:pPr algn="l"/>
            <a:endParaRPr b="0" dirty="0" sz="2400" i="0" lang="en-US">
              <a:solidFill>
                <a:srgbClr val="000000"/>
              </a:solidFill>
              <a:effectLst/>
              <a:latin typeface="Century Gothic" panose="020B0502020202020204" pitchFamily="34" charset="0"/>
            </a:endParaRPr>
          </a:p>
          <a:p>
            <a:endParaRPr dirty="0" sz="2400" lang="LID4096">
              <a:latin typeface="Century Gothic" panose="020B0502020202020204" pitchFamily="34" charset="0"/>
            </a:endParaRPr>
          </a:p>
        </p:txBody>
      </p:sp>
      <p:sp>
        <p:nvSpPr>
          <p:cNvPr id="1048619"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20"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21" name="Content Placeholder 2"/>
          <p:cNvSpPr>
            <a:spLocks noGrp="1"/>
          </p:cNvSpPr>
          <p:nvPr>
            <p:ph idx="1"/>
          </p:nvPr>
        </p:nvSpPr>
        <p:spPr>
          <a:xfrm>
            <a:off x="1168138" y="1690688"/>
            <a:ext cx="10515600" cy="4351338"/>
          </a:xfrm>
        </p:spPr>
        <p:txBody>
          <a:bodyPr>
            <a:noAutofit/>
          </a:bodyPr>
          <a:p>
            <a:pPr indent="0" marL="0" marR="0">
              <a:lnSpc>
                <a:spcPct val="107000"/>
              </a:lnSpc>
              <a:spcAft>
                <a:spcPts val="800"/>
              </a:spcAft>
              <a:buNone/>
            </a:pPr>
            <a:r>
              <a:rPr b="1" dirty="0" lang="en-US">
                <a:effectLst/>
                <a:latin typeface="Century Gothic" panose="020B0502020202020204" pitchFamily="34" charset="0"/>
                <a:ea typeface="Times New Roman" panose="02020603050405020304" pitchFamily="18" charset="0"/>
                <a:cs typeface="Times New Roman" panose="02020603050405020304" pitchFamily="18" charset="0"/>
              </a:rPr>
              <a:t>Why are these important?</a:t>
            </a:r>
            <a:endParaRPr dirty="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b="1" dirty="0" lang="en-US">
                <a:effectLst/>
                <a:latin typeface="Century Gothic" panose="020B0502020202020204" pitchFamily="34" charset="0"/>
                <a:ea typeface="Times New Roman" panose="02020603050405020304" pitchFamily="18" charset="0"/>
                <a:cs typeface="Times New Roman" panose="02020603050405020304" pitchFamily="18" charset="0"/>
              </a:rPr>
              <a:t>Efficiency</a:t>
            </a:r>
            <a:r>
              <a:rPr dirty="0" lang="en-US">
                <a:effectLst/>
                <a:latin typeface="Century Gothic" panose="020B0502020202020204" pitchFamily="34" charset="0"/>
                <a:ea typeface="Times New Roman" panose="02020603050405020304" pitchFamily="18" charset="0"/>
                <a:cs typeface="Times New Roman" panose="02020603050405020304" pitchFamily="18" charset="0"/>
              </a:rPr>
              <a:t>: Interconnectivity and interdependence optimize the use of resources.</a:t>
            </a:r>
            <a:endParaRPr dirty="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b="1" dirty="0" lang="en-US">
                <a:effectLst/>
                <a:latin typeface="Century Gothic" panose="020B0502020202020204" pitchFamily="34" charset="0"/>
                <a:ea typeface="Times New Roman" panose="02020603050405020304" pitchFamily="18" charset="0"/>
                <a:cs typeface="Times New Roman" panose="02020603050405020304" pitchFamily="18" charset="0"/>
              </a:rPr>
              <a:t>Functionality</a:t>
            </a:r>
            <a:r>
              <a:rPr dirty="0" lang="en-US">
                <a:effectLst/>
                <a:latin typeface="Century Gothic" panose="020B0502020202020204" pitchFamily="34" charset="0"/>
                <a:ea typeface="Times New Roman" panose="02020603050405020304" pitchFamily="18" charset="0"/>
                <a:cs typeface="Times New Roman" panose="02020603050405020304" pitchFamily="18" charset="0"/>
              </a:rPr>
              <a:t>: They ensure the system works as a unified whole.</a:t>
            </a:r>
            <a:endParaRPr dirty="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SzPts val="1000"/>
              <a:buFont typeface="Symbol" panose="05050102010706020507" pitchFamily="18" charset="2"/>
              <a:buChar char=""/>
              <a:tabLst>
                <a:tab algn="l" pos="457200"/>
              </a:tabLst>
            </a:pPr>
            <a:r>
              <a:rPr b="1" dirty="0" lang="en-US">
                <a:effectLst/>
                <a:latin typeface="Century Gothic" panose="020B0502020202020204" pitchFamily="34" charset="0"/>
                <a:ea typeface="Times New Roman" panose="02020603050405020304" pitchFamily="18" charset="0"/>
                <a:cs typeface="Times New Roman" panose="02020603050405020304" pitchFamily="18" charset="0"/>
              </a:rPr>
              <a:t>Resilience</a:t>
            </a:r>
            <a:r>
              <a:rPr dirty="0" lang="en-US">
                <a:effectLst/>
                <a:latin typeface="Century Gothic" panose="020B0502020202020204" pitchFamily="34" charset="0"/>
                <a:ea typeface="Times New Roman" panose="02020603050405020304" pitchFamily="18" charset="0"/>
                <a:cs typeface="Times New Roman" panose="02020603050405020304" pitchFamily="18" charset="0"/>
              </a:rPr>
              <a:t>: A well-designed system with strong interconnections can adapt and recover from failures in individual components.</a:t>
            </a:r>
            <a:endParaRPr dirty="0" lang="en-US">
              <a:effectLst/>
              <a:latin typeface="Century Gothic" panose="020B0502020202020204" pitchFamily="34" charset="0"/>
              <a:ea typeface="DengXian" panose="02010600030101010101" pitchFamily="2" charset="-122"/>
              <a:cs typeface="Times New Roman" panose="02020603050405020304" pitchFamily="18" charset="0"/>
            </a:endParaRPr>
          </a:p>
          <a:p>
            <a:pPr algn="l"/>
            <a:endParaRPr b="0" dirty="0" i="0" lang="en-US">
              <a:solidFill>
                <a:srgbClr val="000000"/>
              </a:solidFill>
              <a:effectLst/>
              <a:latin typeface="Century Gothic" panose="020B0502020202020204" pitchFamily="34" charset="0"/>
            </a:endParaRPr>
          </a:p>
          <a:p>
            <a:endParaRPr dirty="0" lang="LID4096">
              <a:latin typeface="Century Gothic" panose="020B0502020202020204" pitchFamily="34" charset="0"/>
            </a:endParaRPr>
          </a:p>
        </p:txBody>
      </p:sp>
      <p:sp>
        <p:nvSpPr>
          <p:cNvPr id="1048622"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23"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24" name="Content Placeholder 2"/>
          <p:cNvSpPr>
            <a:spLocks noGrp="1"/>
          </p:cNvSpPr>
          <p:nvPr>
            <p:ph idx="1"/>
          </p:nvPr>
        </p:nvSpPr>
        <p:spPr>
          <a:xfrm>
            <a:off x="1168138" y="1690688"/>
            <a:ext cx="10515600" cy="4351338"/>
          </a:xfrm>
        </p:spPr>
        <p:txBody>
          <a:bodyPr>
            <a:normAutofit/>
          </a:bodyPr>
          <a:p>
            <a:pPr algn="l">
              <a:buFont typeface="Arial" panose="020B0604020202020204" pitchFamily="34" charset="0"/>
              <a:buChar char="•"/>
            </a:pPr>
            <a:r>
              <a:rPr b="0" dirty="0" i="0" lang="en-US">
                <a:solidFill>
                  <a:srgbClr val="000000"/>
                </a:solidFill>
                <a:effectLst/>
                <a:latin typeface="Century Gothic" panose="020B0502020202020204" pitchFamily="34" charset="0"/>
              </a:rPr>
              <a:t>The </a:t>
            </a:r>
            <a:r>
              <a:rPr b="1" dirty="0" i="0" lang="en-US">
                <a:solidFill>
                  <a:srgbClr val="000000"/>
                </a:solidFill>
                <a:effectLst/>
                <a:latin typeface="Century Gothic" panose="020B0502020202020204" pitchFamily="34" charset="0"/>
              </a:rPr>
              <a:t>objectives of the organization</a:t>
            </a:r>
            <a:r>
              <a:rPr b="0" dirty="0" i="0" lang="en-US">
                <a:solidFill>
                  <a:srgbClr val="000000"/>
                </a:solidFill>
                <a:effectLst/>
                <a:latin typeface="Century Gothic" panose="020B0502020202020204" pitchFamily="34" charset="0"/>
              </a:rPr>
              <a:t> have a </a:t>
            </a:r>
            <a:r>
              <a:rPr b="1" dirty="0" i="0" lang="en-US">
                <a:solidFill>
                  <a:srgbClr val="000000"/>
                </a:solidFill>
                <a:effectLst/>
                <a:latin typeface="Century Gothic" panose="020B0502020202020204" pitchFamily="34" charset="0"/>
              </a:rPr>
              <a:t>higher priority</a:t>
            </a:r>
            <a:r>
              <a:rPr b="0" dirty="0" i="0" lang="en-US">
                <a:solidFill>
                  <a:srgbClr val="000000"/>
                </a:solidFill>
                <a:effectLst/>
                <a:latin typeface="Century Gothic" panose="020B0502020202020204" pitchFamily="34" charset="0"/>
              </a:rPr>
              <a:t> than the objectives of its subsystems.</a:t>
            </a:r>
          </a:p>
          <a:p>
            <a:pPr algn="just">
              <a:buFont typeface="Courier New" panose="02070309020205020404" pitchFamily="49" charset="0"/>
              <a:buChar char="o"/>
            </a:pP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In a well-functioning system, the </a:t>
            </a: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objectives of the organization (or the overall system)</a:t>
            </a: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 take precedence over the objectives of its </a:t>
            </a: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subsystems</a:t>
            </a: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 </a:t>
            </a:r>
          </a:p>
          <a:p>
            <a:pPr algn="just">
              <a:buFont typeface="Courier New" panose="02070309020205020404" pitchFamily="49" charset="0"/>
              <a:buChar char="o"/>
            </a:pP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This principle ensures that all components work together cohesively to achieve the </a:t>
            </a:r>
            <a:r>
              <a:rPr b="1" dirty="0" sz="2400" lang="en-US">
                <a:effectLst/>
                <a:latin typeface="Century Gothic" panose="020B0502020202020204" pitchFamily="34" charset="0"/>
                <a:ea typeface="Times New Roman" panose="02020603050405020304" pitchFamily="18" charset="0"/>
                <a:cs typeface="Times New Roman" panose="02020603050405020304" pitchFamily="18" charset="0"/>
              </a:rPr>
              <a:t>greater goal</a:t>
            </a:r>
            <a:r>
              <a:rPr dirty="0" sz="2400" lang="en-US">
                <a:effectLst/>
                <a:latin typeface="Century Gothic" panose="020B0502020202020204" pitchFamily="34" charset="0"/>
                <a:ea typeface="Times New Roman" panose="02020603050405020304" pitchFamily="18" charset="0"/>
                <a:cs typeface="Times New Roman" panose="02020603050405020304" pitchFamily="18" charset="0"/>
              </a:rPr>
              <a:t>, even if it means compromising on individual goals.</a:t>
            </a:r>
            <a:endParaRPr dirty="0" sz="2400" lang="en-US">
              <a:effectLst/>
              <a:latin typeface="Century Gothic" panose="020B0502020202020204" pitchFamily="34" charset="0"/>
              <a:ea typeface="DengXian" panose="02010600030101010101" pitchFamily="2" charset="-122"/>
              <a:cs typeface="Times New Roman" panose="02020603050405020304" pitchFamily="18" charset="0"/>
            </a:endParaRPr>
          </a:p>
          <a:p>
            <a:pPr algn="l"/>
            <a:endParaRPr b="0" dirty="0" i="0" lang="en-US">
              <a:solidFill>
                <a:srgbClr val="000000"/>
              </a:solidFill>
              <a:effectLst/>
              <a:latin typeface="Century Gothic" panose="020B0502020202020204" pitchFamily="34" charset="0"/>
            </a:endParaRPr>
          </a:p>
          <a:p>
            <a:endParaRPr dirty="0" lang="LID4096">
              <a:latin typeface="Century Gothic" panose="020B0502020202020204" pitchFamily="34" charset="0"/>
            </a:endParaRPr>
          </a:p>
        </p:txBody>
      </p:sp>
      <p:sp>
        <p:nvSpPr>
          <p:cNvPr id="1048625"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26"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27" name="Content Placeholder 2"/>
          <p:cNvSpPr>
            <a:spLocks noGrp="1"/>
          </p:cNvSpPr>
          <p:nvPr>
            <p:ph idx="1"/>
          </p:nvPr>
        </p:nvSpPr>
        <p:spPr>
          <a:xfrm>
            <a:off x="1168138" y="1690688"/>
            <a:ext cx="10515600" cy="4351338"/>
          </a:xfrm>
        </p:spPr>
        <p:txBody>
          <a:bodyPr>
            <a:noAutofit/>
          </a:bodyPr>
          <a:p>
            <a:pPr marL="0" marR="0">
              <a:lnSpc>
                <a:spcPct val="107000"/>
              </a:lnSpc>
              <a:spcAft>
                <a:spcPts val="800"/>
              </a:spcAft>
            </a:pP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Why is this principle important?</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342900" lvl="0" marL="342900" marR="0">
              <a:lnSpc>
                <a:spcPct val="107000"/>
              </a:lnSpc>
              <a:spcAft>
                <a:spcPts val="800"/>
              </a:spcAft>
              <a:buFont typeface="+mj-lt"/>
              <a:buAutoNum type="arabicPeriod"/>
              <a:tabLst>
                <a:tab algn="l" pos="457200"/>
              </a:tabLst>
            </a:pP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Alignment of Goals</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a:t>
            </a:r>
            <a:b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b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If subsystems prioritize their objectives over the organization's, conflicts and inefficiencies may arise. For example:</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285750" lvl="1" marL="742950" marR="0">
              <a:lnSpc>
                <a:spcPct val="107000"/>
              </a:lnSpc>
              <a:spcAft>
                <a:spcPts val="800"/>
              </a:spcAft>
              <a:buSzPts val="1000"/>
              <a:buFont typeface="Courier New" panose="02070309020205020404" pitchFamily="49" charset="0"/>
              <a:buChar char="o"/>
              <a:tabLst>
                <a:tab algn="l" pos="9144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In a </a:t>
            </a: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business</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if the sales department focuses only on revenue while neglecting customer satisfaction, it could harm the company’s reputation and long-term success.</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285750" lvl="1" marL="742950" marR="0">
              <a:lnSpc>
                <a:spcPct val="107000"/>
              </a:lnSpc>
              <a:spcAft>
                <a:spcPts val="800"/>
              </a:spcAft>
              <a:buSzPts val="1000"/>
              <a:buFont typeface="Courier New" panose="02070309020205020404" pitchFamily="49" charset="0"/>
              <a:buChar char="o"/>
              <a:tabLst>
                <a:tab algn="l" pos="9144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In a </a:t>
            </a: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sports team</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if each player focuses solely on personal stats rather than the team’s victory, the team may lose.</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endParaRPr dirty="0" sz="2000" lang="LID4096">
              <a:latin typeface="Century Gothic" panose="020B0502020202020204" pitchFamily="34" charset="0"/>
            </a:endParaRPr>
          </a:p>
        </p:txBody>
      </p:sp>
      <p:sp>
        <p:nvSpPr>
          <p:cNvPr id="1048628"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29" name="Title 1"/>
          <p:cNvSpPr>
            <a:spLocks noGrp="1"/>
          </p:cNvSpPr>
          <p:nvPr>
            <p:ph type="title"/>
          </p:nvPr>
        </p:nvSpPr>
        <p:spPr>
          <a:xfrm>
            <a:off x="1036163" y="365125"/>
            <a:ext cx="10515600" cy="1325563"/>
          </a:xfrm>
        </p:spPr>
        <p:txBody>
          <a:bodyPr/>
          <a:p>
            <a:r>
              <a:rPr b="1" dirty="0" i="0" lang="en-US">
                <a:effectLst/>
                <a:latin typeface="Century Gothic" panose="020B0502020202020204" pitchFamily="34" charset="0"/>
              </a:rPr>
              <a:t>Constraints of a System</a:t>
            </a:r>
            <a:endParaRPr b="1" dirty="0" lang="LID4096">
              <a:latin typeface="Century Gothic" panose="020B0502020202020204" pitchFamily="34" charset="0"/>
            </a:endParaRPr>
          </a:p>
        </p:txBody>
      </p:sp>
      <p:sp>
        <p:nvSpPr>
          <p:cNvPr id="1048630" name="Content Placeholder 2"/>
          <p:cNvSpPr>
            <a:spLocks noGrp="1"/>
          </p:cNvSpPr>
          <p:nvPr>
            <p:ph idx="1"/>
          </p:nvPr>
        </p:nvSpPr>
        <p:spPr>
          <a:xfrm>
            <a:off x="1168138" y="1690688"/>
            <a:ext cx="10515600" cy="4351338"/>
          </a:xfrm>
        </p:spPr>
        <p:txBody>
          <a:bodyPr>
            <a:noAutofit/>
          </a:bodyPr>
          <a:p>
            <a:pPr indent="0" lvl="0" marL="0" marR="0">
              <a:lnSpc>
                <a:spcPct val="107000"/>
              </a:lnSpc>
              <a:spcAft>
                <a:spcPts val="800"/>
              </a:spcAft>
              <a:buNone/>
              <a:tabLst>
                <a:tab algn="l" pos="457200"/>
              </a:tabLst>
            </a:pP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2. System Optimization vs. Subsystem Optimization</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285750" lvl="1" marL="742950" marR="0">
              <a:lnSpc>
                <a:spcPct val="107000"/>
              </a:lnSpc>
              <a:spcAft>
                <a:spcPts val="800"/>
              </a:spcAft>
              <a:buSzPts val="1000"/>
              <a:buFont typeface="Courier New" panose="02070309020205020404" pitchFamily="49" charset="0"/>
              <a:buChar char="o"/>
              <a:tabLst>
                <a:tab algn="l" pos="9144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Optimizing individual subsystems may not optimize the entire system. For example, in a </a:t>
            </a: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supply chain</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 focusing solely on minimizing manufacturing costs might lead to delays in delivery, impacting customer satisfaction.</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0" lvl="0" marL="0" marR="0">
              <a:lnSpc>
                <a:spcPct val="107000"/>
              </a:lnSpc>
              <a:spcAft>
                <a:spcPts val="800"/>
              </a:spcAft>
              <a:buNone/>
              <a:tabLst>
                <a:tab algn="l" pos="457200"/>
              </a:tabLst>
            </a:pPr>
            <a:r>
              <a:rPr b="1" dirty="0" sz="2000" lang="en-US">
                <a:effectLst/>
                <a:latin typeface="Century Gothic" panose="020B0502020202020204" pitchFamily="34" charset="0"/>
                <a:ea typeface="Times New Roman" panose="02020603050405020304" pitchFamily="18" charset="0"/>
                <a:cs typeface="Times New Roman" panose="02020603050405020304" pitchFamily="18" charset="0"/>
              </a:rPr>
              <a:t>3. Unity of Purpose</a:t>
            </a: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indent="-285750" lvl="1" marL="742950" marR="0">
              <a:lnSpc>
                <a:spcPct val="107000"/>
              </a:lnSpc>
              <a:spcAft>
                <a:spcPts val="800"/>
              </a:spcAft>
              <a:buSzPts val="1000"/>
              <a:buFont typeface="Courier New" panose="02070309020205020404" pitchFamily="49" charset="0"/>
              <a:buChar char="o"/>
              <a:tabLst>
                <a:tab algn="l" pos="914400"/>
              </a:tabLst>
            </a:pPr>
            <a:r>
              <a:rPr dirty="0" sz="2000" lang="en-US">
                <a:effectLst/>
                <a:latin typeface="Century Gothic" panose="020B0502020202020204" pitchFamily="34" charset="0"/>
                <a:ea typeface="Times New Roman" panose="02020603050405020304" pitchFamily="18" charset="0"/>
                <a:cs typeface="Times New Roman" panose="02020603050405020304" pitchFamily="18" charset="0"/>
              </a:rPr>
              <a:t>When subsystems align with the organization's goals, they act as parts of a whole rather than isolated entities, ensuring the system functions smoothly and effectively.</a:t>
            </a:r>
            <a:endParaRPr dirty="0" sz="2000" lang="en-US">
              <a:effectLst/>
              <a:latin typeface="Century Gothic" panose="020B0502020202020204" pitchFamily="34" charset="0"/>
              <a:ea typeface="DengXian" panose="02010600030101010101" pitchFamily="2" charset="-122"/>
              <a:cs typeface="Times New Roman" panose="02020603050405020304" pitchFamily="18" charset="0"/>
            </a:endParaRPr>
          </a:p>
          <a:p>
            <a:pPr algn="l"/>
            <a:endParaRPr b="0" dirty="0" sz="2000" i="0" lang="en-US">
              <a:solidFill>
                <a:srgbClr val="000000"/>
              </a:solidFill>
              <a:effectLst/>
              <a:latin typeface="Century Gothic" panose="020B0502020202020204" pitchFamily="34" charset="0"/>
            </a:endParaRPr>
          </a:p>
          <a:p>
            <a:endParaRPr dirty="0" sz="2000" lang="LID4096">
              <a:latin typeface="Century Gothic" panose="020B0502020202020204" pitchFamily="34" charset="0"/>
            </a:endParaRPr>
          </a:p>
        </p:txBody>
      </p:sp>
      <p:sp>
        <p:nvSpPr>
          <p:cNvPr id="1048631"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32" name="Content Placeholder 2"/>
          <p:cNvSpPr>
            <a:spLocks noGrp="1"/>
          </p:cNvSpPr>
          <p:nvPr>
            <p:ph idx="1"/>
          </p:nvPr>
        </p:nvSpPr>
        <p:spPr>
          <a:xfrm>
            <a:off x="904973" y="1024347"/>
            <a:ext cx="10515600" cy="4351338"/>
          </a:xfrm>
        </p:spPr>
        <p:txBody>
          <a:bodyPr>
            <a:normAutofit/>
          </a:bodyPr>
          <a:p>
            <a:pPr indent="0" marL="0">
              <a:buNone/>
            </a:pPr>
            <a:r>
              <a:rPr b="0" dirty="0" sz="3200" i="0" lang="en-US">
                <a:solidFill>
                  <a:srgbClr val="000000"/>
                </a:solidFill>
                <a:effectLst/>
                <a:latin typeface="Century Gothic" panose="020B0502020202020204" pitchFamily="34" charset="0"/>
              </a:rPr>
              <a:t>For example, </a:t>
            </a:r>
          </a:p>
          <a:p>
            <a:r>
              <a:rPr b="0" dirty="0" sz="3200" i="0" lang="en-US">
                <a:solidFill>
                  <a:srgbClr val="000000"/>
                </a:solidFill>
                <a:effectLst/>
                <a:latin typeface="Century Gothic" panose="020B0502020202020204" pitchFamily="34" charset="0"/>
              </a:rPr>
              <a:t>traffic management system, </a:t>
            </a:r>
          </a:p>
          <a:p>
            <a:r>
              <a:rPr b="0" dirty="0" sz="3200" i="0" lang="en-US">
                <a:solidFill>
                  <a:srgbClr val="000000"/>
                </a:solidFill>
                <a:effectLst/>
                <a:latin typeface="Century Gothic" panose="020B0502020202020204" pitchFamily="34" charset="0"/>
              </a:rPr>
              <a:t>payroll system, </a:t>
            </a:r>
          </a:p>
          <a:p>
            <a:r>
              <a:rPr b="0" dirty="0" sz="3200" i="0" lang="en-US">
                <a:solidFill>
                  <a:srgbClr val="000000"/>
                </a:solidFill>
                <a:effectLst/>
                <a:latin typeface="Century Gothic" panose="020B0502020202020204" pitchFamily="34" charset="0"/>
              </a:rPr>
              <a:t>automatic library system, </a:t>
            </a:r>
          </a:p>
          <a:p>
            <a:r>
              <a:rPr b="0" dirty="0" sz="3200" i="0" lang="en-US">
                <a:solidFill>
                  <a:srgbClr val="000000"/>
                </a:solidFill>
                <a:effectLst/>
                <a:latin typeface="Century Gothic" panose="020B0502020202020204" pitchFamily="34" charset="0"/>
              </a:rPr>
              <a:t>human resources information system.</a:t>
            </a:r>
            <a:endParaRPr dirty="0" sz="3200" lang="LID4096">
              <a:latin typeface="Century Gothic" panose="020B0502020202020204" pitchFamily="34" charset="0"/>
            </a:endParaRPr>
          </a:p>
        </p:txBody>
      </p:sp>
      <p:sp>
        <p:nvSpPr>
          <p:cNvPr id="1048633"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34" name="Title 1"/>
          <p:cNvSpPr>
            <a:spLocks noGrp="1"/>
          </p:cNvSpPr>
          <p:nvPr>
            <p:ph type="title"/>
          </p:nvPr>
        </p:nvSpPr>
        <p:spPr>
          <a:xfrm>
            <a:off x="1007882" y="252004"/>
            <a:ext cx="10515600" cy="1162017"/>
          </a:xfrm>
        </p:spPr>
        <p:txBody>
          <a:bodyPr/>
          <a:p>
            <a:r>
              <a:rPr b="1" dirty="0" i="0" lang="en-US">
                <a:solidFill>
                  <a:srgbClr val="000000"/>
                </a:solidFill>
                <a:effectLst/>
                <a:latin typeface="Century Gothic" panose="020B0502020202020204" pitchFamily="34" charset="0"/>
              </a:rPr>
              <a:t>Properties of a System</a:t>
            </a:r>
            <a:endParaRPr b="1" dirty="0" lang="LID4096">
              <a:latin typeface="Century Gothic" panose="020B0502020202020204" pitchFamily="34" charset="0"/>
            </a:endParaRPr>
          </a:p>
        </p:txBody>
      </p:sp>
      <p:sp>
        <p:nvSpPr>
          <p:cNvPr id="1048635" name="Content Placeholder 2"/>
          <p:cNvSpPr>
            <a:spLocks noGrp="1"/>
          </p:cNvSpPr>
          <p:nvPr>
            <p:ph idx="1"/>
          </p:nvPr>
        </p:nvSpPr>
        <p:spPr>
          <a:xfrm>
            <a:off x="1281260" y="1253331"/>
            <a:ext cx="10515600" cy="4351338"/>
          </a:xfrm>
        </p:spPr>
        <p:txBody>
          <a:bodyPr>
            <a:normAutofit/>
          </a:bodyPr>
          <a:p>
            <a:pPr algn="l" indent="0" marL="0">
              <a:buNone/>
            </a:pPr>
            <a:r>
              <a:rPr b="0" dirty="0" i="0" lang="en-US">
                <a:solidFill>
                  <a:srgbClr val="000000"/>
                </a:solidFill>
                <a:effectLst/>
                <a:latin typeface="Century Gothic" panose="020B0502020202020204" pitchFamily="34" charset="0"/>
              </a:rPr>
              <a:t>A system has the following properties −</a:t>
            </a:r>
          </a:p>
          <a:p>
            <a:pPr algn="l"/>
            <a:r>
              <a:rPr b="1" dirty="0" i="0" lang="en-US">
                <a:effectLst/>
                <a:latin typeface="Century Gothic" panose="020B0502020202020204" pitchFamily="34" charset="0"/>
              </a:rPr>
              <a:t>Organization</a:t>
            </a:r>
          </a:p>
          <a:p>
            <a:pPr algn="l" indent="0" marL="0">
              <a:buNone/>
            </a:pPr>
            <a:r>
              <a:rPr b="0" dirty="0" i="0" lang="en-US">
                <a:solidFill>
                  <a:srgbClr val="000000"/>
                </a:solidFill>
                <a:effectLst/>
                <a:latin typeface="Century Gothic" panose="020B0502020202020204" pitchFamily="34" charset="0"/>
              </a:rPr>
              <a:t>Organization implies structure and order. It is the arrangement of components that helps to achieve predetermined objectives.</a:t>
            </a:r>
          </a:p>
          <a:p>
            <a:pPr algn="l"/>
            <a:r>
              <a:rPr b="1" dirty="0" i="0" lang="en-US">
                <a:effectLst/>
                <a:latin typeface="Century Gothic" panose="020B0502020202020204" pitchFamily="34" charset="0"/>
              </a:rPr>
              <a:t>Interaction</a:t>
            </a:r>
          </a:p>
          <a:p>
            <a:pPr algn="l" indent="0" marL="0">
              <a:buNone/>
            </a:pPr>
            <a:r>
              <a:rPr b="0" dirty="0" i="0" lang="en-US">
                <a:solidFill>
                  <a:srgbClr val="000000"/>
                </a:solidFill>
                <a:effectLst/>
                <a:latin typeface="Century Gothic" panose="020B0502020202020204" pitchFamily="34" charset="0"/>
              </a:rPr>
              <a:t>It is defined by the manner in which the components operate with each other.</a:t>
            </a:r>
          </a:p>
          <a:p>
            <a:pPr algn="l"/>
            <a:r>
              <a:rPr b="0" dirty="0" i="0" lang="en-US">
                <a:solidFill>
                  <a:srgbClr val="000000"/>
                </a:solidFill>
                <a:effectLst/>
                <a:latin typeface="Century Gothic" panose="020B0502020202020204" pitchFamily="34" charset="0"/>
              </a:rPr>
              <a:t>For example, in an organization, purchasing department must interact with production department and payroll with personnel department.</a:t>
            </a:r>
          </a:p>
          <a:p>
            <a:endParaRPr dirty="0" lang="LID4096">
              <a:latin typeface="Century Gothic" panose="020B0502020202020204" pitchFamily="34" charset="0"/>
            </a:endParaRPr>
          </a:p>
        </p:txBody>
      </p:sp>
      <p:sp>
        <p:nvSpPr>
          <p:cNvPr id="1048636"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37" name="Content Placeholder 2"/>
          <p:cNvSpPr>
            <a:spLocks noGrp="1"/>
          </p:cNvSpPr>
          <p:nvPr>
            <p:ph idx="1"/>
          </p:nvPr>
        </p:nvSpPr>
        <p:spPr>
          <a:xfrm>
            <a:off x="989813" y="713262"/>
            <a:ext cx="10869105" cy="4351338"/>
          </a:xfrm>
        </p:spPr>
        <p:txBody>
          <a:bodyPr>
            <a:normAutofit/>
          </a:bodyPr>
          <a:p>
            <a:pPr algn="just"/>
            <a:r>
              <a:rPr b="1" dirty="0" i="0" lang="en-US">
                <a:effectLst/>
                <a:latin typeface="Century Gothic" panose="020B0502020202020204" pitchFamily="34" charset="0"/>
              </a:rPr>
              <a:t>Interdependence</a:t>
            </a:r>
          </a:p>
          <a:p>
            <a:pPr algn="just" indent="0" marL="0">
              <a:buNone/>
            </a:pPr>
            <a:r>
              <a:rPr b="0" dirty="0" i="0" lang="en-US">
                <a:solidFill>
                  <a:srgbClr val="000000"/>
                </a:solidFill>
                <a:effectLst/>
                <a:latin typeface="Century Gothic" panose="020B0502020202020204" pitchFamily="34" charset="0"/>
              </a:rPr>
              <a:t>Interdependence means how the components of a system depend on one another. For proper functioning, the components are coordinated and linked together according to a specified plan. The output of one subsystem is required by other subsystem as input.</a:t>
            </a:r>
          </a:p>
          <a:p>
            <a:pPr algn="just"/>
            <a:r>
              <a:rPr b="1" dirty="0" i="0" lang="en-US">
                <a:effectLst/>
                <a:latin typeface="Century Gothic" panose="020B0502020202020204" pitchFamily="34" charset="0"/>
              </a:rPr>
              <a:t>Integration</a:t>
            </a:r>
          </a:p>
          <a:p>
            <a:pPr algn="just" indent="0" marL="0">
              <a:buNone/>
            </a:pPr>
            <a:r>
              <a:rPr b="0" dirty="0" i="0" lang="en-US">
                <a:solidFill>
                  <a:srgbClr val="000000"/>
                </a:solidFill>
                <a:effectLst/>
                <a:latin typeface="Century Gothic" panose="020B0502020202020204" pitchFamily="34" charset="0"/>
              </a:rPr>
              <a:t>Integration is concerned with how a system components are connected together. </a:t>
            </a:r>
          </a:p>
          <a:p>
            <a:pPr algn="just" indent="0" marL="0">
              <a:buNone/>
            </a:pPr>
            <a:r>
              <a:rPr b="0" dirty="0" i="0" lang="en-US">
                <a:solidFill>
                  <a:srgbClr val="000000"/>
                </a:solidFill>
                <a:effectLst/>
                <a:latin typeface="Century Gothic" panose="020B0502020202020204" pitchFamily="34" charset="0"/>
              </a:rPr>
              <a:t>It means that the parts of the system work together within the system even if each part performs a unique function.</a:t>
            </a:r>
          </a:p>
          <a:p>
            <a:pPr algn="just"/>
            <a:endParaRPr dirty="0" lang="LID4096">
              <a:latin typeface="Century Gothic" panose="020B0502020202020204" pitchFamily="34" charset="0"/>
            </a:endParaRPr>
          </a:p>
        </p:txBody>
      </p:sp>
      <p:sp>
        <p:nvSpPr>
          <p:cNvPr id="1048638"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39" name="Content Placeholder 2"/>
          <p:cNvSpPr>
            <a:spLocks noGrp="1"/>
          </p:cNvSpPr>
          <p:nvPr>
            <p:ph idx="1"/>
          </p:nvPr>
        </p:nvSpPr>
        <p:spPr>
          <a:xfrm>
            <a:off x="989814" y="732116"/>
            <a:ext cx="10515600" cy="4351338"/>
          </a:xfrm>
        </p:spPr>
        <p:txBody>
          <a:bodyPr>
            <a:normAutofit/>
          </a:bodyPr>
          <a:p>
            <a:pPr algn="l"/>
            <a:r>
              <a:rPr b="1" dirty="0" sz="3200" i="0" lang="en-US">
                <a:effectLst/>
                <a:latin typeface="Century Gothic" panose="020B0502020202020204" pitchFamily="34" charset="0"/>
              </a:rPr>
              <a:t>Central Objective</a:t>
            </a:r>
          </a:p>
          <a:p>
            <a:pPr algn="l"/>
            <a:r>
              <a:rPr b="0" dirty="0" sz="3200" i="0" lang="en-US">
                <a:solidFill>
                  <a:srgbClr val="000000"/>
                </a:solidFill>
                <a:effectLst/>
                <a:latin typeface="Century Gothic" panose="020B0502020202020204" pitchFamily="34" charset="0"/>
              </a:rPr>
              <a:t>The objective of system must be central. It may be real or stated. </a:t>
            </a:r>
          </a:p>
          <a:p>
            <a:pPr algn="l"/>
            <a:r>
              <a:rPr b="0" dirty="0" sz="3200" i="0" lang="en-US">
                <a:solidFill>
                  <a:srgbClr val="000000"/>
                </a:solidFill>
                <a:effectLst/>
                <a:latin typeface="Century Gothic" panose="020B0502020202020204" pitchFamily="34" charset="0"/>
              </a:rPr>
              <a:t>It is not uncommon for an organization to state an objective and operate to achieve another.</a:t>
            </a:r>
          </a:p>
          <a:p>
            <a:pPr algn="l"/>
            <a:r>
              <a:rPr b="0" dirty="0" sz="3200" i="0" lang="en-US">
                <a:solidFill>
                  <a:srgbClr val="000000"/>
                </a:solidFill>
                <a:effectLst/>
                <a:latin typeface="Century Gothic" panose="020B0502020202020204" pitchFamily="34" charset="0"/>
              </a:rPr>
              <a:t>The users must know the main objective of a computer application early in the analysis for a successful design and conversion.</a:t>
            </a:r>
          </a:p>
          <a:p>
            <a:endParaRPr dirty="0" sz="3200" lang="LID4096">
              <a:latin typeface="Century Gothic" panose="020B0502020202020204" pitchFamily="34" charset="0"/>
            </a:endParaRPr>
          </a:p>
        </p:txBody>
      </p:sp>
      <p:sp>
        <p:nvSpPr>
          <p:cNvPr id="1048640"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41" name="Content Placeholder 2"/>
          <p:cNvSpPr>
            <a:spLocks noGrp="1"/>
          </p:cNvSpPr>
          <p:nvPr>
            <p:ph idx="1"/>
          </p:nvPr>
        </p:nvSpPr>
        <p:spPr>
          <a:xfrm>
            <a:off x="1168140" y="505873"/>
            <a:ext cx="10515600" cy="1256940"/>
          </a:xfrm>
        </p:spPr>
        <p:txBody>
          <a:bodyPr>
            <a:normAutofit/>
          </a:bodyPr>
          <a:p>
            <a:pPr algn="l"/>
            <a:r>
              <a:rPr b="0" dirty="0" sz="3200" i="0" lang="en-US">
                <a:solidFill>
                  <a:srgbClr val="000000"/>
                </a:solidFill>
                <a:effectLst/>
                <a:latin typeface="Century Gothic" panose="020B0502020202020204" pitchFamily="34" charset="0"/>
              </a:rPr>
              <a:t>Elements of a System</a:t>
            </a:r>
          </a:p>
          <a:p>
            <a:pPr algn="l"/>
            <a:r>
              <a:rPr b="0" dirty="0" sz="3200" i="0" lang="en-US">
                <a:solidFill>
                  <a:srgbClr val="000000"/>
                </a:solidFill>
                <a:effectLst/>
                <a:latin typeface="Century Gothic" panose="020B0502020202020204" pitchFamily="34" charset="0"/>
              </a:rPr>
              <a:t>The following diagram shows the elements of a system </a:t>
            </a:r>
          </a:p>
          <a:p>
            <a:endParaRPr dirty="0" sz="3200" lang="LID4096">
              <a:latin typeface="Century Gothic" panose="020B0502020202020204" pitchFamily="34" charset="0"/>
            </a:endParaRPr>
          </a:p>
        </p:txBody>
      </p:sp>
      <p:pic>
        <p:nvPicPr>
          <p:cNvPr id="2097152" name="Picture 2" descr="System Elements"/>
          <p:cNvPicPr>
            <a:picLocks noChangeAspect="1" noChangeArrowheads="1"/>
          </p:cNvPicPr>
          <p:nvPr/>
        </p:nvPicPr>
        <p:blipFill>
          <a:blip xmlns:r="http://schemas.openxmlformats.org/officeDocument/2006/relationships" r:embed="rId1"/>
          <a:srcRect/>
          <a:stretch>
            <a:fillRect/>
          </a:stretch>
        </p:blipFill>
        <p:spPr bwMode="auto">
          <a:xfrm>
            <a:off x="2013014" y="1762813"/>
            <a:ext cx="7979251" cy="4135912"/>
          </a:xfrm>
          <a:prstGeom prst="rect"/>
          <a:noFill/>
        </p:spPr>
      </p:pic>
      <p:sp>
        <p:nvSpPr>
          <p:cNvPr id="1048642"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43" name="Title 1"/>
          <p:cNvSpPr>
            <a:spLocks noGrp="1"/>
          </p:cNvSpPr>
          <p:nvPr>
            <p:ph type="title"/>
          </p:nvPr>
        </p:nvSpPr>
        <p:spPr/>
        <p:txBody>
          <a:bodyPr/>
          <a:p>
            <a:r>
              <a:rPr b="1" dirty="0" i="0" lang="en-US">
                <a:effectLst/>
                <a:latin typeface="Century Gothic" panose="020B0502020202020204" pitchFamily="34" charset="0"/>
              </a:rPr>
              <a:t>Outputs and Inputs</a:t>
            </a:r>
            <a:endParaRPr b="1" dirty="0" lang="LID4096">
              <a:latin typeface="Century Gothic" panose="020B0502020202020204" pitchFamily="34" charset="0"/>
            </a:endParaRPr>
          </a:p>
        </p:txBody>
      </p:sp>
      <p:sp>
        <p:nvSpPr>
          <p:cNvPr id="1048644" name="Content Placeholder 2"/>
          <p:cNvSpPr>
            <a:spLocks noGrp="1"/>
          </p:cNvSpPr>
          <p:nvPr>
            <p:ph idx="1"/>
          </p:nvPr>
        </p:nvSpPr>
        <p:spPr>
          <a:xfrm>
            <a:off x="904973" y="1778491"/>
            <a:ext cx="10515600" cy="4351338"/>
          </a:xfrm>
        </p:spPr>
        <p:txBody>
          <a:bodyPr>
            <a:normAutofit/>
          </a:bodyPr>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The main aim of a system is to produce an output which is useful for its user.</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Inputs are the information that enters into the system for processing.</a:t>
            </a:r>
          </a:p>
          <a:p>
            <a:pPr algn="l">
              <a:buFont typeface="Arial" panose="020B0604020202020204" pitchFamily="34" charset="0"/>
              <a:buChar char="•"/>
            </a:pPr>
            <a:r>
              <a:rPr b="0" dirty="0" sz="3200" i="0" lang="en-US">
                <a:solidFill>
                  <a:srgbClr val="000000"/>
                </a:solidFill>
                <a:effectLst/>
                <a:latin typeface="Century Gothic" panose="020B0502020202020204" pitchFamily="34" charset="0"/>
              </a:rPr>
              <a:t>Output is the outcome of processing.</a:t>
            </a:r>
          </a:p>
          <a:p>
            <a:endParaRPr dirty="0" sz="3200" lang="LID4096">
              <a:latin typeface="Century Gothic" panose="020B0502020202020204" pitchFamily="34" charset="0"/>
            </a:endParaRPr>
          </a:p>
        </p:txBody>
      </p:sp>
      <p:sp>
        <p:nvSpPr>
          <p:cNvPr id="1048645"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46" name="Title 1"/>
          <p:cNvSpPr>
            <a:spLocks noGrp="1"/>
          </p:cNvSpPr>
          <p:nvPr>
            <p:ph type="title"/>
          </p:nvPr>
        </p:nvSpPr>
        <p:spPr>
          <a:xfrm>
            <a:off x="838200" y="365126"/>
            <a:ext cx="10515600" cy="916920"/>
          </a:xfrm>
        </p:spPr>
        <p:txBody>
          <a:bodyPr>
            <a:normAutofit/>
          </a:bodyPr>
          <a:p>
            <a:r>
              <a:rPr b="1" dirty="0" i="0" lang="en-US">
                <a:effectLst/>
                <a:latin typeface="Century Gothic" panose="020B0502020202020204" pitchFamily="34" charset="0"/>
              </a:rPr>
              <a:t>Processor(s)</a:t>
            </a:r>
            <a:endParaRPr b="1" dirty="0" lang="LID4096">
              <a:latin typeface="Century Gothic" panose="020B0502020202020204" pitchFamily="34" charset="0"/>
            </a:endParaRPr>
          </a:p>
        </p:txBody>
      </p:sp>
      <p:sp>
        <p:nvSpPr>
          <p:cNvPr id="1048647" name="Content Placeholder 2"/>
          <p:cNvSpPr>
            <a:spLocks noGrp="1"/>
          </p:cNvSpPr>
          <p:nvPr>
            <p:ph idx="1"/>
          </p:nvPr>
        </p:nvSpPr>
        <p:spPr>
          <a:xfrm>
            <a:off x="904973" y="1514540"/>
            <a:ext cx="10515600" cy="4351338"/>
          </a:xfrm>
        </p:spPr>
        <p:txBody>
          <a:bodyPr>
            <a:normAutofit/>
          </a:bodyPr>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The processor is the element of a system that involves the actual transformation of input into output.</a:t>
            </a:r>
          </a:p>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It is the operational component of a system. </a:t>
            </a:r>
          </a:p>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Processors may modify the input either totally or partially, depending on the output specification.</a:t>
            </a:r>
          </a:p>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As the output specifications change, so does the processing. </a:t>
            </a:r>
          </a:p>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In some cases, input is also modified to enable the processor for handling the transformation.</a:t>
            </a:r>
          </a:p>
          <a:p>
            <a:pPr algn="just"/>
            <a:endParaRPr dirty="0" sz="3200" lang="LID4096">
              <a:latin typeface="Century Gothic" panose="020B0502020202020204" pitchFamily="34" charset="0"/>
            </a:endParaRPr>
          </a:p>
        </p:txBody>
      </p:sp>
      <p:sp>
        <p:nvSpPr>
          <p:cNvPr id="1048648"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49" name="Title 1"/>
          <p:cNvSpPr>
            <a:spLocks noGrp="1"/>
          </p:cNvSpPr>
          <p:nvPr>
            <p:ph type="title"/>
          </p:nvPr>
        </p:nvSpPr>
        <p:spPr>
          <a:xfrm>
            <a:off x="838200" y="365126"/>
            <a:ext cx="10515600" cy="1124310"/>
          </a:xfrm>
        </p:spPr>
        <p:txBody>
          <a:bodyPr/>
          <a:p>
            <a:r>
              <a:rPr b="1" dirty="0" i="0" lang="en-US">
                <a:effectLst/>
                <a:latin typeface="Century Gothic" panose="020B0502020202020204" pitchFamily="34" charset="0"/>
              </a:rPr>
              <a:t>Control</a:t>
            </a:r>
            <a:endParaRPr b="1" dirty="0" lang="LID4096">
              <a:latin typeface="Century Gothic" panose="020B0502020202020204" pitchFamily="34" charset="0"/>
            </a:endParaRPr>
          </a:p>
        </p:txBody>
      </p:sp>
      <p:sp>
        <p:nvSpPr>
          <p:cNvPr id="1048650" name="Content Placeholder 2"/>
          <p:cNvSpPr>
            <a:spLocks noGrp="1"/>
          </p:cNvSpPr>
          <p:nvPr>
            <p:ph idx="1"/>
          </p:nvPr>
        </p:nvSpPr>
        <p:spPr>
          <a:xfrm>
            <a:off x="904973" y="1489436"/>
            <a:ext cx="10515600" cy="4351338"/>
          </a:xfrm>
        </p:spPr>
        <p:txBody>
          <a:bodyPr/>
          <a:p>
            <a:pPr algn="just">
              <a:buFont typeface="Arial" panose="020B0604020202020204" pitchFamily="34" charset="0"/>
              <a:buChar char="•"/>
            </a:pPr>
            <a:r>
              <a:rPr b="0" dirty="0" i="0" lang="en-US">
                <a:solidFill>
                  <a:srgbClr val="000000"/>
                </a:solidFill>
                <a:effectLst/>
                <a:latin typeface="Century Gothic" panose="020B0502020202020204" pitchFamily="34" charset="0"/>
              </a:rPr>
              <a:t>The control element guides the system.</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It is the decision–making subsystem that controls the pattern of activities governing input, processing, and output.</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The behavior of a computer System is controlled by the Operating System and software.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In order to keep system in balance, what and how much input is needed is determined by Output Specifications.</a:t>
            </a:r>
          </a:p>
          <a:p>
            <a:pPr algn="just"/>
            <a:endParaRPr dirty="0" lang="LID4096">
              <a:latin typeface="Century Gothic" panose="020B0502020202020204" pitchFamily="34" charset="0"/>
            </a:endParaRPr>
          </a:p>
        </p:txBody>
      </p:sp>
      <p:sp>
        <p:nvSpPr>
          <p:cNvPr id="1048651"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52" name="Title 1"/>
          <p:cNvSpPr>
            <a:spLocks noGrp="1"/>
          </p:cNvSpPr>
          <p:nvPr>
            <p:ph type="title"/>
          </p:nvPr>
        </p:nvSpPr>
        <p:spPr>
          <a:xfrm>
            <a:off x="838200" y="365125"/>
            <a:ext cx="10515600" cy="992335"/>
          </a:xfrm>
        </p:spPr>
        <p:txBody>
          <a:bodyPr/>
          <a:p>
            <a:r>
              <a:rPr b="1" dirty="0" i="0" lang="en-US">
                <a:effectLst/>
                <a:latin typeface="Century Gothic" panose="020B0502020202020204" pitchFamily="34" charset="0"/>
              </a:rPr>
              <a:t>Feedback</a:t>
            </a:r>
            <a:endParaRPr b="1" dirty="0" lang="LID4096">
              <a:latin typeface="Century Gothic" panose="020B0502020202020204" pitchFamily="34" charset="0"/>
            </a:endParaRPr>
          </a:p>
        </p:txBody>
      </p:sp>
      <p:sp>
        <p:nvSpPr>
          <p:cNvPr id="1048653" name="Content Placeholder 2"/>
          <p:cNvSpPr>
            <a:spLocks noGrp="1"/>
          </p:cNvSpPr>
          <p:nvPr>
            <p:ph idx="1"/>
          </p:nvPr>
        </p:nvSpPr>
        <p:spPr>
          <a:xfrm>
            <a:off x="904973" y="1505113"/>
            <a:ext cx="10515600" cy="4351338"/>
          </a:xfrm>
        </p:spPr>
        <p:txBody>
          <a:bodyPr/>
          <a:p>
            <a:pPr algn="l">
              <a:buFont typeface="Arial" panose="020B0604020202020204" pitchFamily="34" charset="0"/>
              <a:buChar char="•"/>
            </a:pPr>
            <a:r>
              <a:rPr dirty="0" i="0" lang="en-US">
                <a:solidFill>
                  <a:srgbClr val="000000"/>
                </a:solidFill>
                <a:effectLst/>
                <a:latin typeface="Century Gothic" panose="020B0502020202020204" pitchFamily="34" charset="0"/>
              </a:rPr>
              <a:t>Feedback provides the control in a dynamic system.</a:t>
            </a:r>
          </a:p>
          <a:p>
            <a:pPr algn="l">
              <a:buFont typeface="Arial" panose="020B0604020202020204" pitchFamily="34" charset="0"/>
              <a:buChar char="•"/>
            </a:pPr>
            <a:r>
              <a:rPr dirty="0" i="0" lang="en-US">
                <a:solidFill>
                  <a:srgbClr val="000000"/>
                </a:solidFill>
                <a:effectLst/>
                <a:latin typeface="Century Gothic" panose="020B0502020202020204" pitchFamily="34" charset="0"/>
              </a:rPr>
              <a:t>Positive feedback is routine in nature that encourages the performance of the system.</a:t>
            </a:r>
          </a:p>
          <a:p>
            <a:pPr algn="l">
              <a:buFont typeface="Arial" panose="020B0604020202020204" pitchFamily="34" charset="0"/>
              <a:buChar char="•"/>
            </a:pPr>
            <a:r>
              <a:rPr dirty="0" i="0" lang="en-US">
                <a:solidFill>
                  <a:srgbClr val="000000"/>
                </a:solidFill>
                <a:effectLst/>
                <a:latin typeface="Century Gothic" panose="020B0502020202020204" pitchFamily="34" charset="0"/>
              </a:rPr>
              <a:t>Negative feedback is informational in nature that provides the controller with information for action.</a:t>
            </a:r>
          </a:p>
          <a:p>
            <a:endParaRPr dirty="0" lang="LID4096">
              <a:latin typeface="Century Gothic" panose="020B0502020202020204" pitchFamily="34" charset="0"/>
            </a:endParaRPr>
          </a:p>
        </p:txBody>
      </p:sp>
      <p:sp>
        <p:nvSpPr>
          <p:cNvPr id="1048654"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55" name="Title 1"/>
          <p:cNvSpPr>
            <a:spLocks noGrp="1"/>
          </p:cNvSpPr>
          <p:nvPr>
            <p:ph type="title"/>
          </p:nvPr>
        </p:nvSpPr>
        <p:spPr/>
        <p:txBody>
          <a:bodyPr/>
          <a:p>
            <a:r>
              <a:rPr b="1" dirty="0" i="0" lang="en-US">
                <a:effectLst/>
                <a:latin typeface="Century Gothic" panose="020B0502020202020204" pitchFamily="34" charset="0"/>
              </a:rPr>
              <a:t>Environment</a:t>
            </a:r>
            <a:endParaRPr b="1" dirty="0" lang="LID4096">
              <a:latin typeface="Century Gothic" panose="020B0502020202020204" pitchFamily="34" charset="0"/>
            </a:endParaRPr>
          </a:p>
        </p:txBody>
      </p:sp>
      <p:sp>
        <p:nvSpPr>
          <p:cNvPr id="1048656" name="Content Placeholder 2"/>
          <p:cNvSpPr>
            <a:spLocks noGrp="1"/>
          </p:cNvSpPr>
          <p:nvPr>
            <p:ph idx="1"/>
          </p:nvPr>
        </p:nvSpPr>
        <p:spPr>
          <a:xfrm>
            <a:off x="999241" y="1690688"/>
            <a:ext cx="10515600" cy="4351338"/>
          </a:xfrm>
        </p:spPr>
        <p:txBody>
          <a:bodyPr/>
          <a:p>
            <a:pPr algn="l">
              <a:buFont typeface="Arial" panose="020B0604020202020204" pitchFamily="34" charset="0"/>
              <a:buChar char="•"/>
            </a:pPr>
            <a:r>
              <a:rPr b="0" dirty="0" i="0" lang="en-US">
                <a:solidFill>
                  <a:srgbClr val="000000"/>
                </a:solidFill>
                <a:effectLst/>
                <a:latin typeface="Century Gothic" panose="020B0502020202020204" pitchFamily="34" charset="0"/>
              </a:rPr>
              <a:t>The environment is the “supersystem” within which an organization operates.</a:t>
            </a:r>
          </a:p>
          <a:p>
            <a:pPr algn="l">
              <a:buFont typeface="Arial" panose="020B0604020202020204" pitchFamily="34" charset="0"/>
              <a:buChar char="•"/>
            </a:pPr>
            <a:r>
              <a:rPr b="0" dirty="0" i="0" lang="en-US">
                <a:solidFill>
                  <a:srgbClr val="000000"/>
                </a:solidFill>
                <a:effectLst/>
                <a:latin typeface="Century Gothic" panose="020B0502020202020204" pitchFamily="34" charset="0"/>
              </a:rPr>
              <a:t>It is the source of external elements that strike on the system.</a:t>
            </a:r>
          </a:p>
          <a:p>
            <a:pPr algn="l">
              <a:buFont typeface="Arial" panose="020B0604020202020204" pitchFamily="34" charset="0"/>
              <a:buChar char="•"/>
            </a:pPr>
            <a:r>
              <a:rPr b="0" dirty="0" i="0" lang="en-US">
                <a:solidFill>
                  <a:srgbClr val="000000"/>
                </a:solidFill>
                <a:effectLst/>
                <a:latin typeface="Century Gothic" panose="020B0502020202020204" pitchFamily="34" charset="0"/>
              </a:rPr>
              <a:t>It determines how a system must function. </a:t>
            </a:r>
          </a:p>
          <a:p>
            <a:pPr algn="l" indent="0" marL="0">
              <a:buNone/>
            </a:pPr>
            <a:r>
              <a:rPr b="0" dirty="0" i="0" lang="en-US">
                <a:solidFill>
                  <a:srgbClr val="000000"/>
                </a:solidFill>
                <a:effectLst/>
                <a:latin typeface="Century Gothic" panose="020B0502020202020204" pitchFamily="34" charset="0"/>
              </a:rPr>
              <a:t>For example, vendors and competitors of organization’s environment, may provide constraints that affect the actual performance of the business.</a:t>
            </a:r>
          </a:p>
          <a:p>
            <a:endParaRPr dirty="0" lang="LID4096">
              <a:latin typeface="Century Gothic" panose="020B0502020202020204" pitchFamily="34" charset="0"/>
            </a:endParaRPr>
          </a:p>
        </p:txBody>
      </p:sp>
      <p:sp>
        <p:nvSpPr>
          <p:cNvPr id="1048657"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58" name="Title 1"/>
          <p:cNvSpPr>
            <a:spLocks noGrp="1"/>
          </p:cNvSpPr>
          <p:nvPr>
            <p:ph type="title"/>
          </p:nvPr>
        </p:nvSpPr>
        <p:spPr/>
        <p:txBody>
          <a:bodyPr/>
          <a:p>
            <a:r>
              <a:rPr b="1" dirty="0" i="0" lang="en-US">
                <a:effectLst/>
                <a:latin typeface="Century Gothic" panose="020B0502020202020204" pitchFamily="34" charset="0"/>
              </a:rPr>
              <a:t>Boundaries and Interface</a:t>
            </a:r>
            <a:endParaRPr b="1" dirty="0" lang="LID4096">
              <a:latin typeface="Century Gothic" panose="020B0502020202020204" pitchFamily="34" charset="0"/>
            </a:endParaRPr>
          </a:p>
        </p:txBody>
      </p:sp>
      <p:sp>
        <p:nvSpPr>
          <p:cNvPr id="1048659" name="Content Placeholder 2"/>
          <p:cNvSpPr>
            <a:spLocks noGrp="1"/>
          </p:cNvSpPr>
          <p:nvPr>
            <p:ph idx="1"/>
          </p:nvPr>
        </p:nvSpPr>
        <p:spPr>
          <a:xfrm>
            <a:off x="904973" y="1476833"/>
            <a:ext cx="10515600" cy="4351338"/>
          </a:xfrm>
        </p:spPr>
        <p:txBody>
          <a:bodyPr/>
          <a:p>
            <a:pPr algn="just">
              <a:buFont typeface="Arial" panose="020B0604020202020204" pitchFamily="34" charset="0"/>
              <a:buChar char="•"/>
            </a:pPr>
            <a:r>
              <a:rPr b="0" dirty="0" i="0" lang="en-US">
                <a:solidFill>
                  <a:srgbClr val="000000"/>
                </a:solidFill>
                <a:effectLst/>
                <a:latin typeface="Century Gothic" panose="020B0502020202020204" pitchFamily="34" charset="0"/>
              </a:rPr>
              <a:t>A system should be defined by its boundaries.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Boundaries are the limits that identify its components, processes, and interrelationship when it interfaces with another system.</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Each system has boundaries that determine its sphere of influence and control.</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The knowledge of the boundaries of a given system is crucial in determining the nature of its interface with other systems for successful design.</a:t>
            </a:r>
          </a:p>
          <a:p>
            <a:pPr algn="just"/>
            <a:endParaRPr dirty="0" lang="LID4096">
              <a:latin typeface="Century Gothic" panose="020B0502020202020204" pitchFamily="34" charset="0"/>
            </a:endParaRPr>
          </a:p>
        </p:txBody>
      </p:sp>
      <p:sp>
        <p:nvSpPr>
          <p:cNvPr id="1048660"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61" name="Title 1"/>
          <p:cNvSpPr>
            <a:spLocks noGrp="1"/>
          </p:cNvSpPr>
          <p:nvPr>
            <p:ph type="title"/>
          </p:nvPr>
        </p:nvSpPr>
        <p:spPr/>
        <p:txBody>
          <a:bodyPr/>
          <a:p>
            <a:r>
              <a:rPr b="1" dirty="0" i="0" lang="en-US">
                <a:solidFill>
                  <a:srgbClr val="000000"/>
                </a:solidFill>
                <a:effectLst/>
                <a:latin typeface="Century Gothic" panose="020B0502020202020204" pitchFamily="34" charset="0"/>
              </a:rPr>
              <a:t>Types of Systems</a:t>
            </a:r>
            <a:endParaRPr b="1" dirty="0" lang="LID4096">
              <a:latin typeface="Century Gothic" panose="020B0502020202020204" pitchFamily="34" charset="0"/>
            </a:endParaRPr>
          </a:p>
        </p:txBody>
      </p:sp>
      <p:sp>
        <p:nvSpPr>
          <p:cNvPr id="1048662" name="Content Placeholder 2"/>
          <p:cNvSpPr>
            <a:spLocks noGrp="1"/>
          </p:cNvSpPr>
          <p:nvPr>
            <p:ph idx="1"/>
          </p:nvPr>
        </p:nvSpPr>
        <p:spPr>
          <a:xfrm>
            <a:off x="1055017" y="1552248"/>
            <a:ext cx="10515600" cy="4351338"/>
          </a:xfrm>
        </p:spPr>
        <p:txBody>
          <a:bodyPr>
            <a:normAutofit lnSpcReduction="10000"/>
          </a:bodyPr>
          <a:p>
            <a:pPr algn="just"/>
            <a:r>
              <a:rPr b="0" dirty="0" i="0" lang="en-US">
                <a:solidFill>
                  <a:srgbClr val="000000"/>
                </a:solidFill>
                <a:effectLst/>
                <a:latin typeface="Century Gothic" panose="020B0502020202020204" pitchFamily="34" charset="0"/>
              </a:rPr>
              <a:t>The systems can be divided into the following types −</a:t>
            </a:r>
          </a:p>
          <a:p>
            <a:pPr algn="just"/>
            <a:r>
              <a:rPr b="1" dirty="0" i="0" lang="en-US">
                <a:effectLst/>
                <a:latin typeface="Century Gothic" panose="020B0502020202020204" pitchFamily="34" charset="0"/>
              </a:rPr>
              <a:t>Physical or Abstract Systems</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Physical systems are tangible entities. We can touch and feel them.</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Physical System may be static or dynamic in nature. For example, desks and chairs are the physical parts of computer center which are static.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A programmed computer is a dynamic system in which programs, data, and applications can change according to the user's needs.</a:t>
            </a:r>
          </a:p>
          <a:p>
            <a:pPr algn="just"/>
            <a:endParaRPr dirty="0" lang="LID4096">
              <a:latin typeface="Century Gothic" panose="020B0502020202020204" pitchFamily="34" charset="0"/>
            </a:endParaRPr>
          </a:p>
        </p:txBody>
      </p:sp>
      <p:sp>
        <p:nvSpPr>
          <p:cNvPr id="1048663"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64" name="Title 1"/>
          <p:cNvSpPr>
            <a:spLocks noGrp="1"/>
          </p:cNvSpPr>
          <p:nvPr>
            <p:ph type="title"/>
          </p:nvPr>
        </p:nvSpPr>
        <p:spPr/>
        <p:txBody>
          <a:bodyPr/>
          <a:p>
            <a:r>
              <a:rPr b="1" dirty="0" i="0" lang="en-US">
                <a:solidFill>
                  <a:srgbClr val="000000"/>
                </a:solidFill>
                <a:effectLst/>
                <a:latin typeface="Century Gothic" panose="020B0502020202020204" pitchFamily="34" charset="0"/>
              </a:rPr>
              <a:t>Types of Systems</a:t>
            </a:r>
            <a:endParaRPr b="1" dirty="0" lang="LID4096">
              <a:latin typeface="Century Gothic" panose="020B0502020202020204" pitchFamily="34" charset="0"/>
            </a:endParaRPr>
          </a:p>
        </p:txBody>
      </p:sp>
      <p:sp>
        <p:nvSpPr>
          <p:cNvPr id="1048665" name="Content Placeholder 2"/>
          <p:cNvSpPr>
            <a:spLocks noGrp="1"/>
          </p:cNvSpPr>
          <p:nvPr>
            <p:ph idx="1"/>
          </p:nvPr>
        </p:nvSpPr>
        <p:spPr>
          <a:xfrm>
            <a:off x="1055017" y="1552248"/>
            <a:ext cx="10515600" cy="4351338"/>
          </a:xfrm>
        </p:spPr>
        <p:txBody>
          <a:bodyPr>
            <a:normAutofit/>
          </a:bodyPr>
          <a:p>
            <a:pPr algn="just">
              <a:buFont typeface="Arial" panose="020B0604020202020204" pitchFamily="34" charset="0"/>
              <a:buChar char="•"/>
            </a:pPr>
            <a:r>
              <a:rPr b="0" dirty="0" i="0" lang="en-US">
                <a:solidFill>
                  <a:srgbClr val="000000"/>
                </a:solidFill>
                <a:effectLst/>
                <a:latin typeface="Century Gothic" panose="020B0502020202020204" pitchFamily="34" charset="0"/>
              </a:rPr>
              <a:t>Abstract systems are non-physical entities or conceptual that may be formulas, representation or model of a real system.</a:t>
            </a:r>
          </a:p>
          <a:p>
            <a:pPr algn="just"/>
            <a:endParaRPr dirty="0" lang="LID4096">
              <a:latin typeface="Century Gothic" panose="020B0502020202020204" pitchFamily="34" charset="0"/>
            </a:endParaRPr>
          </a:p>
        </p:txBody>
      </p:sp>
      <p:sp>
        <p:nvSpPr>
          <p:cNvPr id="1048666"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667" name="Title 1"/>
          <p:cNvSpPr>
            <a:spLocks noGrp="1"/>
          </p:cNvSpPr>
          <p:nvPr>
            <p:ph type="title"/>
          </p:nvPr>
        </p:nvSpPr>
        <p:spPr>
          <a:xfrm>
            <a:off x="838200" y="365125"/>
            <a:ext cx="10515600" cy="992335"/>
          </a:xfrm>
        </p:spPr>
        <p:txBody>
          <a:bodyPr/>
          <a:p>
            <a:r>
              <a:rPr b="1" dirty="0" i="0" lang="en-US">
                <a:effectLst/>
                <a:latin typeface="Century Gothic" panose="020B0502020202020204" pitchFamily="34" charset="0"/>
              </a:rPr>
              <a:t>Open or Closed Systems</a:t>
            </a:r>
            <a:endParaRPr b="1" dirty="0" lang="LID4096">
              <a:latin typeface="Century Gothic" panose="020B0502020202020204" pitchFamily="34" charset="0"/>
            </a:endParaRPr>
          </a:p>
        </p:txBody>
      </p:sp>
      <p:sp>
        <p:nvSpPr>
          <p:cNvPr id="1048668" name="Content Placeholder 2"/>
          <p:cNvSpPr>
            <a:spLocks noGrp="1"/>
          </p:cNvSpPr>
          <p:nvPr>
            <p:ph idx="1"/>
          </p:nvPr>
        </p:nvSpPr>
        <p:spPr>
          <a:xfrm>
            <a:off x="904973" y="1573842"/>
            <a:ext cx="10515600" cy="4351338"/>
          </a:xfrm>
        </p:spPr>
        <p:txBody>
          <a:bodyPr/>
          <a:p>
            <a:pPr algn="just">
              <a:buFont typeface="Arial" panose="020B0604020202020204" pitchFamily="34" charset="0"/>
              <a:buChar char="•"/>
            </a:pPr>
            <a:r>
              <a:rPr b="0" dirty="0" i="0" lang="en-US">
                <a:solidFill>
                  <a:srgbClr val="000000"/>
                </a:solidFill>
                <a:effectLst/>
                <a:latin typeface="Century Gothic" panose="020B0502020202020204" pitchFamily="34" charset="0"/>
              </a:rPr>
              <a:t>An </a:t>
            </a:r>
            <a:r>
              <a:rPr b="1" dirty="0" i="0" lang="en-US">
                <a:solidFill>
                  <a:srgbClr val="FF0000"/>
                </a:solidFill>
                <a:effectLst/>
                <a:latin typeface="Century Gothic" panose="020B0502020202020204" pitchFamily="34" charset="0"/>
              </a:rPr>
              <a:t>open system </a:t>
            </a:r>
            <a:r>
              <a:rPr b="0" dirty="0" i="0" lang="en-US">
                <a:solidFill>
                  <a:srgbClr val="000000"/>
                </a:solidFill>
                <a:effectLst/>
                <a:latin typeface="Century Gothic" panose="020B0502020202020204" pitchFamily="34" charset="0"/>
              </a:rPr>
              <a:t>must interact with its environment.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It receives inputs from and delivers outputs to the outside of the system.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For example, an information system which must adapt to the changing environmental conditions.</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A </a:t>
            </a:r>
            <a:r>
              <a:rPr b="1" dirty="0" i="0" lang="en-US">
                <a:solidFill>
                  <a:srgbClr val="FF0000"/>
                </a:solidFill>
                <a:effectLst/>
                <a:latin typeface="Century Gothic" panose="020B0502020202020204" pitchFamily="34" charset="0"/>
              </a:rPr>
              <a:t>closed system </a:t>
            </a:r>
            <a:r>
              <a:rPr b="0" dirty="0" i="0" lang="en-US">
                <a:solidFill>
                  <a:srgbClr val="000000"/>
                </a:solidFill>
                <a:effectLst/>
                <a:latin typeface="Century Gothic" panose="020B0502020202020204" pitchFamily="34" charset="0"/>
              </a:rPr>
              <a:t>does not interact with its environment. </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It is isolated from environmental influences. A completely closed system is rare in reality.</a:t>
            </a:r>
          </a:p>
          <a:p>
            <a:pPr algn="just"/>
            <a:endParaRPr dirty="0" lang="LID4096">
              <a:latin typeface="Century Gothic" panose="020B0502020202020204" pitchFamily="34" charset="0"/>
            </a:endParaRPr>
          </a:p>
        </p:txBody>
      </p:sp>
      <p:sp>
        <p:nvSpPr>
          <p:cNvPr id="1048669"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70" name="Title 1"/>
          <p:cNvSpPr>
            <a:spLocks noGrp="1"/>
          </p:cNvSpPr>
          <p:nvPr>
            <p:ph type="title"/>
          </p:nvPr>
        </p:nvSpPr>
        <p:spPr>
          <a:xfrm>
            <a:off x="838200" y="440540"/>
            <a:ext cx="10515600" cy="1325563"/>
          </a:xfrm>
        </p:spPr>
        <p:txBody>
          <a:bodyPr/>
          <a:p>
            <a:r>
              <a:rPr b="1" dirty="0" i="0" lang="en-US">
                <a:effectLst/>
                <a:latin typeface="Century Gothic" panose="020B0502020202020204" pitchFamily="34" charset="0"/>
              </a:rPr>
              <a:t>Adaptive and Non Adaptive System</a:t>
            </a:r>
            <a:endParaRPr b="1" dirty="0" lang="LID4096">
              <a:latin typeface="Century Gothic" panose="020B0502020202020204" pitchFamily="34" charset="0"/>
            </a:endParaRPr>
          </a:p>
        </p:txBody>
      </p:sp>
      <p:sp>
        <p:nvSpPr>
          <p:cNvPr id="1048671" name="Content Placeholder 2"/>
          <p:cNvSpPr>
            <a:spLocks noGrp="1"/>
          </p:cNvSpPr>
          <p:nvPr>
            <p:ph idx="1"/>
          </p:nvPr>
        </p:nvSpPr>
        <p:spPr>
          <a:xfrm>
            <a:off x="1084082" y="1797674"/>
            <a:ext cx="10515600" cy="4351338"/>
          </a:xfrm>
        </p:spPr>
        <p:txBody>
          <a:bodyPr/>
          <a:p>
            <a:pPr algn="just">
              <a:buFont typeface="Arial" panose="020B0604020202020204" pitchFamily="34" charset="0"/>
              <a:buChar char="•"/>
            </a:pPr>
            <a:r>
              <a:rPr b="0" dirty="0" i="0" lang="en-US">
                <a:solidFill>
                  <a:srgbClr val="000000"/>
                </a:solidFill>
                <a:effectLst/>
                <a:latin typeface="Century Gothic" panose="020B0502020202020204" pitchFamily="34" charset="0"/>
              </a:rPr>
              <a:t>Adaptive System responds to the change in the environment in a way to improve their performance and to survive. </a:t>
            </a:r>
          </a:p>
          <a:p>
            <a:pPr algn="just" indent="0" marL="0">
              <a:buNone/>
            </a:pPr>
            <a:r>
              <a:rPr b="0" dirty="0" i="0" lang="en-US">
                <a:solidFill>
                  <a:srgbClr val="000000"/>
                </a:solidFill>
                <a:effectLst/>
                <a:latin typeface="Century Gothic" panose="020B0502020202020204" pitchFamily="34" charset="0"/>
              </a:rPr>
              <a:t>For example, human beings, animals.</a:t>
            </a:r>
          </a:p>
          <a:p>
            <a:pPr algn="just">
              <a:buFont typeface="Arial" panose="020B0604020202020204" pitchFamily="34" charset="0"/>
              <a:buChar char="•"/>
            </a:pPr>
            <a:r>
              <a:rPr b="0" dirty="0" i="0" lang="en-US">
                <a:solidFill>
                  <a:srgbClr val="000000"/>
                </a:solidFill>
                <a:effectLst/>
                <a:latin typeface="Century Gothic" panose="020B0502020202020204" pitchFamily="34" charset="0"/>
              </a:rPr>
              <a:t>Non Adaptive System is the system which does not respond to the environment. </a:t>
            </a:r>
          </a:p>
          <a:p>
            <a:pPr algn="just" indent="0" marL="0">
              <a:buNone/>
            </a:pPr>
            <a:r>
              <a:rPr b="0" dirty="0" i="0" lang="en-US">
                <a:solidFill>
                  <a:srgbClr val="000000"/>
                </a:solidFill>
                <a:effectLst/>
                <a:latin typeface="Century Gothic" panose="020B0502020202020204" pitchFamily="34" charset="0"/>
              </a:rPr>
              <a:t>For example, machines.</a:t>
            </a:r>
          </a:p>
          <a:p>
            <a:pPr algn="just"/>
            <a:endParaRPr dirty="0" lang="LID4096">
              <a:latin typeface="Century Gothic" panose="020B0502020202020204" pitchFamily="34" charset="0"/>
            </a:endParaRPr>
          </a:p>
        </p:txBody>
      </p:sp>
      <p:sp>
        <p:nvSpPr>
          <p:cNvPr id="1048672"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73" name="Title 1"/>
          <p:cNvSpPr>
            <a:spLocks noGrp="1"/>
          </p:cNvSpPr>
          <p:nvPr>
            <p:ph type="title"/>
          </p:nvPr>
        </p:nvSpPr>
        <p:spPr>
          <a:xfrm>
            <a:off x="838200" y="365125"/>
            <a:ext cx="10515600" cy="1039469"/>
          </a:xfrm>
        </p:spPr>
        <p:txBody>
          <a:bodyPr/>
          <a:p>
            <a:r>
              <a:rPr b="1" dirty="0" i="0" lang="en-US">
                <a:effectLst/>
                <a:latin typeface="Century Gothic" panose="020B0502020202020204" pitchFamily="34" charset="0"/>
              </a:rPr>
              <a:t>Permanent or Temporary System</a:t>
            </a:r>
            <a:endParaRPr b="1" dirty="0" lang="LID4096">
              <a:latin typeface="Century Gothic" panose="020B0502020202020204" pitchFamily="34" charset="0"/>
            </a:endParaRPr>
          </a:p>
        </p:txBody>
      </p:sp>
      <p:sp>
        <p:nvSpPr>
          <p:cNvPr id="1048674" name="Content Placeholder 2"/>
          <p:cNvSpPr>
            <a:spLocks noGrp="1"/>
          </p:cNvSpPr>
          <p:nvPr>
            <p:ph idx="1"/>
          </p:nvPr>
        </p:nvSpPr>
        <p:spPr>
          <a:xfrm>
            <a:off x="871587" y="1720065"/>
            <a:ext cx="10515600" cy="4351338"/>
          </a:xfrm>
        </p:spPr>
        <p:txBody>
          <a:bodyPr/>
          <a:p>
            <a:pPr algn="just">
              <a:buFont typeface="Arial" panose="020B0604020202020204" pitchFamily="34" charset="0"/>
              <a:buChar char="•"/>
            </a:pPr>
            <a:r>
              <a:rPr b="1" dirty="0" i="0" lang="en-US">
                <a:solidFill>
                  <a:srgbClr val="FF0000"/>
                </a:solidFill>
                <a:effectLst/>
                <a:latin typeface="Century Gothic" panose="020B0502020202020204" pitchFamily="34" charset="0"/>
              </a:rPr>
              <a:t>Permanent System </a:t>
            </a:r>
            <a:r>
              <a:rPr b="0" dirty="0" i="0" lang="en-US">
                <a:solidFill>
                  <a:srgbClr val="000000"/>
                </a:solidFill>
                <a:effectLst/>
                <a:latin typeface="Century Gothic" panose="020B0502020202020204" pitchFamily="34" charset="0"/>
              </a:rPr>
              <a:t>persists for long time.</a:t>
            </a:r>
          </a:p>
          <a:p>
            <a:pPr algn="just" indent="0" marL="0">
              <a:buNone/>
            </a:pPr>
            <a:r>
              <a:rPr b="0" dirty="0" i="0" lang="en-US">
                <a:solidFill>
                  <a:srgbClr val="000000"/>
                </a:solidFill>
                <a:effectLst/>
                <a:latin typeface="Century Gothic" panose="020B0502020202020204" pitchFamily="34" charset="0"/>
              </a:rPr>
              <a:t>For example, business policies.</a:t>
            </a:r>
          </a:p>
          <a:p>
            <a:pPr algn="just">
              <a:buFont typeface="Arial" panose="020B0604020202020204" pitchFamily="34" charset="0"/>
              <a:buChar char="•"/>
            </a:pPr>
            <a:r>
              <a:rPr b="1" dirty="0" i="0" lang="en-US">
                <a:solidFill>
                  <a:srgbClr val="FF0000"/>
                </a:solidFill>
                <a:effectLst/>
                <a:latin typeface="Century Gothic" panose="020B0502020202020204" pitchFamily="34" charset="0"/>
              </a:rPr>
              <a:t>Temporary System </a:t>
            </a:r>
            <a:r>
              <a:rPr b="0" dirty="0" i="0" lang="en-US">
                <a:solidFill>
                  <a:srgbClr val="000000"/>
                </a:solidFill>
                <a:effectLst/>
                <a:latin typeface="Century Gothic" panose="020B0502020202020204" pitchFamily="34" charset="0"/>
              </a:rPr>
              <a:t>is made for specified time and after that they are demolished. </a:t>
            </a:r>
          </a:p>
          <a:p>
            <a:pPr algn="just" indent="0" marL="0">
              <a:buNone/>
            </a:pPr>
            <a:r>
              <a:rPr b="0" dirty="0" i="0" lang="en-US">
                <a:solidFill>
                  <a:srgbClr val="000000"/>
                </a:solidFill>
                <a:effectLst/>
                <a:latin typeface="Century Gothic" panose="020B0502020202020204" pitchFamily="34" charset="0"/>
              </a:rPr>
              <a:t>For example, A DJ system is set up for a program and it is dissembled after the program.</a:t>
            </a:r>
          </a:p>
          <a:p>
            <a:pPr algn="just"/>
            <a:endParaRPr dirty="0" lang="LID4096">
              <a:latin typeface="Century Gothic" panose="020B0502020202020204" pitchFamily="34" charset="0"/>
            </a:endParaRPr>
          </a:p>
        </p:txBody>
      </p:sp>
      <p:sp>
        <p:nvSpPr>
          <p:cNvPr id="1048675"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76" name="Title 1"/>
          <p:cNvSpPr>
            <a:spLocks noGrp="1"/>
          </p:cNvSpPr>
          <p:nvPr>
            <p:ph type="title"/>
          </p:nvPr>
        </p:nvSpPr>
        <p:spPr>
          <a:xfrm>
            <a:off x="904973" y="365125"/>
            <a:ext cx="10515600" cy="1325563"/>
          </a:xfrm>
        </p:spPr>
        <p:txBody>
          <a:bodyPr/>
          <a:p>
            <a:r>
              <a:rPr b="1" dirty="0" i="0" lang="en-US">
                <a:effectLst/>
                <a:latin typeface="Century Gothic" panose="020B0502020202020204" pitchFamily="34" charset="0"/>
              </a:rPr>
              <a:t>Natural and Manufactured System</a:t>
            </a:r>
            <a:endParaRPr b="1" dirty="0" lang="LID4096">
              <a:latin typeface="Century Gothic" panose="020B0502020202020204" pitchFamily="34" charset="0"/>
            </a:endParaRPr>
          </a:p>
        </p:txBody>
      </p:sp>
      <p:sp>
        <p:nvSpPr>
          <p:cNvPr id="1048677" name="Content Placeholder 2"/>
          <p:cNvSpPr>
            <a:spLocks noGrp="1"/>
          </p:cNvSpPr>
          <p:nvPr>
            <p:ph idx="1"/>
          </p:nvPr>
        </p:nvSpPr>
        <p:spPr>
          <a:xfrm>
            <a:off x="989029" y="1608810"/>
            <a:ext cx="10515600" cy="4351338"/>
          </a:xfrm>
        </p:spPr>
        <p:txBody>
          <a:bodyPr>
            <a:normAutofit/>
          </a:bodyPr>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Natural systems are created by the nature. </a:t>
            </a:r>
          </a:p>
          <a:p>
            <a:pPr algn="just" indent="0" marL="0">
              <a:buNone/>
            </a:pPr>
            <a:r>
              <a:rPr b="0" dirty="0" sz="3200" i="0" lang="en-US">
                <a:solidFill>
                  <a:srgbClr val="000000"/>
                </a:solidFill>
                <a:effectLst/>
                <a:latin typeface="Century Gothic" panose="020B0502020202020204" pitchFamily="34" charset="0"/>
              </a:rPr>
              <a:t>For example, Solar system, seasonal system.</a:t>
            </a:r>
          </a:p>
          <a:p>
            <a:pPr algn="just">
              <a:buFont typeface="Arial" panose="020B0604020202020204" pitchFamily="34" charset="0"/>
              <a:buChar char="•"/>
            </a:pPr>
            <a:r>
              <a:rPr b="0" dirty="0" sz="3200" i="0" lang="en-US">
                <a:solidFill>
                  <a:srgbClr val="000000"/>
                </a:solidFill>
                <a:effectLst/>
                <a:latin typeface="Century Gothic" panose="020B0502020202020204" pitchFamily="34" charset="0"/>
              </a:rPr>
              <a:t>Manufactured System is the man-made system. </a:t>
            </a:r>
          </a:p>
          <a:p>
            <a:pPr algn="just" indent="0" marL="0">
              <a:buNone/>
            </a:pPr>
            <a:r>
              <a:rPr b="0" dirty="0" sz="3200" i="0" lang="en-US">
                <a:solidFill>
                  <a:srgbClr val="000000"/>
                </a:solidFill>
                <a:effectLst/>
                <a:latin typeface="Century Gothic" panose="020B0502020202020204" pitchFamily="34" charset="0"/>
              </a:rPr>
              <a:t>For example, Rockets, dams, trains.</a:t>
            </a:r>
          </a:p>
          <a:p>
            <a:pPr algn="just"/>
            <a:endParaRPr dirty="0" sz="3200" lang="LID4096">
              <a:latin typeface="Century Gothic" panose="020B0502020202020204" pitchFamily="34" charset="0"/>
            </a:endParaRPr>
          </a:p>
        </p:txBody>
      </p:sp>
      <p:sp>
        <p:nvSpPr>
          <p:cNvPr id="1048678"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79" name="Title 1"/>
          <p:cNvSpPr>
            <a:spLocks noGrp="1"/>
          </p:cNvSpPr>
          <p:nvPr>
            <p:ph type="title"/>
          </p:nvPr>
        </p:nvSpPr>
        <p:spPr>
          <a:xfrm>
            <a:off x="838200" y="365126"/>
            <a:ext cx="10515600" cy="1048896"/>
          </a:xfrm>
        </p:spPr>
        <p:txBody>
          <a:bodyPr>
            <a:normAutofit/>
          </a:bodyPr>
          <a:p>
            <a:r>
              <a:rPr b="1" dirty="0" i="0" lang="en-US">
                <a:effectLst/>
                <a:latin typeface="Century Gothic" panose="020B0502020202020204" pitchFamily="34" charset="0"/>
              </a:rPr>
              <a:t>Deterministic or Probabilistic System</a:t>
            </a:r>
            <a:endParaRPr b="1" dirty="0" lang="LID4096">
              <a:latin typeface="Century Gothic" panose="020B0502020202020204" pitchFamily="34" charset="0"/>
            </a:endParaRPr>
          </a:p>
        </p:txBody>
      </p:sp>
      <p:sp>
        <p:nvSpPr>
          <p:cNvPr id="1048680" name="Content Placeholder 2"/>
          <p:cNvSpPr>
            <a:spLocks noGrp="1"/>
          </p:cNvSpPr>
          <p:nvPr>
            <p:ph idx="1"/>
          </p:nvPr>
        </p:nvSpPr>
        <p:spPr>
          <a:xfrm>
            <a:off x="838200" y="1505113"/>
            <a:ext cx="10515600" cy="4351338"/>
          </a:xfrm>
        </p:spPr>
        <p:txBody>
          <a:bodyPr>
            <a:normAutofit/>
          </a:bodyPr>
          <a:p>
            <a:pPr algn="just">
              <a:buFont typeface="Arial" panose="020B0604020202020204" pitchFamily="34" charset="0"/>
              <a:buChar char="•"/>
            </a:pPr>
            <a:r>
              <a:rPr b="1" dirty="0" sz="3200" i="0" lang="en-US">
                <a:solidFill>
                  <a:srgbClr val="FF0000"/>
                </a:solidFill>
                <a:effectLst/>
                <a:latin typeface="Century Gothic" panose="020B0502020202020204" pitchFamily="34" charset="0"/>
              </a:rPr>
              <a:t>Deterministic system </a:t>
            </a:r>
            <a:r>
              <a:rPr b="0" dirty="0" sz="3200" i="0" lang="en-US">
                <a:solidFill>
                  <a:srgbClr val="000000"/>
                </a:solidFill>
                <a:effectLst/>
                <a:latin typeface="Century Gothic" panose="020B0502020202020204" pitchFamily="34" charset="0"/>
              </a:rPr>
              <a:t>operates in a predictable manner and the interaction between system components is known with certainty. </a:t>
            </a:r>
          </a:p>
          <a:p>
            <a:pPr algn="just" indent="0" marL="0">
              <a:buNone/>
            </a:pPr>
            <a:r>
              <a:rPr b="0" dirty="0" sz="3200" i="0" lang="en-US">
                <a:solidFill>
                  <a:srgbClr val="000000"/>
                </a:solidFill>
                <a:effectLst/>
                <a:latin typeface="Century Gothic" panose="020B0502020202020204" pitchFamily="34" charset="0"/>
              </a:rPr>
              <a:t>For example, two molecules of hydrogen and one molecule of oxygen makes water.</a:t>
            </a:r>
          </a:p>
          <a:p>
            <a:pPr algn="just">
              <a:buFont typeface="Arial" panose="020B0604020202020204" pitchFamily="34" charset="0"/>
              <a:buChar char="•"/>
            </a:pPr>
            <a:r>
              <a:rPr b="1" dirty="0" sz="3200" i="0" lang="en-US">
                <a:solidFill>
                  <a:srgbClr val="FF0000"/>
                </a:solidFill>
                <a:effectLst/>
                <a:latin typeface="Century Gothic" panose="020B0502020202020204" pitchFamily="34" charset="0"/>
              </a:rPr>
              <a:t>Probabilistic System </a:t>
            </a:r>
            <a:r>
              <a:rPr b="0" dirty="0" sz="3200" i="0" lang="en-US">
                <a:solidFill>
                  <a:srgbClr val="000000"/>
                </a:solidFill>
                <a:effectLst/>
                <a:latin typeface="Century Gothic" panose="020B0502020202020204" pitchFamily="34" charset="0"/>
              </a:rPr>
              <a:t>shows uncertain behavior. The exact output is not known.</a:t>
            </a:r>
          </a:p>
          <a:p>
            <a:pPr algn="just" indent="0" marL="0">
              <a:buNone/>
            </a:pPr>
            <a:r>
              <a:rPr b="0" dirty="0" sz="3200" i="0" lang="en-US">
                <a:solidFill>
                  <a:srgbClr val="000000"/>
                </a:solidFill>
                <a:effectLst/>
                <a:latin typeface="Century Gothic" panose="020B0502020202020204" pitchFamily="34" charset="0"/>
              </a:rPr>
              <a:t>For example, Weather forecasting, mail delivery.</a:t>
            </a:r>
          </a:p>
          <a:p>
            <a:pPr algn="just"/>
            <a:endParaRPr dirty="0" sz="3200" lang="LID4096">
              <a:latin typeface="Century Gothic" panose="020B0502020202020204" pitchFamily="34" charset="0"/>
            </a:endParaRPr>
          </a:p>
        </p:txBody>
      </p:sp>
      <p:sp>
        <p:nvSpPr>
          <p:cNvPr id="1048681"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82" name="Title 1"/>
          <p:cNvSpPr>
            <a:spLocks noGrp="1"/>
          </p:cNvSpPr>
          <p:nvPr>
            <p:ph type="title"/>
          </p:nvPr>
        </p:nvSpPr>
        <p:spPr/>
        <p:txBody>
          <a:bodyPr>
            <a:normAutofit/>
          </a:bodyPr>
          <a:p>
            <a:r>
              <a:rPr b="1" dirty="0" i="0" lang="en-US">
                <a:effectLst/>
                <a:latin typeface="Century Gothic" panose="020B0502020202020204" pitchFamily="34" charset="0"/>
              </a:rPr>
              <a:t>Social, Human-Machine, Machine System</a:t>
            </a:r>
            <a:br>
              <a:rPr b="1" dirty="0" i="0" lang="en-US">
                <a:effectLst/>
                <a:latin typeface="Century Gothic" panose="020B0502020202020204" pitchFamily="34" charset="0"/>
              </a:rPr>
            </a:br>
            <a:endParaRPr b="1" dirty="0" lang="LID4096">
              <a:latin typeface="Century Gothic" panose="020B0502020202020204" pitchFamily="34" charset="0"/>
            </a:endParaRPr>
          </a:p>
        </p:txBody>
      </p:sp>
      <p:sp>
        <p:nvSpPr>
          <p:cNvPr id="1048683" name="Content Placeholder 2"/>
          <p:cNvSpPr>
            <a:spLocks noGrp="1"/>
          </p:cNvSpPr>
          <p:nvPr>
            <p:ph idx="1"/>
          </p:nvPr>
        </p:nvSpPr>
        <p:spPr>
          <a:xfrm>
            <a:off x="904973" y="1514540"/>
            <a:ext cx="10515600" cy="4351338"/>
          </a:xfrm>
        </p:spPr>
        <p:txBody>
          <a:bodyPr/>
          <a:p>
            <a:pPr algn="l">
              <a:buFont typeface="Arial" panose="020B0604020202020204" pitchFamily="34" charset="0"/>
              <a:buChar char="•"/>
            </a:pPr>
            <a:r>
              <a:rPr b="1" dirty="0" i="0" lang="en-US">
                <a:solidFill>
                  <a:srgbClr val="FF0000"/>
                </a:solidFill>
                <a:effectLst/>
                <a:latin typeface="Century Gothic" panose="020B0502020202020204" pitchFamily="34" charset="0"/>
              </a:rPr>
              <a:t>Social System </a:t>
            </a:r>
            <a:r>
              <a:rPr b="0" dirty="0" i="0" lang="en-US">
                <a:solidFill>
                  <a:srgbClr val="000000"/>
                </a:solidFill>
                <a:effectLst/>
                <a:latin typeface="Century Gothic" panose="020B0502020202020204" pitchFamily="34" charset="0"/>
              </a:rPr>
              <a:t>is made up of people. For example, social clubs, societies.</a:t>
            </a:r>
          </a:p>
          <a:p>
            <a:pPr algn="l">
              <a:buFont typeface="Arial" panose="020B0604020202020204" pitchFamily="34" charset="0"/>
              <a:buChar char="•"/>
            </a:pPr>
            <a:r>
              <a:rPr b="0" dirty="0" i="0" lang="en-US">
                <a:solidFill>
                  <a:srgbClr val="000000"/>
                </a:solidFill>
                <a:effectLst/>
                <a:latin typeface="Century Gothic" panose="020B0502020202020204" pitchFamily="34" charset="0"/>
              </a:rPr>
              <a:t>In </a:t>
            </a:r>
            <a:r>
              <a:rPr b="1" dirty="0" i="0" lang="en-US">
                <a:solidFill>
                  <a:srgbClr val="FF0000"/>
                </a:solidFill>
                <a:effectLst/>
                <a:latin typeface="Century Gothic" panose="020B0502020202020204" pitchFamily="34" charset="0"/>
              </a:rPr>
              <a:t>Human-Machine System</a:t>
            </a:r>
            <a:r>
              <a:rPr b="0" dirty="0" i="0" lang="en-US">
                <a:solidFill>
                  <a:srgbClr val="000000"/>
                </a:solidFill>
                <a:effectLst/>
                <a:latin typeface="Century Gothic" panose="020B0502020202020204" pitchFamily="34" charset="0"/>
              </a:rPr>
              <a:t>, both human and machines are involved to perform a particular task. For example, Computer programming.</a:t>
            </a:r>
          </a:p>
          <a:p>
            <a:pPr algn="l">
              <a:buFont typeface="Arial" panose="020B0604020202020204" pitchFamily="34" charset="0"/>
              <a:buChar char="•"/>
            </a:pPr>
            <a:r>
              <a:rPr b="1" dirty="0" i="0" lang="en-US">
                <a:solidFill>
                  <a:srgbClr val="FF0000"/>
                </a:solidFill>
                <a:effectLst/>
                <a:latin typeface="Century Gothic" panose="020B0502020202020204" pitchFamily="34" charset="0"/>
              </a:rPr>
              <a:t>Machine System </a:t>
            </a:r>
            <a:r>
              <a:rPr b="0" dirty="0" i="0" lang="en-US">
                <a:solidFill>
                  <a:srgbClr val="000000"/>
                </a:solidFill>
                <a:effectLst/>
                <a:latin typeface="Century Gothic" panose="020B0502020202020204" pitchFamily="34" charset="0"/>
              </a:rPr>
              <a:t>is where human interference is neglected. All the tasks are performed by the machine. For example, an autonomous robot.</a:t>
            </a:r>
          </a:p>
          <a:p>
            <a:endParaRPr dirty="0" lang="LID4096">
              <a:latin typeface="Century Gothic" panose="020B0502020202020204" pitchFamily="34" charset="0"/>
            </a:endParaRPr>
          </a:p>
        </p:txBody>
      </p:sp>
      <p:sp>
        <p:nvSpPr>
          <p:cNvPr id="1048684" name="Rectangle 3"/>
          <p:cNvSpPr/>
          <p:nvPr/>
        </p:nvSpPr>
        <p:spPr>
          <a:xfrm>
            <a:off x="0" y="0"/>
            <a:ext cx="904973" cy="6858000"/>
          </a:xfrm>
          <a:prstGeom prst="rect"/>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LID4096"/>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System Analysis and Design (SAD)</dc:title>
  <dc:creator>Kwabena Adu</dc:creator>
  <cp:lastModifiedBy>Kwabena Adu</cp:lastModifiedBy>
  <dcterms:created xsi:type="dcterms:W3CDTF">2024-02-02T09:26:35Z</dcterms:created>
  <dcterms:modified xsi:type="dcterms:W3CDTF">2026-01-30T18:54:44Z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5ef3211dce6f4c78abcb63b8fab66ac5</vt:lpwstr>
  </property>
</Properties>
</file>